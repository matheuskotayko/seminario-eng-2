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067028fa204585" /><Relationship Type="http://schemas.openxmlformats.org/officeDocument/2006/relationships/extended-properties" Target="/docProps/app.xml" Id="Re2facd39fdf84b76" /><Relationship Type="http://schemas.openxmlformats.org/officeDocument/2006/relationships/officeDocument" Target="/ppt/presentation.xml" Id="R7710fbd3ef13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f376560f454009"/>
  </p:sldMasterIdLst>
  <p:notesMasterIdLst>
    <p:notesMasterId xmlns:r="http://schemas.openxmlformats.org/officeDocument/2006/relationships" r:id="Rb3c51178b3264cd2"/>
  </p:notesMasterIdLst>
  <p:sldIdLst>
    <p:sldId xmlns:r="http://schemas.openxmlformats.org/officeDocument/2006/relationships" id="256" r:id="Rb6aa19b0279640e9"/>
    <p:sldId xmlns:r="http://schemas.openxmlformats.org/officeDocument/2006/relationships" id="257" r:id="R27ae51fa17364536"/>
    <p:sldId xmlns:r="http://schemas.openxmlformats.org/officeDocument/2006/relationships" id="258" r:id="R1fadef83bab24e46"/>
    <p:sldId xmlns:r="http://schemas.openxmlformats.org/officeDocument/2006/relationships" id="259" r:id="Rf7359066466e429a"/>
    <p:sldId xmlns:r="http://schemas.openxmlformats.org/officeDocument/2006/relationships" id="260" r:id="R0b351decc273453f"/>
    <p:sldId xmlns:r="http://schemas.openxmlformats.org/officeDocument/2006/relationships" id="261" r:id="Rd9b4dc125e3449f9"/>
    <p:sldId xmlns:r="http://schemas.openxmlformats.org/officeDocument/2006/relationships" id="262" r:id="R13cfef986e374dbd"/>
    <p:sldId xmlns:r="http://schemas.openxmlformats.org/officeDocument/2006/relationships" id="263" r:id="Rf2dc760997464d9f"/>
    <p:sldId xmlns:r="http://schemas.openxmlformats.org/officeDocument/2006/relationships" id="264" r:id="Rab159053782b4401"/>
    <p:sldId xmlns:r="http://schemas.openxmlformats.org/officeDocument/2006/relationships" id="265" r:id="R96da967412bc43b2"/>
    <p:sldId xmlns:r="http://schemas.openxmlformats.org/officeDocument/2006/relationships" id="266" r:id="Rdc49f346f4864854"/>
    <p:sldId xmlns:r="http://schemas.openxmlformats.org/officeDocument/2006/relationships" id="267" r:id="R90f67ec1eb18492a"/>
    <p:sldId xmlns:r="http://schemas.openxmlformats.org/officeDocument/2006/relationships" id="268" r:id="R5e993e0c85014cfd"/>
    <p:sldId xmlns:r="http://schemas.openxmlformats.org/officeDocument/2006/relationships" id="269" r:id="R3e0204ea583840ae"/>
    <p:sldId xmlns:r="http://schemas.openxmlformats.org/officeDocument/2006/relationships" id="270" r:id="R33495cce242b40e2"/>
    <p:sldId xmlns:r="http://schemas.openxmlformats.org/officeDocument/2006/relationships" id="271" r:id="Rede1c2e936674f35"/>
    <p:sldId xmlns:r="http://schemas.openxmlformats.org/officeDocument/2006/relationships" id="272" r:id="R617b7b3c5a614789"/>
    <p:sldId xmlns:r="http://schemas.openxmlformats.org/officeDocument/2006/relationships" id="273" r:id="R12f0f52d5ffb4bc0"/>
    <p:sldId xmlns:r="http://schemas.openxmlformats.org/officeDocument/2006/relationships" id="274" r:id="Rc8d75f905c1c47a6"/>
    <p:sldId xmlns:r="http://schemas.openxmlformats.org/officeDocument/2006/relationships" id="275" r:id="Rf15453ad95284d1d"/>
    <p:sldId xmlns:r="http://schemas.openxmlformats.org/officeDocument/2006/relationships" id="276" r:id="R0a76d4fd30914440"/>
    <p:sldId xmlns:r="http://schemas.openxmlformats.org/officeDocument/2006/relationships" id="277" r:id="R954454bdc61d4c07"/>
    <p:sldId xmlns:r="http://schemas.openxmlformats.org/officeDocument/2006/relationships" id="278" r:id="R8fb961d04d254cc3"/>
    <p:sldId xmlns:r="http://schemas.openxmlformats.org/officeDocument/2006/relationships" id="279" r:id="R992724c766b34d36"/>
    <p:sldId xmlns:r="http://schemas.openxmlformats.org/officeDocument/2006/relationships" id="280" r:id="R9f4b6c3ee51e437d"/>
    <p:sldId xmlns:r="http://schemas.openxmlformats.org/officeDocument/2006/relationships" id="281" r:id="Rac88aa7bc7914e1e"/>
    <p:sldId xmlns:r="http://schemas.openxmlformats.org/officeDocument/2006/relationships" id="282" r:id="R576edba744394349"/>
    <p:sldId xmlns:r="http://schemas.openxmlformats.org/officeDocument/2006/relationships" id="283" r:id="R35a4a23a19344ff2"/>
    <p:sldId xmlns:r="http://schemas.openxmlformats.org/officeDocument/2006/relationships" id="284" r:id="R53898712008d4985"/>
    <p:sldId xmlns:r="http://schemas.openxmlformats.org/officeDocument/2006/relationships" id="285" r:id="R4d64fee919c542ab"/>
    <p:sldId xmlns:r="http://schemas.openxmlformats.org/officeDocument/2006/relationships" id="286" r:id="R94d508e89c3a477e"/>
    <p:sldId xmlns:r="http://schemas.openxmlformats.org/officeDocument/2006/relationships" id="287" r:id="Re0e0ec8103154ba8"/>
    <p:sldId xmlns:r="http://schemas.openxmlformats.org/officeDocument/2006/relationships" id="288" r:id="R761da585a5674bf6"/>
    <p:sldId xmlns:r="http://schemas.openxmlformats.org/officeDocument/2006/relationships" id="289" r:id="R630a3a8674494710"/>
    <p:sldId xmlns:r="http://schemas.openxmlformats.org/officeDocument/2006/relationships" id="290" r:id="Rdf8a367b75424492"/>
    <p:sldId xmlns:r="http://schemas.openxmlformats.org/officeDocument/2006/relationships" id="291" r:id="R352772aa3ca844c2"/>
    <p:sldId xmlns:r="http://schemas.openxmlformats.org/officeDocument/2006/relationships" id="292" r:id="R9268eb8f37c941f9"/>
    <p:sldId xmlns:r="http://schemas.openxmlformats.org/officeDocument/2006/relationships" id="293" r:id="Raeb34b78b5df48e4"/>
    <p:sldId xmlns:r="http://schemas.openxmlformats.org/officeDocument/2006/relationships" id="294" r:id="Ra148804dea7b4635"/>
    <p:sldId xmlns:r="http://schemas.openxmlformats.org/officeDocument/2006/relationships" id="295" r:id="Rd563cf7be0ed4f93"/>
    <p:sldId xmlns:r="http://schemas.openxmlformats.org/officeDocument/2006/relationships" id="296" r:id="R78359ab155b148de"/>
    <p:sldId xmlns:r="http://schemas.openxmlformats.org/officeDocument/2006/relationships" id="297" r:id="R97e1ab341a38479a"/>
    <p:sldId xmlns:r="http://schemas.openxmlformats.org/officeDocument/2006/relationships" id="298" r:id="R873a492398ea45a8"/>
    <p:sldId xmlns:r="http://schemas.openxmlformats.org/officeDocument/2006/relationships" id="299" r:id="Rf1d7c614f9fb4b16"/>
    <p:sldId xmlns:r="http://schemas.openxmlformats.org/officeDocument/2006/relationships" id="300" r:id="R613855a8857243dd"/>
    <p:sldId xmlns:r="http://schemas.openxmlformats.org/officeDocument/2006/relationships" id="301" r:id="Rd5c521db6fbd464f"/>
    <p:sldId xmlns:r="http://schemas.openxmlformats.org/officeDocument/2006/relationships" id="302" r:id="Rc8494b2e373a49bf"/>
    <p:sldId xmlns:r="http://schemas.openxmlformats.org/officeDocument/2006/relationships" id="303" r:id="R57cb2a9a85474aa0"/>
    <p:sldId xmlns:r="http://schemas.openxmlformats.org/officeDocument/2006/relationships" id="304" r:id="Rd16c7ba9b3364aff"/>
    <p:sldId xmlns:r="http://schemas.openxmlformats.org/officeDocument/2006/relationships" id="305" r:id="Rbfd408176ea143e0"/>
    <p:sldId xmlns:r="http://schemas.openxmlformats.org/officeDocument/2006/relationships" id="306" r:id="R54aee2e8be9e4877"/>
    <p:sldId xmlns:r="http://schemas.openxmlformats.org/officeDocument/2006/relationships" id="307" r:id="R8672fb5799004685"/>
    <p:sldId xmlns:r="http://schemas.openxmlformats.org/officeDocument/2006/relationships" id="308" r:id="R6265e222cced4144"/>
    <p:sldId xmlns:r="http://schemas.openxmlformats.org/officeDocument/2006/relationships" id="309" r:id="Rbdca1f4691b8406a"/>
    <p:sldId xmlns:r="http://schemas.openxmlformats.org/officeDocument/2006/relationships" id="310" r:id="R7bcfa3c8a93c41f7"/>
    <p:sldId xmlns:r="http://schemas.openxmlformats.org/officeDocument/2006/relationships" id="311" r:id="R22d7442a03184ff7"/>
    <p:sldId xmlns:r="http://schemas.openxmlformats.org/officeDocument/2006/relationships" id="312" r:id="Re672d86e012f4b94"/>
    <p:sldId xmlns:r="http://schemas.openxmlformats.org/officeDocument/2006/relationships" id="313" r:id="Rbef36414d2784c8f"/>
    <p:sldId xmlns:r="http://schemas.openxmlformats.org/officeDocument/2006/relationships" id="314" r:id="R7e77f22c51b5423b"/>
    <p:sldId xmlns:r="http://schemas.openxmlformats.org/officeDocument/2006/relationships" id="315" r:id="R979c9e0b643b4e8c"/>
    <p:sldId xmlns:r="http://schemas.openxmlformats.org/officeDocument/2006/relationships" id="316" r:id="R5bed726428d44c00"/>
    <p:sldId xmlns:r="http://schemas.openxmlformats.org/officeDocument/2006/relationships" id="317" r:id="Rcf1c385a0f71475a"/>
    <p:sldId xmlns:r="http://schemas.openxmlformats.org/officeDocument/2006/relationships" id="318" r:id="R0fbbd7bf6f444e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31e82030bb46aa" /><Relationship Type="http://schemas.openxmlformats.org/officeDocument/2006/relationships/slideMaster" Target="/ppt/slideMasters/slideMaster1.xml" Id="R89f376560f454009" /><Relationship Type="http://schemas.openxmlformats.org/officeDocument/2006/relationships/notesMaster" Target="/ppt/notesMasters/notesMaster1.xml" Id="Rb3c51178b3264cd2" /><Relationship Type="http://schemas.openxmlformats.org/officeDocument/2006/relationships/presProps" Target="/ppt/presProps.xml" Id="R8190b7c322ea471e" /><Relationship Type="http://schemas.openxmlformats.org/officeDocument/2006/relationships/viewProps" Target="/ppt/viewProps.xml" Id="Rc62fe5e39ba04586" /><Relationship Type="http://schemas.openxmlformats.org/officeDocument/2006/relationships/tableStyles" Target="/ppt/tableStyles.xml" Id="R16dc8d2ac80a42b4" /><Relationship Type="http://schemas.openxmlformats.org/officeDocument/2006/relationships/slide" Target="/ppt/slides/slide1.xml" Id="Rb6aa19b0279640e9" /><Relationship Type="http://schemas.openxmlformats.org/officeDocument/2006/relationships/slide" Target="/ppt/slides/slide2.xml" Id="R27ae51fa17364536" /><Relationship Type="http://schemas.openxmlformats.org/officeDocument/2006/relationships/slide" Target="/ppt/slides/slide3.xml" Id="R1fadef83bab24e46" /><Relationship Type="http://schemas.openxmlformats.org/officeDocument/2006/relationships/slide" Target="/ppt/slides/slide4.xml" Id="Rf7359066466e429a" /><Relationship Type="http://schemas.openxmlformats.org/officeDocument/2006/relationships/slide" Target="/ppt/slides/slide5.xml" Id="R0b351decc273453f" /><Relationship Type="http://schemas.openxmlformats.org/officeDocument/2006/relationships/slide" Target="/ppt/slides/slide6.xml" Id="Rd9b4dc125e3449f9" /><Relationship Type="http://schemas.openxmlformats.org/officeDocument/2006/relationships/slide" Target="/ppt/slides/slide7.xml" Id="R13cfef986e374dbd" /><Relationship Type="http://schemas.openxmlformats.org/officeDocument/2006/relationships/slide" Target="/ppt/slides/slide8.xml" Id="Rf2dc760997464d9f" /><Relationship Type="http://schemas.openxmlformats.org/officeDocument/2006/relationships/slide" Target="/ppt/slides/slide9.xml" Id="Rab159053782b4401" /><Relationship Type="http://schemas.openxmlformats.org/officeDocument/2006/relationships/slide" Target="/ppt/slides/slide10.xml" Id="R96da967412bc43b2" /><Relationship Type="http://schemas.openxmlformats.org/officeDocument/2006/relationships/slide" Target="/ppt/slides/slide11.xml" Id="Rdc49f346f4864854" /><Relationship Type="http://schemas.openxmlformats.org/officeDocument/2006/relationships/slide" Target="/ppt/slides/slide12.xml" Id="R90f67ec1eb18492a" /><Relationship Type="http://schemas.openxmlformats.org/officeDocument/2006/relationships/slide" Target="/ppt/slides/slide13.xml" Id="R5e993e0c85014cfd" /><Relationship Type="http://schemas.openxmlformats.org/officeDocument/2006/relationships/slide" Target="/ppt/slides/slide14.xml" Id="R3e0204ea583840ae" /><Relationship Type="http://schemas.openxmlformats.org/officeDocument/2006/relationships/slide" Target="/ppt/slides/slide15.xml" Id="R33495cce242b40e2" /><Relationship Type="http://schemas.openxmlformats.org/officeDocument/2006/relationships/slide" Target="/ppt/slides/slide16.xml" Id="Rede1c2e936674f35" /><Relationship Type="http://schemas.openxmlformats.org/officeDocument/2006/relationships/slide" Target="/ppt/slides/slide17.xml" Id="R617b7b3c5a614789" /><Relationship Type="http://schemas.openxmlformats.org/officeDocument/2006/relationships/slide" Target="/ppt/slides/slide18.xml" Id="R12f0f52d5ffb4bc0" /><Relationship Type="http://schemas.openxmlformats.org/officeDocument/2006/relationships/slide" Target="/ppt/slides/slide19.xml" Id="Rc8d75f905c1c47a6" /><Relationship Type="http://schemas.openxmlformats.org/officeDocument/2006/relationships/slide" Target="/ppt/slides/slide20.xml" Id="Rf15453ad95284d1d" /><Relationship Type="http://schemas.openxmlformats.org/officeDocument/2006/relationships/slide" Target="/ppt/slides/slide21.xml" Id="R0a76d4fd30914440" /><Relationship Type="http://schemas.openxmlformats.org/officeDocument/2006/relationships/slide" Target="/ppt/slides/slide22.xml" Id="R954454bdc61d4c07" /><Relationship Type="http://schemas.openxmlformats.org/officeDocument/2006/relationships/slide" Target="/ppt/slides/slide23.xml" Id="R8fb961d04d254cc3" /><Relationship Type="http://schemas.openxmlformats.org/officeDocument/2006/relationships/slide" Target="/ppt/slides/slide24.xml" Id="R992724c766b34d36" /><Relationship Type="http://schemas.openxmlformats.org/officeDocument/2006/relationships/slide" Target="/ppt/slides/slide25.xml" Id="R9f4b6c3ee51e437d" /><Relationship Type="http://schemas.openxmlformats.org/officeDocument/2006/relationships/slide" Target="/ppt/slides/slide26.xml" Id="Rac88aa7bc7914e1e" /><Relationship Type="http://schemas.openxmlformats.org/officeDocument/2006/relationships/slide" Target="/ppt/slides/slide27.xml" Id="R576edba744394349" /><Relationship Type="http://schemas.openxmlformats.org/officeDocument/2006/relationships/slide" Target="/ppt/slides/slide28.xml" Id="R35a4a23a19344ff2" /><Relationship Type="http://schemas.openxmlformats.org/officeDocument/2006/relationships/slide" Target="/ppt/slides/slide29.xml" Id="R53898712008d4985" /><Relationship Type="http://schemas.openxmlformats.org/officeDocument/2006/relationships/slide" Target="/ppt/slides/slide30.xml" Id="R4d64fee919c542ab" /><Relationship Type="http://schemas.openxmlformats.org/officeDocument/2006/relationships/slide" Target="/ppt/slides/slide31.xml" Id="R94d508e89c3a477e" /><Relationship Type="http://schemas.openxmlformats.org/officeDocument/2006/relationships/slide" Target="/ppt/slides/slide32.xml" Id="Re0e0ec8103154ba8" /><Relationship Type="http://schemas.openxmlformats.org/officeDocument/2006/relationships/slide" Target="/ppt/slides/slide33.xml" Id="R761da585a5674bf6" /><Relationship Type="http://schemas.openxmlformats.org/officeDocument/2006/relationships/slide" Target="/ppt/slides/slide34.xml" Id="R630a3a8674494710" /><Relationship Type="http://schemas.openxmlformats.org/officeDocument/2006/relationships/slide" Target="/ppt/slides/slide35.xml" Id="Rdf8a367b75424492" /><Relationship Type="http://schemas.openxmlformats.org/officeDocument/2006/relationships/slide" Target="/ppt/slides/slide36.xml" Id="R352772aa3ca844c2" /><Relationship Type="http://schemas.openxmlformats.org/officeDocument/2006/relationships/slide" Target="/ppt/slides/slide37.xml" Id="R9268eb8f37c941f9" /><Relationship Type="http://schemas.openxmlformats.org/officeDocument/2006/relationships/slide" Target="/ppt/slides/slide38.xml" Id="Raeb34b78b5df48e4" /><Relationship Type="http://schemas.openxmlformats.org/officeDocument/2006/relationships/slide" Target="/ppt/slides/slide39.xml" Id="Ra148804dea7b4635" /><Relationship Type="http://schemas.openxmlformats.org/officeDocument/2006/relationships/slide" Target="/ppt/slides/slide40.xml" Id="Rd563cf7be0ed4f93" /><Relationship Type="http://schemas.openxmlformats.org/officeDocument/2006/relationships/slide" Target="/ppt/slides/slide41.xml" Id="R78359ab155b148de" /><Relationship Type="http://schemas.openxmlformats.org/officeDocument/2006/relationships/slide" Target="/ppt/slides/slide42.xml" Id="R97e1ab341a38479a" /><Relationship Type="http://schemas.openxmlformats.org/officeDocument/2006/relationships/slide" Target="/ppt/slides/slide43.xml" Id="R873a492398ea45a8" /><Relationship Type="http://schemas.openxmlformats.org/officeDocument/2006/relationships/slide" Target="/ppt/slides/slide44.xml" Id="Rf1d7c614f9fb4b16" /><Relationship Type="http://schemas.openxmlformats.org/officeDocument/2006/relationships/slide" Target="/ppt/slides/slide45.xml" Id="R613855a8857243dd" /><Relationship Type="http://schemas.openxmlformats.org/officeDocument/2006/relationships/slide" Target="/ppt/slides/slide46.xml" Id="Rd5c521db6fbd464f" /><Relationship Type="http://schemas.openxmlformats.org/officeDocument/2006/relationships/slide" Target="/ppt/slides/slide47.xml" Id="Rc8494b2e373a49bf" /><Relationship Type="http://schemas.openxmlformats.org/officeDocument/2006/relationships/slide" Target="/ppt/slides/slide48.xml" Id="R57cb2a9a85474aa0" /><Relationship Type="http://schemas.openxmlformats.org/officeDocument/2006/relationships/slide" Target="/ppt/slides/slide49.xml" Id="Rd16c7ba9b3364aff" /><Relationship Type="http://schemas.openxmlformats.org/officeDocument/2006/relationships/slide" Target="/ppt/slides/slide50.xml" Id="Rbfd408176ea143e0" /><Relationship Type="http://schemas.openxmlformats.org/officeDocument/2006/relationships/slide" Target="/ppt/slides/slide51.xml" Id="R54aee2e8be9e4877" /><Relationship Type="http://schemas.openxmlformats.org/officeDocument/2006/relationships/slide" Target="/ppt/slides/slide52.xml" Id="R8672fb5799004685" /><Relationship Type="http://schemas.openxmlformats.org/officeDocument/2006/relationships/slide" Target="/ppt/slides/slide53.xml" Id="R6265e222cced4144" /><Relationship Type="http://schemas.openxmlformats.org/officeDocument/2006/relationships/slide" Target="/ppt/slides/slide54.xml" Id="Rbdca1f4691b8406a" /><Relationship Type="http://schemas.openxmlformats.org/officeDocument/2006/relationships/slide" Target="/ppt/slides/slide55.xml" Id="R7bcfa3c8a93c41f7" /><Relationship Type="http://schemas.openxmlformats.org/officeDocument/2006/relationships/slide" Target="/ppt/slides/slide56.xml" Id="R22d7442a03184ff7" /><Relationship Type="http://schemas.openxmlformats.org/officeDocument/2006/relationships/slide" Target="/ppt/slides/slide57.xml" Id="Re672d86e012f4b94" /><Relationship Type="http://schemas.openxmlformats.org/officeDocument/2006/relationships/slide" Target="/ppt/slides/slide58.xml" Id="Rbef36414d2784c8f" /><Relationship Type="http://schemas.openxmlformats.org/officeDocument/2006/relationships/slide" Target="/ppt/slides/slide59.xml" Id="R7e77f22c51b5423b" /><Relationship Type="http://schemas.openxmlformats.org/officeDocument/2006/relationships/slide" Target="/ppt/slides/slide60.xml" Id="R979c9e0b643b4e8c" /><Relationship Type="http://schemas.openxmlformats.org/officeDocument/2006/relationships/slide" Target="/ppt/slides/slide61.xml" Id="R5bed726428d44c00" /><Relationship Type="http://schemas.openxmlformats.org/officeDocument/2006/relationships/slide" Target="/ppt/slides/slide62.xml" Id="Rcf1c385a0f71475a" /><Relationship Type="http://schemas.openxmlformats.org/officeDocument/2006/relationships/slide" Target="/ppt/slides/slide63.xml" Id="R0fbbd7bf6f444e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6d0bfc72b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a418de108461e" /><Relationship Type="http://schemas.openxmlformats.org/officeDocument/2006/relationships/notesMaster" Target="/ppt/notesMasters/notesMaster1.xml" Id="R829ceef247e442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5de7319524063" /><Relationship Type="http://schemas.openxmlformats.org/officeDocument/2006/relationships/notesMaster" Target="/ppt/notesMasters/notesMaster1.xml" Id="Rbf22208c996e4b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4f651ecc64e3b" /><Relationship Type="http://schemas.openxmlformats.org/officeDocument/2006/relationships/notesMaster" Target="/ppt/notesMasters/notesMaster1.xml" Id="Ra51fda5da431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6892910d734052" /><Relationship Type="http://schemas.openxmlformats.org/officeDocument/2006/relationships/notesMaster" Target="/ppt/notesMasters/notesMaster1.xml" Id="R40c732527a5a48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b2050c69f94a1a" /><Relationship Type="http://schemas.openxmlformats.org/officeDocument/2006/relationships/notesMaster" Target="/ppt/notesMasters/notesMaster1.xml" Id="Rb68582c3737642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9ef5b4ebe4dd1" /><Relationship Type="http://schemas.openxmlformats.org/officeDocument/2006/relationships/notesMaster" Target="/ppt/notesMasters/notesMaster1.xml" Id="Rfba229ff0b88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e210ba274049ce" /><Relationship Type="http://schemas.openxmlformats.org/officeDocument/2006/relationships/notesMaster" Target="/ppt/notesMasters/notesMaster1.xml" Id="R6e00d7571c87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5cce9c7f96413b" /><Relationship Type="http://schemas.openxmlformats.org/officeDocument/2006/relationships/notesMaster" Target="/ppt/notesMasters/notesMaster1.xml" Id="R767b0a99e91b4f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620ae76ff4fd1" /><Relationship Type="http://schemas.openxmlformats.org/officeDocument/2006/relationships/notesMaster" Target="/ppt/notesMasters/notesMaster1.xml" Id="Rc2cd5d3309cb4d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95dcd62d63407a" /><Relationship Type="http://schemas.openxmlformats.org/officeDocument/2006/relationships/notesMaster" Target="/ppt/notesMasters/notesMaster1.xml" Id="Rfddbc4297cd04d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36f3566f564499" /><Relationship Type="http://schemas.openxmlformats.org/officeDocument/2006/relationships/notesMaster" Target="/ppt/notesMasters/notesMaster1.xml" Id="Rcf27baecdf4d4f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8b75620d424304" /><Relationship Type="http://schemas.openxmlformats.org/officeDocument/2006/relationships/notesMaster" Target="/ppt/notesMasters/notesMaster1.xml" Id="Rd8eab4c8606d46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d694e974594685" /><Relationship Type="http://schemas.openxmlformats.org/officeDocument/2006/relationships/notesMaster" Target="/ppt/notesMasters/notesMaster1.xml" Id="R492725bd20df47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224decfc5146ee" /><Relationship Type="http://schemas.openxmlformats.org/officeDocument/2006/relationships/notesMaster" Target="/ppt/notesMasters/notesMaster1.xml" Id="R0e673d023f2843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a10713edab43b0" /><Relationship Type="http://schemas.openxmlformats.org/officeDocument/2006/relationships/notesMaster" Target="/ppt/notesMasters/notesMaster1.xml" Id="R6d86e06940fa44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4bff386dbf4d67" /><Relationship Type="http://schemas.openxmlformats.org/officeDocument/2006/relationships/notesMaster" Target="/ppt/notesMasters/notesMaster1.xml" Id="Rfc129bed3fc949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8d0e42a9a94b94" /><Relationship Type="http://schemas.openxmlformats.org/officeDocument/2006/relationships/notesMaster" Target="/ppt/notesMasters/notesMaster1.xml" Id="Rb2682aa68bb04f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597f58e9874aa5" /><Relationship Type="http://schemas.openxmlformats.org/officeDocument/2006/relationships/notesMaster" Target="/ppt/notesMasters/notesMaster1.xml" Id="Rb1398546c7394c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c5c925827e4b28" /><Relationship Type="http://schemas.openxmlformats.org/officeDocument/2006/relationships/notesMaster" Target="/ppt/notesMasters/notesMaster1.xml" Id="Rbd606de7ef2243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ddca75628747ee" /><Relationship Type="http://schemas.openxmlformats.org/officeDocument/2006/relationships/notesMaster" Target="/ppt/notesMasters/notesMaster1.xml" Id="R5c90644008524b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7febc1685141a2" /><Relationship Type="http://schemas.openxmlformats.org/officeDocument/2006/relationships/notesMaster" Target="/ppt/notesMasters/notesMaster1.xml" Id="Rd214004250234a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844445c91f4fd7" /><Relationship Type="http://schemas.openxmlformats.org/officeDocument/2006/relationships/notesMaster" Target="/ppt/notesMasters/notesMaster1.xml" Id="Rf54ff6ec3be448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c32a4888f94ca5" /><Relationship Type="http://schemas.openxmlformats.org/officeDocument/2006/relationships/notesMaster" Target="/ppt/notesMasters/notesMaster1.xml" Id="R5492ce40cc3a46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c9b02441f94ff4" /><Relationship Type="http://schemas.openxmlformats.org/officeDocument/2006/relationships/notesMaster" Target="/ppt/notesMasters/notesMaster1.xml" Id="Rea3edae9001a41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cc3b81a28f4bc3" /><Relationship Type="http://schemas.openxmlformats.org/officeDocument/2006/relationships/notesMaster" Target="/ppt/notesMasters/notesMaster1.xml" Id="R8d6246b2008942c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6d6655e19fc4985" /><Relationship Type="http://schemas.openxmlformats.org/officeDocument/2006/relationships/notesMaster" Target="/ppt/notesMasters/notesMaster1.xml" Id="R720bc18e3dc247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8a1a0b83399443c" /><Relationship Type="http://schemas.openxmlformats.org/officeDocument/2006/relationships/notesMaster" Target="/ppt/notesMasters/notesMaster1.xml" Id="R9be144d87f944d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b20075c19a04eec" /><Relationship Type="http://schemas.openxmlformats.org/officeDocument/2006/relationships/notesMaster" Target="/ppt/notesMasters/notesMaster1.xml" Id="R4ea98440baec41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c443ca89b441e1" /><Relationship Type="http://schemas.openxmlformats.org/officeDocument/2006/relationships/notesMaster" Target="/ppt/notesMasters/notesMaster1.xml" Id="R6ab92bbe2d1940c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40fac179ac41dc" /><Relationship Type="http://schemas.openxmlformats.org/officeDocument/2006/relationships/notesMaster" Target="/ppt/notesMasters/notesMaster1.xml" Id="Re9f245cbbc74471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c25c1714dc8492f" /><Relationship Type="http://schemas.openxmlformats.org/officeDocument/2006/relationships/notesMaster" Target="/ppt/notesMasters/notesMaster1.xml" Id="R00f0fcbe5764413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5c8f320ee404333" /><Relationship Type="http://schemas.openxmlformats.org/officeDocument/2006/relationships/notesMaster" Target="/ppt/notesMasters/notesMaster1.xml" Id="R2716d1185fba47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152a991ff094e39" /><Relationship Type="http://schemas.openxmlformats.org/officeDocument/2006/relationships/notesMaster" Target="/ppt/notesMasters/notesMaster1.xml" Id="Rbeb3ee11cac74b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ef2512f5e0f48a7" /><Relationship Type="http://schemas.openxmlformats.org/officeDocument/2006/relationships/notesMaster" Target="/ppt/notesMasters/notesMaster1.xml" Id="R85b4e318332e4aa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46f35bcf11548e6" /><Relationship Type="http://schemas.openxmlformats.org/officeDocument/2006/relationships/notesMaster" Target="/ppt/notesMasters/notesMaster1.xml" Id="Rd8ac12080cac494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3b76d26ec3f442a" /><Relationship Type="http://schemas.openxmlformats.org/officeDocument/2006/relationships/notesMaster" Target="/ppt/notesMasters/notesMaster1.xml" Id="R358a697f076e485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2cd2d0e00e94bdc" /><Relationship Type="http://schemas.openxmlformats.org/officeDocument/2006/relationships/notesMaster" Target="/ppt/notesMasters/notesMaster1.xml" Id="R86111bedc6c44d1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d22ada2ea4c403b" /><Relationship Type="http://schemas.openxmlformats.org/officeDocument/2006/relationships/notesMaster" Target="/ppt/notesMasters/notesMaster1.xml" Id="Ra969667e7b6b45a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07fb1d93dbc43b9" /><Relationship Type="http://schemas.openxmlformats.org/officeDocument/2006/relationships/notesMaster" Target="/ppt/notesMasters/notesMaster1.xml" Id="R0b84e655364d441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cde5d684f5421b" /><Relationship Type="http://schemas.openxmlformats.org/officeDocument/2006/relationships/notesMaster" Target="/ppt/notesMasters/notesMaster1.xml" Id="Rd961ffdbeafd403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c71507d7c4945be" /><Relationship Type="http://schemas.openxmlformats.org/officeDocument/2006/relationships/notesMaster" Target="/ppt/notesMasters/notesMaster1.xml" Id="Ra299bf0a0f46463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28da0faf2524783" /><Relationship Type="http://schemas.openxmlformats.org/officeDocument/2006/relationships/notesMaster" Target="/ppt/notesMasters/notesMaster1.xml" Id="Rdcb23588eb7e48b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1a6fb572ca941a3" /><Relationship Type="http://schemas.openxmlformats.org/officeDocument/2006/relationships/notesMaster" Target="/ppt/notesMasters/notesMaster1.xml" Id="R533f9ed840ac4f0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e33b435160e4290" /><Relationship Type="http://schemas.openxmlformats.org/officeDocument/2006/relationships/notesMaster" Target="/ppt/notesMasters/notesMaster1.xml" Id="R8cb646c7b0744bc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198690f52c94082" /><Relationship Type="http://schemas.openxmlformats.org/officeDocument/2006/relationships/notesMaster" Target="/ppt/notesMasters/notesMaster1.xml" Id="R4d175ed28d0c463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b736e838bbe4ede" /><Relationship Type="http://schemas.openxmlformats.org/officeDocument/2006/relationships/notesMaster" Target="/ppt/notesMasters/notesMaster1.xml" Id="Rc6bcefe10cd6438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e24753f8ee14288" /><Relationship Type="http://schemas.openxmlformats.org/officeDocument/2006/relationships/notesMaster" Target="/ppt/notesMasters/notesMaster1.xml" Id="R37029981120c44b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2b4d3c3c9d5464e" /><Relationship Type="http://schemas.openxmlformats.org/officeDocument/2006/relationships/notesMaster" Target="/ppt/notesMasters/notesMaster1.xml" Id="R6ea51cb6924d49f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8e25d1a8fac4c07" /><Relationship Type="http://schemas.openxmlformats.org/officeDocument/2006/relationships/notesMaster" Target="/ppt/notesMasters/notesMaster1.xml" Id="Re0851612b0cb4bd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74c1fa6a7df488a" /><Relationship Type="http://schemas.openxmlformats.org/officeDocument/2006/relationships/notesMaster" Target="/ppt/notesMasters/notesMaster1.xml" Id="R39c18833322a490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5edc9583ea4187" /><Relationship Type="http://schemas.openxmlformats.org/officeDocument/2006/relationships/notesMaster" Target="/ppt/notesMasters/notesMaster1.xml" Id="Rf906435787c347f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a1dcf1cf9c24550" /><Relationship Type="http://schemas.openxmlformats.org/officeDocument/2006/relationships/notesMaster" Target="/ppt/notesMasters/notesMaster1.xml" Id="Rf05d5deffff8411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c29d9121eae46de" /><Relationship Type="http://schemas.openxmlformats.org/officeDocument/2006/relationships/notesMaster" Target="/ppt/notesMasters/notesMaster1.xml" Id="Rd0bc8e706bd14e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0e718a4fd00486f" /><Relationship Type="http://schemas.openxmlformats.org/officeDocument/2006/relationships/notesMaster" Target="/ppt/notesMasters/notesMaster1.xml" Id="R68bb78fc0dc648f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27d1d7314494708" /><Relationship Type="http://schemas.openxmlformats.org/officeDocument/2006/relationships/notesMaster" Target="/ppt/notesMasters/notesMaster1.xml" Id="Rbdf264bd958d461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e83adac685b4f68" /><Relationship Type="http://schemas.openxmlformats.org/officeDocument/2006/relationships/notesMaster" Target="/ppt/notesMasters/notesMaster1.xml" Id="R4d7493feeebc4c5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7c46afa93a847c5" /><Relationship Type="http://schemas.openxmlformats.org/officeDocument/2006/relationships/notesMaster" Target="/ppt/notesMasters/notesMaster1.xml" Id="Re90747d523a545b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79c1a54fd2b4e71" /><Relationship Type="http://schemas.openxmlformats.org/officeDocument/2006/relationships/notesMaster" Target="/ppt/notesMasters/notesMaster1.xml" Id="R685427622f09451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ccde2a3d4df4f59" /><Relationship Type="http://schemas.openxmlformats.org/officeDocument/2006/relationships/notesMaster" Target="/ppt/notesMasters/notesMaster1.xml" Id="R03812dacffaa4ca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a90909ac4ce432e" /><Relationship Type="http://schemas.openxmlformats.org/officeDocument/2006/relationships/notesMaster" Target="/ppt/notesMasters/notesMaster1.xml" Id="Rae4745bda52146d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78bf8e83029414f" /><Relationship Type="http://schemas.openxmlformats.org/officeDocument/2006/relationships/notesMaster" Target="/ppt/notesMasters/notesMaster1.xml" Id="Rcfb5c0a0d84647a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ac2bc198c324cc2" /><Relationship Type="http://schemas.openxmlformats.org/officeDocument/2006/relationships/notesMaster" Target="/ppt/notesMasters/notesMaster1.xml" Id="Ra54d025183064d7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7ca28c870304f79" /><Relationship Type="http://schemas.openxmlformats.org/officeDocument/2006/relationships/notesMaster" Target="/ppt/notesMasters/notesMaster1.xml" Id="Rc268fddfc4a5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Apresentem o mascote: ele é o garçom, a API em pessoa. Vai aparecer de novo. A tese, dita com cara séria: API é um contrato, e a engenharia está em projetar, evoluir e proteger esse contrato.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APIs</a:t>
            </a:r>
          </a:p>
          <a:p xmlns:a="http://schemas.openxmlformats.org/drawingml/2006/main">
            <a:r>
              <a:t>ou: como pedir comida para um servidor sem invadir a cozinha</a:t>
            </a:r>
          </a:p>
          <a:p xmlns:a="http://schemas.openxmlformats.org/drawingml/2006/main">
            <a:r>
              <a:t>Tema 3 — Seminário de Engenharia de Software II · UFSM 2026/2</a:t>
            </a:r>
          </a:p>
          <a:p xmlns:a="http://schemas.openxmlformats.org/drawingml/2006/main">
            <a:r>
              <a:t>Enzo, Isaac, Joloano e Matheus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Antecedentes de reutilização e interfaces; não se afirma que o EDSAC tenha inventado a API. EDSAC começou a operar em 1949. A biblioteca de subrotinas e o livro de 1951 são documentados pela Universidade de Cambridge. Fontes: https://www.cl.cam.ac.uk/events/EDSAC99/history.html ; https://www.whipplemuseum.cam.ac.uk/explore-whipple-collections/calculating-devices/edsac-and-computing-cambridge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Fotografia: EDSAC I, W. Renwick e M. V. Wilkes. Computer Laboratory, University of Cambridge / Wikimedia Commons. Licença CC BY 2.0: https://creativecommons.org/licenses/by/2.0/ . Fonte: https://commons.wikimedia.org/wiki/File:EDSAC_(12).jpg . Arquivo: https://upload.wikimedia.org/wikipedia/commons/6/6d/EDSAC_%2812%29.jpg . A data exata da foto não é informada; não se atribui o ano de 1949 à fotografia.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1984 refere-se ao artigo de Birrell e Nelson, não à invenção de RPC. 1989: proposta da Web no CERN. 1991: divulgação/disponibilização externa. Não confundir a criação da Web com a criação das APIs. Fontes: https://birrell.org/andrew/papers/ImplementingRPC.pdf ; https://home.cern/world-wide-web-35/ ; https://www.w3.org/People/Berners-Lee/ShortHistory.html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XML-RPC: especificação de 1998. SOAP 1.1: W3C Note, 8 de maio de 2000 (não chamar de recomendação W3C). REST: tese de Roy Fielding, 2000. SOAP é um protocolo de mensagens; REST é um estilo arquitetural. Fontes: https://1998.xmlrpc.com/ ; https://www.w3.org/TR/2000/NOTE-SOAP-20000508/ ; https://ics.uci.edu/~fielding/pubs/dissertation/rest_arch_style.htm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A ordem de 2015 acompanha as datas das publicações: gRPC fevereiro; especificação GraphQL julho; OpenAPI Initiative novembro. GraphQL foi criado em 2012 e aberto em 2015. Categorias distintas: WebSocket é protocolo; gRPC é framework RPC; GraphQL é linguagem de consulta; OpenAPI descreve interfaces HTTP. Fontes: https://www.rfc-editor.org/info/rfc6455/ ; https://spec.graphql.org/July2015/ ; https://developers.googleblog.com/en/introducing-grpc-a-new-open-source-http2-rpc-framework/ ; https://www.openapis.org/announcement/2015/11/05/new-collaborative-project-to-extend-swagger-specification-for-building-connected-applications-and-services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O que é uma API?</a:t>
            </a:r>
          </a:p>
          <a:p xmlns:a="http://schemas.openxmlformats.org/drawingml/2006/main">
            <a:r>
              <a:t>Spoiler: não é um garçom de verdade (mas quase)</a:t>
            </a:r>
          </a:p>
          <a:p xmlns:a="http://schemas.openxmlformats.org/drawingml/2006/main">
            <a:r>
              <a:t>Fotografia: Kate Townsend, publicada em 24/01/2018. Fonte: https://unsplash.com/photos/waiter-serving-beverages-hEC6zxdFF0M . Licença: https://unsplash.com/license . Recorte para composição do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Façam a pergunta para a turma e esperem alguém responder "não". Depois reforcem: API é a superfície exposta, não uma peça extra da arquitetura.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Uma pergunta séria</a:t>
            </a:r>
          </a:p>
          <a:p xmlns:a="http://schemas.openxmlformats.org/drawingml/2006/main">
            <a:r>
              <a:t>“Quando vocês pedem comida num restaurante, vocês entram na cozinha, abrem a geladeira e começam a fritar um bife? (Se sim, precisamos conversar.) Não: vocês pedem pelo cardápio e o prato chega pronto. Ninguém precisa saber que o chef derrubou o arroz duas vezes.”</a:t>
            </a:r>
          </a:p>
          <a:p xmlns:a="http://schemas.openxmlformats.org/drawingml/2006/main">
            <a:r>
              <a:t>Isso é, literalmente, o que uma API faz entre dois sistemas.</a:t>
            </a:r>
          </a:p>
          <a:p xmlns:a="http://schemas.openxmlformats.org/drawingml/2006/main">
            <a:r>
              <a:t>API</a:t>
            </a:r>
          </a:p>
          <a:p xmlns:a="http://schemas.openxmlformats.org/drawingml/2006/main">
            <a:r>
              <a:t> = Application Programming Interface. A palavra-chave é </a:t>
            </a:r>
          </a:p>
          <a:p xmlns:a="http://schemas.openxmlformats.org/drawingml/2006/main">
            <a:r>
              <a:t>interface</a:t>
            </a:r>
          </a:p>
          <a:p xmlns:a="http://schemas.openxmlformats.org/drawingml/2006/main">
            <a:r>
              <a:t>: a API é o que o restaurante </a:t>
            </a:r>
          </a:p>
          <a:p xmlns:a="http://schemas.openxmlformats.org/drawingml/2006/main">
            <a:r>
              <a:t>expõe</a:t>
            </a:r>
          </a:p>
          <a:p xmlns:a="http://schemas.openxmlformats.org/drawingml/2006/main">
            <a:r>
              <a:t> para você pedir. Não é a cozinha, e não precisa ser um componente “no meio”: muitas vezes é o próprio servidor que a oferece.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 é a interface exposta para uso por outro software. Não precisa ser um componente separado entre cliente e servidor; uma biblioteca também expõe uma API. A analogia é didática, não uma equivalência literal.</a:t>
            </a:r>
          </a:p>
          <a:p xmlns:a="http://schemas.openxmlformats.org/drawingml/2006/main">
            <a:r>
              <a:t>Fotografia: Fabrizio Magoni, Gourmet Chef, 08/03/2017. Fonte: https://commons.wikimedia.org/wiki/File:Gourmet_Chef_(Unsplash).jpg . CC0: https://creativecommons.org/publicdomain/zero/1.0/ . Recorte para composição do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= Application Programming Interface. Uma interface expõe operações e dados para que programas interajam sem depender dos detalhes internos. Exemplo didático, sem referência a um produto específico.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Deixem a turma ler e rir antes de falar. Ponto técnico: acessar o banco de outro sistema direto acopla tudo; qualquer mudança de tabela quebra quem lê. A API é a fronteira.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 do meme Success Kid: https://imgflip.com/memetemplate/Success-Kid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PAUSA PARA O MEME</a:t>
            </a:r>
          </a:p>
          <a:p xmlns:a="http://schemas.openxmlformats.org/drawingml/2006/main">
            <a:r>
              <a:t>6 / 45</a:t>
            </a:r>
          </a:p>
          <a:p xmlns:a="http://schemas.openxmlformats.org/drawingml/2006/main">
            <a:r>
              <a:t>200 OK sem invadir o banco do vizinho</a:t>
            </a:r>
          </a:p>
          <a:p xmlns:a="http://schemas.openxmlformats.org/drawingml/2006/main">
            <a:r>
              <a:t>Plano do dev apressado</a:t>
            </a:r>
          </a:p>
          <a:p xmlns:a="http://schemas.openxmlformats.org/drawingml/2006/main">
            <a:r>
              <a:t>SELECT * FROM clientes_do_vizinho;</a:t>
            </a:r>
          </a:p>
          <a:p xmlns:a="http://schemas.openxmlformats.org/drawingml/2006/main">
            <a:r>
              <a:t>Plano do dev que quer continuar empregado</a:t>
            </a:r>
          </a:p>
          <a:p xmlns:a="http://schemas.openxmlformats.org/drawingml/2006/main">
            <a:r>
              <a:t>GET /api/clientes/42</a:t>
            </a:r>
          </a:p>
          <a:p xmlns:a="http://schemas.openxmlformats.org/drawingml/2006/main">
            <a:r>
              <a:t>O banco do vizinho permanece em paz.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Template Success Kid: https://imgflip.com/memetemplate/Success-Kid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cardápio é "o contrato" (não só a documentação), e a comanda prepara o assunto de autenticação e segurança no bloco 5.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A analogia central: o restaurante</a:t>
            </a:r>
          </a:p>
          <a:p xmlns:a="http://schemas.openxmlformats.org/drawingml/2006/main">
            <a:r>
              <a:t>Guardem esta tabela. Vai cair na prova (não vai, mas finjam que vai).</a:t>
            </a:r>
          </a:p>
          <a:p xmlns:a="http://schemas.openxmlformats.org/drawingml/2006/main">
            <a:r>
              <a:t>Você (cliente com fome)</a:t>
            </a:r>
          </a:p>
          <a:p xmlns:a="http://schemas.openxmlformats.org/drawingml/2006/main">
            <a:r>
              <a:t>O app, site ou sistema que consome a API</a:t>
            </a:r>
          </a:p>
          <a:p xmlns:a="http://schemas.openxmlformats.org/drawingml/2006/main">
            <a:r>
              <a:t>A cozinha</a:t>
            </a:r>
          </a:p>
          <a:p xmlns:a="http://schemas.openxmlformats.org/drawingml/2006/main">
            <a:r>
              <a:t>A implementação: backend, banco, regras de negócio</a:t>
            </a:r>
          </a:p>
          <a:p xmlns:a="http://schemas.openxmlformats.org/drawingml/2006/main">
            <a:r>
              <a:t>O garçom (o atendimento)</a:t>
            </a:r>
          </a:p>
          <a:p xmlns:a="http://schemas.openxmlformats.org/drawingml/2006/main">
            <a:r>
              <a:t>A API: a interface que o restaurante expõe</a:t>
            </a:r>
          </a:p>
          <a:p xmlns:a="http://schemas.openxmlformats.org/drawingml/2006/main">
            <a:r>
              <a:t>O cardápio</a:t>
            </a:r>
          </a:p>
          <a:p xmlns:a="http://schemas.openxmlformats.org/drawingml/2006/main">
            <a:r>
              <a:t>O contrato: o que pedir, com quais dados, o que volta</a:t>
            </a:r>
          </a:p>
          <a:p xmlns:a="http://schemas.openxmlformats.org/drawingml/2006/main">
            <a:r>
              <a:t>A comanda</a:t>
            </a:r>
          </a:p>
          <a:p xmlns:a="http://schemas.openxmlformats.org/drawingml/2006/main">
            <a:r>
              <a:t>A credencial: prova quem é você (autenticação)</a:t>
            </a:r>
          </a:p>
          <a:p xmlns:a="http://schemas.openxmlformats.org/drawingml/2006/main">
            <a:r>
              <a:t>Fazer um pedido</a:t>
            </a:r>
          </a:p>
          <a:p xmlns:a="http://schemas.openxmlformats.org/drawingml/2006/main">
            <a:r>
              <a:t>Enviar uma requisição</a:t>
            </a:r>
          </a:p>
          <a:p xmlns:a="http://schemas.openxmlformats.org/drawingml/2006/main">
            <a:r>
              <a:t>"Sem cebola", "para viagem"</a:t>
            </a:r>
          </a:p>
          <a:p xmlns:a="http://schemas.openxmlformats.org/drawingml/2006/main">
            <a:r>
              <a:t>Headers: metadados do pedido</a:t>
            </a:r>
          </a:p>
          <a:p xmlns:a="http://schemas.openxmlformats.org/drawingml/2006/main">
            <a:r>
              <a:t>O prato que chega à mesa</a:t>
            </a:r>
          </a:p>
          <a:p xmlns:a="http://schemas.openxmlformats.org/drawingml/2006/main">
            <a:r>
              <a:t>A resposta, com um código de 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Ponto-chave: contrato é bem mais que "a lista de endpoints". Cada item da direita volta no bloco 5.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O que é uma API, de fato</a:t>
            </a:r>
          </a:p>
          <a:p xmlns:a="http://schemas.openxmlformats.org/drawingml/2006/main">
            <a:r>
              <a:t>A API é a superfície que o provedor expõe: o contrato. Quem a implementa é outra questão.</a:t>
            </a:r>
          </a:p>
          <a:p xmlns:a="http://schemas.openxmlformats.org/drawingml/2006/main">
            <a:r>
              <a:t>O mesmo contrato pode ser implementado por:</a:t>
            </a:r>
          </a:p>
          <a:p xmlns:a="http://schemas.openxmlformats.org/drawingml/2006/main">
            <a:r>
              <a:t>O próprio servidor</a:t>
            </a:r>
          </a:p>
          <a:p xmlns:a="http://schemas.openxmlformats.org/drawingml/2006/main">
            <a:r>
              <a:t>Um backend Spring Boot expondo /api/pedidos</a:t>
            </a:r>
          </a:p>
          <a:p xmlns:a="http://schemas.openxmlformats.org/drawingml/2006/main">
            <a:r>
              <a:t>Um gateway</a:t>
            </a:r>
          </a:p>
          <a:p xmlns:a="http://schemas.openxmlformats.org/drawingml/2006/main">
            <a:r>
              <a:t>Uma porta de entrada na frente de vários serviços</a:t>
            </a:r>
          </a:p>
          <a:p xmlns:a="http://schemas.openxmlformats.org/drawingml/2006/main">
            <a:r>
              <a:t>Uma biblioteca</a:t>
            </a:r>
          </a:p>
          <a:p xmlns:a="http://schemas.openxmlformats.org/drawingml/2006/main">
            <a:r>
              <a:t>java.util.List também é uma API (sim, aquela que você usa sem pensar)</a:t>
            </a:r>
          </a:p>
          <a:p xmlns:a="http://schemas.openxmlformats.org/drawingml/2006/main">
            <a:r>
              <a:t>O contrato define</a:t>
            </a:r>
          </a:p>
          <a:p xmlns:a="http://schemas.openxmlformats.org/drawingml/2006/main">
            <a:r>
              <a:t>Operações</a:t>
            </a:r>
          </a:p>
          <a:p xmlns:a="http://schemas.openxmlformats.org/drawingml/2006/main">
            <a:r>
              <a:t> · o que dá para pedir</a:t>
            </a:r>
          </a:p>
          <a:p xmlns:a="http://schemas.openxmlformats.org/drawingml/2006/main">
            <a:r>
              <a:t>Schemas</a:t>
            </a:r>
          </a:p>
          <a:p xmlns:a="http://schemas.openxmlformats.org/drawingml/2006/main">
            <a:r>
              <a:t> · o formato exato dos dados</a:t>
            </a:r>
          </a:p>
          <a:p xmlns:a="http://schemas.openxmlformats.org/drawingml/2006/main">
            <a:r>
              <a:t>Autenticação</a:t>
            </a:r>
          </a:p>
          <a:p xmlns:a="http://schemas.openxmlformats.org/drawingml/2006/main">
            <a:r>
              <a:t> · como provar quem você é</a:t>
            </a:r>
          </a:p>
          <a:p xmlns:a="http://schemas.openxmlformats.org/drawingml/2006/main">
            <a:r>
              <a:t>Erros</a:t>
            </a:r>
          </a:p>
          <a:p xmlns:a="http://schemas.openxmlformats.org/drawingml/2006/main">
            <a:r>
              <a:t> · quais podem vir, e em que formato</a:t>
            </a:r>
          </a:p>
          <a:p xmlns:a="http://schemas.openxmlformats.org/drawingml/2006/main">
            <a:r>
              <a:t>Paginação</a:t>
            </a:r>
          </a:p>
          <a:p xmlns:a="http://schemas.openxmlformats.org/drawingml/2006/main">
            <a:r>
              <a:t> · listas grandes, em partes</a:t>
            </a:r>
          </a:p>
          <a:p xmlns:a="http://schemas.openxmlformats.org/drawingml/2006/main">
            <a:r>
              <a:t>Limites</a:t>
            </a:r>
          </a:p>
          <a:p xmlns:a="http://schemas.openxmlformats.org/drawingml/2006/main">
            <a:r>
              <a:t> · quantas requisições por minuto</a:t>
            </a:r>
          </a:p>
          <a:p xmlns:a="http://schemas.openxmlformats.org/drawingml/2006/main">
            <a:r>
              <a:t>Compatibilidade</a:t>
            </a:r>
          </a:p>
          <a:p xmlns:a="http://schemas.openxmlformats.org/drawingml/2006/main">
            <a:r>
              <a:t> · o que pode mudar sem quebrar</a:t>
            </a:r>
          </a:p>
          <a:p xmlns:a="http://schemas.openxmlformats.org/drawingml/2006/main">
            <a:r>
              <a:t>Enquanto o contrato for cumprido, a cozinha pode trocar de chef, de fogão e até de endereço: o cliente nem percebe.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Is This A Pigeon. Fonte: https://i.imgflip.com/1o00in.jpg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O exemplo de biblioteca considera pedidos como uma instância mutável de java.util.List; add é uma operação opcional do contrato. CreateFileW abre/cria arquivos ou dispositivos e retorna um handle, mas não escreve por si só. POST /api/pedidos é o exemplo didático do restaurante, não uma API pública real. Fontes: https://docs.oracle.com/en/java/javase/21/docs/api/java.base/java/util/List.html ; https://learn.microsoft.com/en-us/windows/win32/api/fileapi/nf-fileapi-createfilew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https://docs.cloud.google.com/endpoints/docs/openapi e https://docs.cloud.google.com/endpoints/docs/openapi/get-started-compute-engine-docker . Cloud Endpoints gerencia APIs descritas por OpenAPI, com autenticação, monitoramento e cotas; usa ESP/ESPv2. A URL mostrada é ilustrativa e usa um projeto fictício.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Anatomia de uma chamada HTTP</a:t>
            </a:r>
          </a:p>
          <a:p xmlns:a="http://schemas.openxmlformats.org/drawingml/2006/main">
            <a:r>
              <a:t>Hora de abrir o pedido e ver o que tem dentro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Tuxedo Winnie The Pooh. Fonte: https://i.imgflip.com/2ybua0.png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https://www.rfc-editor.org/rfc/rfc2068 e https://www.rfc-editor.org/rfc/rfc9112.html . HTTP/1.1 tornou conexões persistentes padrão, reduzindo abertura repetida de conexões; o campo Host permite distinguir sites no mesmo servidor. A adoção de HTTP para APIs aproveitou infraestrutura amplamente disponível. HTTP/2 e HTTP/3 também podem transportar APIs; HTTP/1.1 é o exemplo didático deste seminário.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Apontar cada cor do código para a legenda. Frisar Content-Type × Accept: um diz o que vai, o outro o que se aceita de volta.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A requisição, linha por linha (sem cebola)</a:t>
            </a:r>
          </a:p>
          <a:p xmlns:a="http://schemas.openxmlformats.org/drawingml/2006/main">
            <a:r>
              <a:t>POST</a:t>
            </a:r>
          </a:p>
          <a:p xmlns:a="http://schemas.openxmlformats.org/drawingml/2006/main">
            <a:r>
              <a:t> </a:t>
            </a:r>
          </a:p>
          <a:p xmlns:a="http://schemas.openxmlformats.org/drawingml/2006/main">
            <a:r>
              <a:t>/api/pedidos</a:t>
            </a:r>
          </a:p>
          <a:p xmlns:a="http://schemas.openxmlformats.org/drawingml/2006/main">
            <a:r>
              <a:t>?mesa=12</a:t>
            </a:r>
          </a:p>
          <a:p xmlns:a="http://schemas.openxmlformats.org/drawingml/2006/main">
            <a:r>
              <a:t> HTTP/1.1</a:t>
            </a:r>
          </a:p>
          <a:p xmlns:a="http://schemas.openxmlformats.org/drawingml/2006/main">
            <a:r>
              <a:t>Host: api.restaurante.com</a:t>
            </a:r>
          </a:p>
          <a:p xmlns:a="http://schemas.openxmlformats.org/drawingml/2006/main">
            <a:r>
              <a:t>Authorization: Bearer eyJhbGci…</a:t>
            </a:r>
          </a:p>
          <a:p xmlns:a="http://schemas.openxmlformats.org/drawingml/2006/main">
            <a:r>
              <a:t>Content-Type: application/json</a:t>
            </a:r>
          </a:p>
          <a:p xmlns:a="http://schemas.openxmlformats.org/drawingml/2006/main">
            <a:r>
              <a:t>Accept: application/json</a:t>
            </a:r>
          </a:p>
          <a:p xmlns:a="http://schemas.openxmlformats.org/drawingml/2006/main">
            <a:r>
              <a:t>{ "prato": "risoto",</a:t>
            </a:r>
          </a:p>
          <a:p xmlns:a="http://schemas.openxmlformats.org/drawingml/2006/main">
            <a:r>
              <a:t>  "obs": "sem cebola" }</a:t>
            </a:r>
          </a:p>
          <a:p xmlns:a="http://schemas.openxmlformats.org/drawingml/2006/main">
            <a:r>
              <a:t>Método</a:t>
            </a:r>
          </a:p>
          <a:p xmlns:a="http://schemas.openxmlformats.org/drawingml/2006/main">
            <a:r>
              <a:t>POST: a ação pedida ao recurso</a:t>
            </a:r>
          </a:p>
          <a:p xmlns:a="http://schemas.openxmlformats.org/drawingml/2006/main">
            <a:r>
              <a:t>Path</a:t>
            </a:r>
          </a:p>
          <a:p xmlns:a="http://schemas.openxmlformats.org/drawingml/2006/main">
            <a:r>
              <a:t>/api/pedidos: qual recurso</a:t>
            </a:r>
          </a:p>
          <a:p xmlns:a="http://schemas.openxmlformats.org/drawingml/2006/main">
            <a:r>
              <a:t>Query string</a:t>
            </a:r>
          </a:p>
          <a:p xmlns:a="http://schemas.openxmlformats.org/drawingml/2006/main">
            <a:r>
              <a:t>?mesa=12: filtros e parâmetros opcionais</a:t>
            </a:r>
          </a:p>
          <a:p xmlns:a="http://schemas.openxmlformats.org/drawingml/2006/main">
            <a:r>
              <a:t>Headers</a:t>
            </a:r>
          </a:p>
          <a:p xmlns:a="http://schemas.openxmlformats.org/drawingml/2006/main">
            <a:r>
              <a:t>Authorization</a:t>
            </a:r>
          </a:p>
          <a:p xmlns:a="http://schemas.openxmlformats.org/drawingml/2006/main">
            <a:r>
              <a:t>: quem é você (autenticação)</a:t>
            </a:r>
          </a:p>
          <a:p xmlns:a="http://schemas.openxmlformats.org/drawingml/2006/main">
            <a:r>
              <a:t>Content-Type</a:t>
            </a:r>
          </a:p>
          <a:p xmlns:a="http://schemas.openxmlformats.org/drawingml/2006/main">
            <a:r>
              <a:t>: formato do que eu envio</a:t>
            </a:r>
          </a:p>
          <a:p xmlns:a="http://schemas.openxmlformats.org/drawingml/2006/main">
            <a:r>
              <a:t>Accept</a:t>
            </a:r>
          </a:p>
          <a:p xmlns:a="http://schemas.openxmlformats.org/drawingml/2006/main">
            <a:r>
              <a:t>: o que eu aceito de volta (“XML não, por favor”)</a:t>
            </a:r>
          </a:p>
          <a:p xmlns:a="http://schemas.openxmlformats.org/drawingml/2006/main">
            <a:r>
              <a:t>Body da requisição</a:t>
            </a:r>
          </a:p>
          <a:p xmlns:a="http://schemas.openxmlformats.org/drawingml/2006/main">
            <a:r>
              <a:t>Os dados do pedido. Um GET normalmente não 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Futurama Fry. Fonte: https://i.imgflip.com/1bgw.jpg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didático com headers selecionados. Authorization transporta a credencial; Content-Type informa o formato do corpo. Observações do pedido pertencem aos dados da aplicação, não são inerentemente headers.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Continuação direta do slide anterior: é a resposta ao POST do risoto.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E a resposta que volta (quando volta)</a:t>
            </a:r>
          </a:p>
          <a:p xmlns:a="http://schemas.openxmlformats.org/drawingml/2006/main">
            <a:r>
              <a:t>HTTP/1.1 201 Created</a:t>
            </a:r>
          </a:p>
          <a:p xmlns:a="http://schemas.openxmlformats.org/drawingml/2006/main">
            <a:r>
              <a:t>Location: /api/pedidos/981</a:t>
            </a:r>
          </a:p>
          <a:p xmlns:a="http://schemas.openxmlformats.org/drawingml/2006/main">
            <a:r>
              <a:t>Content-Type: application/json</a:t>
            </a:r>
          </a:p>
          <a:p xmlns:a="http://schemas.openxmlformats.org/drawingml/2006/main">
            <a:r>
              <a:t>{ "id": 981,</a:t>
            </a:r>
          </a:p>
          <a:p xmlns:a="http://schemas.openxmlformats.org/drawingml/2006/main">
            <a:r>
              <a:t>  "status": "na_cozinha" }</a:t>
            </a:r>
          </a:p>
          <a:p xmlns:a="http://schemas.openxmlformats.org/drawingml/2006/main">
            <a:r>
              <a:t>Status</a:t>
            </a:r>
          </a:p>
          <a:p xmlns:a="http://schemas.openxmlformats.org/drawingml/2006/main">
            <a:r>
              <a:t>Código + frase: o resultado resumido</a:t>
            </a:r>
          </a:p>
          <a:p xmlns:a="http://schemas.openxmlformats.org/drawingml/2006/main">
            <a:r>
              <a:t>Headers de resposta</a:t>
            </a:r>
          </a:p>
          <a:p xmlns:a="http://schemas.openxmlformats.org/drawingml/2006/main">
            <a:r>
              <a:t>Location</a:t>
            </a:r>
          </a:p>
          <a:p xmlns:a="http://schemas.openxmlformats.org/drawingml/2006/main">
            <a:r>
              <a:t>: onde o pedido novo mora</a:t>
            </a:r>
          </a:p>
          <a:p xmlns:a="http://schemas.openxmlformats.org/drawingml/2006/main">
            <a:r>
              <a:t>Content-Type</a:t>
            </a:r>
          </a:p>
          <a:p xmlns:a="http://schemas.openxmlformats.org/drawingml/2006/main">
            <a:r>
              <a:t>: formato do que voltou</a:t>
            </a:r>
          </a:p>
          <a:p xmlns:a="http://schemas.openxmlformats.org/drawingml/2006/main">
            <a:r>
              <a:t>Body da resposta</a:t>
            </a:r>
          </a:p>
          <a:p xmlns:a="http://schemas.openxmlformats.org/drawingml/2006/main">
            <a:r>
              <a:t>A representação do recurso. Pode vir vazio (204 No Content).</a:t>
            </a:r>
          </a:p>
          <a:p xmlns:a="http://schemas.openxmlformats.org/drawingml/2006/main">
            <a:r>
              <a:t>Body de requisição ≠ body de resposta.</a:t>
            </a:r>
          </a:p>
          <a:p xmlns:a="http://schemas.openxmlformats.org/drawingml/2006/main">
            <a:r>
              <a:t> São independentes: um POST pode enviar JSON e receber um 204 sem corpo; um GET não envia corpo e pode receber um JSON do tamanho de um livro.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Leonardo Dicaprio Cheers. Fonte: https://i.imgflip.com/39t1o.jpg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https://www.rfc-editor.org/rfc/rfc8259/ e https://www.w3.org/TR/xml/ . Exemplos didáticos da mesma informação em formatos diferentes. Content-Type informa o formato recebido. Uma API também pode retornar outros formatos; estes são dois exemplos frequentes.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não é sinônimo de criar, e PUT e PATCH não são a mesma coisa. PUT substitui tudo e pode ser repetido; PATCH altera uma parte. Semântica definida na RFC 9110.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GET é seguro: a intenção é leitura, mas o servidor ainda pode registrar logs e métricas. Idempotência trata do efeito pretendido, não de respostas idênticas; repetir DELETE pode retornar outro status. PUT pode criar no URI conhecido. POST pode ser tornado idempotente por contrato. PATCH não é idempotente por definição, mas algumas operações podem ser. Fontes: https://www.rfc-editor.org/rfc/rfc9110#section-9 ; https://www.rfc-editor.org/rfc/rfc5789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Meme de "não × sim". O ponto técnico é sério: POST não é idempotente, então repetir um POST pode criar dois pedidos. Isso volta no slide de Idempotency-Key.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Template Drake Hotline Bling: https://imgflip.com/memetemplate/Drake-Hotline-Bling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PAUSA PARA O MEME</a:t>
            </a:r>
          </a:p>
          <a:p xmlns:a="http://schemas.openxmlformats.org/drawingml/2006/main">
            <a:r>
              <a:t>13 / 45</a:t>
            </a:r>
          </a:p>
          <a:p xmlns:a="http://schemas.openxmlformats.org/drawingml/2006/main">
            <a:r>
              <a:t>POST não assinou contrato vitalício com o INSERT</a:t>
            </a:r>
          </a:p>
          <a:p xmlns:a="http://schemas.openxmlformats.org/drawingml/2006/main">
            <a:r>
              <a:t>“POST só</a:t>
            </a:r>
          </a:p>
          <a:p xmlns:a="http://schemas.openxmlformats.org/drawingml/2006/main">
            <a:r>
              <a:t>cria coisas”</a:t>
            </a:r>
          </a:p>
          <a:p xmlns:a="http://schemas.openxmlformats.org/drawingml/2006/main">
            <a:r>
              <a:t>“POST executa</a:t>
            </a:r>
          </a:p>
          <a:p xmlns:a="http://schemas.openxmlformats.org/drawingml/2006/main">
            <a:r>
              <a:t>a regra do</a:t>
            </a:r>
          </a:p>
          <a:p xmlns:a="http://schemas.openxmlformats.org/drawingml/2006/main">
            <a:r>
              <a:t>recurso”</a:t>
            </a:r>
          </a:p>
          <a:p xmlns:a="http://schemas.openxmlformats.org/drawingml/2006/main">
            <a:r>
              <a:t>POST /pedidos cria.</a:t>
            </a:r>
          </a:p>
          <a:p xmlns:a="http://schemas.openxmlformats.org/drawingml/2006/main">
            <a:r>
              <a:t>POST /calcular-frete calcula.</a:t>
            </a:r>
          </a:p>
          <a:p xmlns:a="http://schemas.openxmlformats.org/drawingml/2006/main">
            <a:r>
              <a:t>POST /checkout pode cobrar.</a:t>
            </a:r>
          </a:p>
          <a:p xmlns:a="http://schemas.openxmlformats.org/drawingml/2006/main">
            <a:r>
              <a:t>Repetir um POST pode repetir a ação.</a:t>
            </a:r>
          </a:p>
          <a:p xmlns:a="http://schemas.openxmlformats.org/drawingml/2006/main">
            <a:r>
              <a:t>O cartão de crédito não acha graça.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Template Drake Hotline Bling: https://imgflip.com/memetemplate/Drake-Hotline-Bling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401 × 403 é autenticação × autorização (quem você é × o que pode fazer). 409: conflito com o estado atual do recurso. 422 (nome completo: Unprocessable Content): a sintaxe está certa, mas os dados não fazem sentido. 429 e 503 voltam no slide de confiabilidade.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HTTP Cat 200. Fonte: https://http.cat/200.jpg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HTTP Cat 404. Fonte: https://http.cat/404.jpg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HTTP Cat 500. Fonte: https://http.cat/500.jpg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 Cats: https://http.cat/ . 4xx não significa necessariamente culpa humana: inclui autenticação, autorização, recurso não encontrado e limites. 404 também pode ocultar um recurso. 202 aceita para processamento, não garante conclusão. Fonte de semântica: https://www.rfc-editor.org/rfc/rfc9110#section-15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418 veio de uma RFC de 1º de abril (RFC 2324, de 1998) e o código ficou reservado de verdade na especificação do HTTP. Bom momento para perguntar à turma qual status ela colocaria no tier 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Tier list de status codes (opinião 100% técnica)</a:t>
            </a:r>
          </a:p>
          <a:p xmlns:a="http://schemas.openxmlformats.org/drawingml/2006/main">
            <a:r>
              <a:t>S</a:t>
            </a:r>
          </a:p>
          <a:p xmlns:a="http://schemas.openxmlformats.org/drawingml/2006/main">
            <a:r>
              <a:t>200 OK · 201 Created</a:t>
            </a:r>
          </a:p>
          <a:p xmlns:a="http://schemas.openxmlformats.org/drawingml/2006/main">
            <a:r>
              <a:t>Paz, amor e JSON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204 No Content</a:t>
            </a:r>
          </a:p>
          <a:p xmlns:a="http://schemas.openxmlformats.org/drawingml/2006/main">
            <a:r>
              <a:t>Educado e de poucas palavras</a:t>
            </a:r>
          </a:p>
          <a:p xmlns:a="http://schemas.openxmlformats.org/drawingml/2006/main">
            <a:r>
              <a:t>B</a:t>
            </a:r>
          </a:p>
          <a:p xmlns:a="http://schemas.openxmlformats.org/drawingml/2006/main">
            <a:r>
              <a:t>404 Not Found</a:t>
            </a:r>
          </a:p>
          <a:p xmlns:a="http://schemas.openxmlformats.org/drawingml/2006/main">
            <a:r>
              <a:t>Pelo menos é honesto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429 Too Many Requests</a:t>
            </a:r>
          </a:p>
          <a:p xmlns:a="http://schemas.openxmlformats.org/drawingml/2006/main">
            <a:r>
              <a:t>Não foi ele, foi você que pediu demais</a:t>
            </a:r>
          </a:p>
          <a:p xmlns:a="http://schemas.openxmlformats.org/drawingml/2006/main">
            <a:r>
              <a:t>D</a:t>
            </a:r>
          </a:p>
          <a:p xmlns:a="http://schemas.openxmlformats.org/drawingml/2006/main">
            <a:r>
              <a:t>500 Internal Server Error</a:t>
            </a:r>
          </a:p>
          <a:p xmlns:a="http://schemas.openxmlformats.org/drawingml/2006/main">
            <a:r>
              <a:t>A cozinha pegou fogo e ninguém sabe por quê</a:t>
            </a:r>
          </a:p>
          <a:p xmlns:a="http://schemas.openxmlformats.org/drawingml/2006/main">
            <a:r>
              <a:t>???</a:t>
            </a:r>
          </a:p>
          <a:p xmlns:a="http://schemas.openxmlformats.org/drawingml/2006/main">
            <a:r>
              <a:t>418 I'm a teapot</a:t>
            </a:r>
          </a:p>
          <a:p xmlns:a="http://schemas.openxmlformats.org/drawingml/2006/main">
            <a:r>
              <a:t>Existe mesmo (RFC 2324): “sou um bule, não faço café”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HTTP Cat 418. Fonte: https://http.cat/418.jpg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418 é a piada histórica do protocolo de cafeteiras da RFC 2324, publicada em 1º de abril de 1998. Na semântica HTTP atual, o código está reservado como unused. Fontes: https://www.rfc-editor.org/rfc/rfc2324#section-2.3.2 ; https://www.rfc-editor.org/rfc/rfc9110#section-15.5.19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Três trocas completas. Reparar: o 201 traz Location apontando para o recurso criado, e o 404 também tem corpo; erros fazem parte do contrato. Stateless = cada requisição carrega tudo de que precisa, o servidor não depende da anterior.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Anatomia em ação: requisição e resposta</a:t>
            </a:r>
          </a:p>
          <a:p xmlns:a="http://schemas.openxmlformats.org/drawingml/2006/main">
            <a:r>
              <a:t>Cliente</a:t>
            </a:r>
          </a:p>
          <a:p xmlns:a="http://schemas.openxmlformats.org/drawingml/2006/main">
            <a:r>
              <a:t>API (servidor)</a:t>
            </a:r>
          </a:p>
          <a:p xmlns:a="http://schemas.openxmlformats.org/drawingml/2006/main">
            <a:r>
              <a:t>GET /usuarios/42</a:t>
            </a:r>
          </a:p>
          <a:p xmlns:a="http://schemas.openxmlformats.org/drawingml/2006/main">
            <a:r>
              <a:t>200 OK · { "id": 42, "nome": "Maria" }</a:t>
            </a:r>
          </a:p>
          <a:p xmlns:a="http://schemas.openxmlformats.org/drawingml/2006/main">
            <a:r>
              <a:t>POST /usuarios · Content-Type: application/json · { "nome": "João" }</a:t>
            </a:r>
          </a:p>
          <a:p xmlns:a="http://schemas.openxmlformats.org/drawingml/2006/main">
            <a:r>
              <a:t>201 Created · Location: /usuarios/43</a:t>
            </a:r>
          </a:p>
          <a:p xmlns:a="http://schemas.openxmlformats.org/drawingml/2006/main">
            <a:r>
              <a:t>GET /usuarios/999</a:t>
            </a:r>
          </a:p>
          <a:p xmlns:a="http://schemas.openxmlformats.org/drawingml/2006/main">
            <a:r>
              <a:t>404 Not Found · { "erro": "usuário não encontrado" }</a:t>
            </a:r>
          </a:p>
          <a:p xmlns:a="http://schemas.openxmlformats.org/drawingml/2006/main">
            <a:r>
              <a:t>Stateless: cada pedido se explica sozinho. O garçom não precisa lembrar da visita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Diagrama de sequência editável e simplificado. Cada requisição REST precisa trazer o contexto necessário; o servidor pode manter dados persistentes, mas não deve depender de contexto de sessão do cliente para compreender a requisição.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https://www.rfc-editor.org/rfc/rfc8446/ e https://www.rfc-editor.org/rfc/rfc7568/ . SSL é o nome antigo ainda usado informalmente em 'certificado SSL'; SSLv3 foi descontinuado. TLS protege confidencialidade e integridade dos dados em trânsito e autentica o servidor por certificado, sujeito à validação adequada. HTTPS não substitui autorização.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https://www.rfc-editor.org/rfc/rfc6750/ . Exemplo de bearer token enviado no cabeçalho Authorization. Quem possui esse token pode usá-lo; por isso transporte por TLS e verificação de escopo, validade e permissões no servidor são essenciais. A ilustração é original, gerada para este seminário.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Tabela ilustrativa. No dia, mostrem um print real do DevTools de um site qualquer, já com o filtro Fetch/XHR ligado.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Isso acontece em todo site, agora mesmo</a:t>
            </a:r>
          </a:p>
          <a:p xmlns:a="http://schemas.openxmlformats.org/drawingml/2006/main">
            <a:r>
              <a:t>Abra o DevTools (F12) › aba </a:t>
            </a:r>
          </a:p>
          <a:p xmlns:a="http://schemas.openxmlformats.org/drawingml/2006/main">
            <a:r>
              <a:t>Rede</a:t>
            </a:r>
          </a:p>
          <a:p xmlns:a="http://schemas.openxmlformats.org/drawingml/2006/main">
            <a:r>
              <a:t> (Network). Sem filtro, ela mostra </a:t>
            </a:r>
          </a:p>
          <a:p xmlns:a="http://schemas.openxmlformats.org/drawingml/2006/main">
            <a:r>
              <a:t>todo</a:t>
            </a:r>
          </a:p>
          <a:p xmlns:a="http://schemas.openxmlformats.org/drawingml/2006/main">
            <a:r>
              <a:t> o tráfego HTTP: HTML, CSS, JS, imagens, fontes. Para ver só as chamadas de API, filtre por </a:t>
            </a:r>
          </a:p>
          <a:p xmlns:a="http://schemas.openxmlformats.org/drawingml/2006/main">
            <a:r>
              <a:t>Fetch/XHR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Tudo</a:t>
            </a:r>
          </a:p>
          <a:p xmlns:a="http://schemas.openxmlformats.org/drawingml/2006/main">
            <a:r>
              <a:t>Fetch/XHR</a:t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CSS</a:t>
            </a:r>
          </a:p>
          <a:p xmlns:a="http://schemas.openxmlformats.org/drawingml/2006/main">
            <a:r>
              <a:t>JS</a:t>
            </a:r>
          </a:p>
          <a:p xmlns:a="http://schemas.openxmlformats.org/drawingml/2006/main">
            <a:r>
              <a:t>Img</a:t>
            </a:r>
          </a:p>
          <a:p xmlns:a="http://schemas.openxmlformats.org/drawingml/2006/main">
            <a:r>
              <a:t>Fonte</a:t>
            </a:r>
          </a:p>
          <a:p xmlns:a="http://schemas.openxmlformats.org/drawingml/2006/main">
            <a:r>
              <a:t>Nome</a:t>
            </a:r>
          </a:p>
          <a:p xmlns:a="http://schemas.openxmlformats.org/drawingml/2006/main">
            <a:r>
              <a:t>Método</a:t>
            </a:r>
          </a:p>
          <a:p xmlns:a="http://schemas.openxmlformats.org/drawingml/2006/main">
            <a:r>
              <a:t>Status</a:t>
            </a:r>
          </a:p>
          <a:p xmlns:a="http://schemas.openxmlformats.org/drawingml/2006/main">
            <a:r>
              <a:t>Tipo</a:t>
            </a:r>
          </a:p>
          <a:p xmlns:a="http://schemas.openxmlformats.org/drawingml/2006/main">
            <a:r>
              <a:t>Tempo</a:t>
            </a:r>
          </a:p>
          <a:p xmlns:a="http://schemas.openxmlformats.org/drawingml/2006/main">
            <a:r>
              <a:t>/api/usuarios/42</a:t>
            </a:r>
          </a:p>
          <a:p xmlns:a="http://schemas.openxmlformats.org/drawingml/2006/main">
            <a:r>
              <a:t>GET</a:t>
            </a:r>
          </a:p>
          <a:p xmlns:a="http://schemas.openxmlformats.org/drawingml/2006/main">
            <a:r>
              <a:t>200</a:t>
            </a:r>
          </a:p>
          <a:p xmlns:a="http://schemas.openxmlformats.org/drawingml/2006/main">
            <a:r>
              <a:t>fetch</a:t>
            </a:r>
          </a:p>
          <a:p xmlns:a="http://schemas.openxmlformats.org/drawingml/2006/main">
            <a:r>
              <a:t>84 ms</a:t>
            </a:r>
          </a:p>
          <a:p xmlns:a="http://schemas.openxmlformats.org/drawingml/2006/main">
            <a:r>
              <a:t>/api/usuarios</a:t>
            </a:r>
          </a:p>
          <a:p xmlns:a="http://schemas.openxmlformats.org/drawingml/2006/main">
            <a:r>
              <a:t>POST</a:t>
            </a:r>
          </a:p>
          <a:p xmlns:a="http://schemas.openxmlformats.org/drawingml/2006/main">
            <a:r>
              <a:t>201</a:t>
            </a:r>
          </a:p>
          <a:p xmlns:a="http://schemas.openxmlformats.org/drawingml/2006/main">
            <a:r>
              <a:t>fetch</a:t>
            </a:r>
          </a:p>
          <a:p xmlns:a="http://schemas.openxmlformats.org/drawingml/2006/main">
            <a:r>
              <a:t>112 ms</a:t>
            </a:r>
          </a:p>
          <a:p xmlns:a="http://schemas.openxmlformats.org/drawingml/2006/main">
            <a:r>
              <a:t>/api/pedidos?page=2</a:t>
            </a:r>
          </a:p>
          <a:p xmlns:a="http://schemas.openxmlformats.org/drawingml/2006/main">
            <a:r>
              <a:t>GET</a:t>
            </a:r>
          </a:p>
          <a:p xmlns:a="http://schemas.openxmlformats.org/drawingml/2006/main">
            <a:r>
              <a:t>200</a:t>
            </a:r>
          </a:p>
          <a:p xmlns:a="http://schemas.openxmlformats.org/drawingml/2006/main">
            <a:r>
              <a:t>xhr</a:t>
            </a:r>
          </a:p>
          <a:p xmlns:a="http://schemas.openxmlformats.org/drawingml/2006/main">
            <a:r>
              <a:t>95 ms</a:t>
            </a:r>
          </a:p>
          <a:p xmlns:a="http://schemas.openxmlformats.org/drawingml/2006/main">
            <a:r>
              <a:t>/api/pedidos/17</a:t>
            </a:r>
          </a:p>
          <a:p xmlns:a="http://schemas.openxmlformats.org/drawingml/2006/main">
            <a:r>
              <a:t>GET</a:t>
            </a:r>
          </a:p>
          <a:p xmlns:a="http://schemas.openxmlformats.org/drawingml/2006/main">
            <a:r>
              <a:t>404</a:t>
            </a:r>
          </a:p>
          <a:p xmlns:a="http://schemas.openxmlformats.org/drawingml/2006/main">
            <a:r>
              <a:t>fetch</a:t>
            </a:r>
          </a:p>
          <a:p xmlns:a="http://schemas.openxmlformats.org/drawingml/2006/main">
            <a:r>
              <a:t>61 ms</a:t>
            </a:r>
          </a:p>
          <a:p xmlns:a="http://schemas.openxmlformats.org/drawingml/2006/main">
            <a:r>
              <a:t>E o /static/logo.svg? Também é uma requisição HTTP, mas busca um arquivo estático: não é chamada de API. (Testem no Instagram: é tanta chamada que dá vergonha.)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Surprised Pikachu. Fonte: https://i.imgflip.com/2kbn1e.jpg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HTTP real obtida em 25/09/2026 em https://api.github.com/repos/octocat/Hello-World . A imagem apresenta campos selecionados e formatação didática; não é uma captura da interface do GitHub. A API é o conjunto de operações e regras; este JSON é uma resposta de uma de suas operações. Documentação: https://docs.github.com/en/rest/repos/repos#get-a-repository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Captura real da documentação oficial feita em 26/09/2026; a imagem mostra o exemplo publicado, não uma consulta ao vivo. URL completa: https://viacep.com.br/ws/01001000/json/ . O CEP precisa ter 8 dígitos. Formato inválido retorna HTTP 400; formato válido mas CEP inexistente resulta em erro:true no corpo. Fonte: https://viacep.com.br/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Mapa das tecnologias</a:t>
            </a:r>
          </a:p>
          <a:p xmlns:a="http://schemas.openxmlformats.org/drawingml/2006/main">
            <a:r>
              <a:t>Da primeira chamada remota ao cardápio de hoje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Ancient Aliens. Fonte: https://i.imgflip.com/26am.jpg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são opções equivalentes de um mesmo menu. REST é um estilo; SOAP e WebSocket são protocolos; gRPC é um framework de RPC; GraphQL é linguagem + runtime; webhook é um padrão. Um webhook pode ser entregue por uma API REST.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Seis nomes, seis categorias diferentes</a:t>
            </a:r>
          </a:p>
          <a:p xmlns:a="http://schemas.openxmlformats.org/drawingml/2006/main">
            <a:r>
              <a:t>Comparar REST × Webhook é como comparar “pedir à la carte” com “o motoboy tocou a campainha”: uma coisa não exclui a outra.</a:t>
            </a:r>
          </a:p>
          <a:p xmlns:a="http://schemas.openxmlformats.org/drawingml/2006/main">
            <a:r>
              <a:t>Nome</a:t>
            </a:r>
          </a:p>
          <a:p xmlns:a="http://schemas.openxmlformats.org/drawingml/2006/main">
            <a:r>
              <a:t>O que é</a:t>
            </a:r>
          </a:p>
          <a:p xmlns:a="http://schemas.openxmlformats.org/drawingml/2006/main">
            <a:r>
              <a:t>Como funciona</a:t>
            </a:r>
          </a:p>
          <a:p xmlns:a="http://schemas.openxmlformats.org/drawingml/2006/main">
            <a:r>
              <a:t>REST</a:t>
            </a:r>
          </a:p>
          <a:p xmlns:a="http://schemas.openxmlformats.org/drawingml/2006/main">
            <a:r>
              <a:t>Estilo arquitetural</a:t>
            </a:r>
          </a:p>
          <a:p xmlns:a="http://schemas.openxmlformats.org/drawingml/2006/main">
            <a:r>
              <a:t>Restrições de arquitetura; não fixa protocolo nem formato</a:t>
            </a:r>
          </a:p>
          <a:p xmlns:a="http://schemas.openxmlformats.org/drawingml/2006/main">
            <a:r>
              <a:t>SOAP</a:t>
            </a:r>
          </a:p>
          <a:p xmlns:a="http://schemas.openxmlformats.org/drawingml/2006/main">
            <a:r>
              <a:t>Protocolo de mensagens</a:t>
            </a:r>
          </a:p>
          <a:p xmlns:a="http://schemas.openxmlformats.org/drawingml/2006/main">
            <a:r>
              <a:t>Envelope XML com contrato formal (WSDL)</a:t>
            </a:r>
          </a:p>
          <a:p xmlns:a="http://schemas.openxmlformats.org/drawingml/2006/main">
            <a:r>
              <a:t>gRPC</a:t>
            </a:r>
          </a:p>
          <a:p xmlns:a="http://schemas.openxmlformats.org/drawingml/2006/main">
            <a:r>
              <a:t>Framework de RPC</a:t>
            </a:r>
          </a:p>
          <a:p xmlns:a="http://schemas.openxmlformats.org/drawingml/2006/main">
            <a:r>
              <a:t>Chama funções remotas via IDL (Protocol Buffers) e HTTP/2</a:t>
            </a:r>
          </a:p>
          <a:p xmlns:a="http://schemas.openxmlformats.org/drawingml/2006/main">
            <a:r>
              <a:t>GraphQL</a:t>
            </a:r>
          </a:p>
          <a:p xmlns:a="http://schemas.openxmlformats.org/drawingml/2006/main">
            <a:r>
              <a:t>Linguagem de consulta + runtime</a:t>
            </a:r>
          </a:p>
          <a:p xmlns:a="http://schemas.openxmlformats.org/drawingml/2006/main">
            <a:r>
              <a:t>Cliente consulta um schema tipado definido pelo servidor</a:t>
            </a:r>
          </a:p>
          <a:p xmlns:a="http://schemas.openxmlformats.org/drawingml/2006/main">
            <a:r>
              <a:t>WebSocket</a:t>
            </a:r>
          </a:p>
          <a:p xmlns:a="http://schemas.openxmlformats.org/drawingml/2006/main">
            <a:r>
              <a:t>Protocolo de comunicação</a:t>
            </a:r>
          </a:p>
          <a:p xmlns:a="http://schemas.openxmlformats.org/drawingml/2006/main">
            <a:r>
              <a:t>Canal persistente e bidirecional sobre uma conexão</a:t>
            </a:r>
          </a:p>
          <a:p xmlns:a="http://schemas.openxmlformats.org/drawingml/2006/main">
            <a:r>
              <a:t>Webhook</a:t>
            </a:r>
          </a:p>
          <a:p xmlns:a="http://schemas.openxmlformats.org/drawingml/2006/main">
            <a:r>
              <a:t>Padrão de entrega de eventos</a:t>
            </a:r>
          </a:p>
          <a:p xmlns:a="http://schemas.openxmlformats.org/drawingml/2006/main">
            <a:r>
              <a:t>O provedor chama a sua URL (POST) quando algo acontece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https://www.w3.org/TR/soap12/ . SOAP 1.2 define convenções para o formato e processamento de mensagens, com Envelope, Header opcional e Body. SOAP pode usar HTTP, entre outros transportes; não é sinônimo de XML genérico nem de REST.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técnica: https://www.w3.org/TR/soap12/ . O meme é humor visual original, não uma medição de tamanho ou desempenho de SOAP. Exemplo de estrutura reduzida: Envelope, Header opcional, Body. A ilustração é original, gerada para este seminário.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certa não é "qual é o melhor", e sim "qual serve para esta comunicação". Um mesmo produto usa várias ao mesmo tempo.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Na prática, um mesmo sistema combina várias</a:t>
            </a:r>
          </a:p>
          <a:p xmlns:a="http://schemas.openxmlformats.org/drawingml/2006/main">
            <a:r>
              <a:t>Exemplo: um app de delivery, e como cada uma aparece no restaurante</a:t>
            </a:r>
          </a:p>
          <a:p xmlns:a="http://schemas.openxmlformats.org/drawingml/2006/main">
            <a:r>
              <a:t>REST</a:t>
            </a:r>
          </a:p>
          <a:p xmlns:a="http://schemas.openxmlformats.org/drawingml/2006/main">
            <a:r>
              <a:t>Pedir à la carte</a:t>
            </a:r>
          </a:p>
          <a:p xmlns:a="http://schemas.openxmlformats.org/drawingml/2006/main">
            <a:r>
              <a:t>App ↔ backend: cardápio, pedidos, conta do usuário</a:t>
            </a:r>
          </a:p>
          <a:p xmlns:a="http://schemas.openxmlformats.org/drawingml/2006/main">
            <a:r>
              <a:t>GraphQL</a:t>
            </a:r>
          </a:p>
          <a:p xmlns:a="http://schemas.openxmlformats.org/drawingml/2006/main">
            <a:r>
              <a:t>Montar o prato, dentro do cardápio</a:t>
            </a:r>
          </a:p>
          <a:p xmlns:a="http://schemas.openxmlformats.org/drawingml/2006/main">
            <a:r>
              <a:t>Tela do pedido com itens, loja e entregador numa consulta</a:t>
            </a:r>
          </a:p>
          <a:p xmlns:a="http://schemas.openxmlformats.org/drawingml/2006/main">
            <a:r>
              <a:t>SOAP</a:t>
            </a:r>
          </a:p>
          <a:p xmlns:a="http://schemas.openxmlformats.org/drawingml/2006/main">
            <a:r>
              <a:t>Jantar de gala, contrato assinado</a:t>
            </a:r>
          </a:p>
          <a:p xmlns:a="http://schemas.openxmlformats.org/drawingml/2006/main">
            <a:r>
              <a:t>Emissão de nota fiscal nos web services da SEFAZ</a:t>
            </a:r>
          </a:p>
          <a:p xmlns:a="http://schemas.openxmlformats.org/drawingml/2006/main">
            <a:r>
              <a:t>gRPC</a:t>
            </a:r>
          </a:p>
          <a:p xmlns:a="http://schemas.openxmlformats.org/drawingml/2006/main">
            <a:r>
              <a:t>Códigos curtos entre cozinhas</a:t>
            </a:r>
          </a:p>
          <a:p xmlns:a="http://schemas.openxmlformats.org/drawingml/2006/main">
            <a:r>
              <a:t>Serviço de pedidos ↔ serviço de estoque, internos</a:t>
            </a:r>
          </a:p>
          <a:p xmlns:a="http://schemas.openxmlformats.org/drawingml/2006/main">
            <a:r>
              <a:t>WebSocket</a:t>
            </a:r>
          </a:p>
          <a:p xmlns:a="http://schemas.openxmlformats.org/drawingml/2006/main">
            <a:r>
              <a:t>Linha aberta com o garçom</a:t>
            </a:r>
          </a:p>
          <a:p xmlns:a="http://schemas.openxmlformats.org/drawingml/2006/main">
            <a:r>
              <a:t>Posição do entregador ao vivo no mapa</a:t>
            </a:r>
          </a:p>
          <a:p xmlns:a="http://schemas.openxmlformats.org/drawingml/2006/main">
            <a:r>
              <a:t>Webhook</a:t>
            </a:r>
          </a:p>
          <a:p xmlns:a="http://schemas.openxmlformats.org/drawingml/2006/main">
            <a:r>
              <a:t>A cozinha te liga</a:t>
            </a:r>
          </a:p>
          <a:p xmlns:a="http://schemas.openxmlformats.org/drawingml/2006/main">
            <a:r>
              <a:t>Gateway de pagamento avisa: “pagamento aprovado”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Fotografia: Anna Tarazevich, publicada em 24/02/2021. Fonte: https://www.pexels.com/photo/workers-inside-the-kitchen-of-a-restaurant-6937428/ . Licença: https://www.pexels.com/license/ . Recorte para composição do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gancho do bloco de WebSocket e Webhook. O problema comum: o servidor sabe de algo novo e o cliente não. Polling é perguntar sem parar; WebSocket mantém um canal aberto; webhook inverte a direção da chamada.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Bernie I Am Once Again Asking For Your Support. Fonte: https://i.imgflip.com/3oevdk.jpg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Polling é simples e útil quando a frequência necessária é baixa; não exige REST. WebSocket mantém conexão e exige reconexão/escala. Webhooks evitam perguntas periódicas, mas têm custo de entrega, retentativas e operação do receptor. Não existe uma opção universalmente superior.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Dá para encenar: dois integrantes leem o diálogo, um de cliente e outro de servidor.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Template Two Buttons: https://imgflip.com/memetemplate/Two-Buttons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PAUSA PARA O MEME</a:t>
            </a:r>
          </a:p>
          <a:p xmlns:a="http://schemas.openxmlformats.org/drawingml/2006/main">
            <a:r>
              <a:t>24 / 45</a:t>
            </a:r>
          </a:p>
          <a:p xmlns:a="http://schemas.openxmlformats.org/drawingml/2006/main">
            <a:r>
              <a:t>Polling sem freio: o servidor já está suando</a:t>
            </a:r>
          </a:p>
          <a:p xmlns:a="http://schemas.openxmlformats.org/drawingml/2006/main">
            <a:r>
              <a:t>GET A CADA</a:t>
            </a:r>
          </a:p>
          <a:p xmlns:a="http://schemas.openxmlformats.org/drawingml/2006/main">
            <a:r>
              <a:t>200 MS</a:t>
            </a:r>
          </a:p>
          <a:p xmlns:a="http://schemas.openxmlformats.org/drawingml/2006/main">
            <a:r>
              <a:t>ABRIR UM</a:t>
            </a:r>
          </a:p>
          <a:p xmlns:a="http://schemas.openxmlformats.org/drawingml/2006/main">
            <a:r>
              <a:t>WEBSOCKET</a:t>
            </a:r>
          </a:p>
          <a:p xmlns:a="http://schemas.openxmlformats.org/drawingml/2006/main">
            <a:r>
              <a:t>App: “já tá pronto?”</a:t>
            </a:r>
          </a:p>
          <a:p xmlns:a="http://schemas.openxmlformats.org/drawingml/2006/main">
            <a:r>
              <a:t>Servidor: “não”</a:t>
            </a:r>
          </a:p>
          <a:p xmlns:a="http://schemas.openxmlformats.org/drawingml/2006/main">
            <a:r>
              <a:t>App, 200 ms depois: “e agora?”</a:t>
            </a:r>
          </a:p>
          <a:p xmlns:a="http://schemas.openxmlformats.org/drawingml/2006/main">
            <a:r>
              <a:t>Servidor: “429 Too Many Requests”</a:t>
            </a:r>
          </a:p>
          <a:p xmlns:a="http://schemas.openxmlformats.org/drawingml/2006/main">
            <a:r>
              <a:t>Para atualizações frequentes, um canal aberto evita a eterna viagem de carro. Entre servidores, um webhook também pode avisar.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Template Two Buttons: https://imgflip.com/memetemplate/Two-Buttons . WebSocket não é a única alternativa a polling; SSE pode ser adequado para fluxo unilateral, e webhooks para eventos entre servidores.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WebSocket é definido na RFC 6455. O handshake é uma requisição HTTP comum com Upgrade; o servidor responde 101 Switching Protocols e, a partir daí, a mesma conexão TCP carrega mensagens nos dois sentidos. Piada opcional: é a única vez que o garçom fica na mesa esperando você falar.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Epic Handshake. Fonte: https://i.imgflip.com/28j0te.jpg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Handshake clássico em HTTP/1.1 usa Upgrade e 101 Switching Protocols; em HTTP/2 há mecanismo próprio (RFC 8441), portanto não é universalmente um 101. A aplicação precisa de estratégia de reconexão e distribuição de mensagens; Redis é uma opção, não obrigação. Fontes: https://www.rfc-editor.org/rfc/rfc6455 ; https://www.rfc-editor.org/rfc/rfc8441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Exemplos reais: Stripe e Mercado Pago avisando pagamento, GitHub avisando push (é assim que CI dispara), provedores de nota fiscal avisando emissão. O nome do header de assinatura varia por provedor (Stripe-Signature, X-Hub-Signature-256…). Liga direto com o fluxo da Stripe no bloco 5.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Webhook: a cozinha te liga</a:t>
            </a:r>
          </a:p>
          <a:p xmlns:a="http://schemas.openxmlformats.org/drawingml/2006/main">
            <a:r>
              <a:t>1.</a:t>
            </a:r>
          </a:p>
          <a:p xmlns:a="http://schemas.openxmlformats.org/drawingml/2006/main">
            <a:r>
              <a:t> Você cadastra uma URL no provedor</a:t>
            </a:r>
          </a:p>
          <a:p xmlns:a="http://schemas.openxmlformats.org/drawingml/2006/main">
            <a:r>
              <a:t>2.</a:t>
            </a:r>
          </a:p>
          <a:p xmlns:a="http://schemas.openxmlformats.org/drawingml/2006/main">
            <a:r>
              <a:t> Algo acontece lá (pagamento aprovado)</a:t>
            </a:r>
          </a:p>
          <a:p xmlns:a="http://schemas.openxmlformats.org/drawingml/2006/main">
            <a:r>
              <a:t>3.</a:t>
            </a:r>
          </a:p>
          <a:p xmlns:a="http://schemas.openxmlformats.org/drawingml/2006/main">
            <a:r>
              <a:t> O provedor faz um POST para a sua URL:</a:t>
            </a:r>
          </a:p>
          <a:p xmlns:a="http://schemas.openxmlformats.org/drawingml/2006/main">
            <a:r>
              <a:t>POST</a:t>
            </a:r>
          </a:p>
          <a:p xmlns:a="http://schemas.openxmlformats.org/drawingml/2006/main">
            <a:r>
              <a:t> /webhooks/pagamento HTTP/1.1</a:t>
            </a:r>
          </a:p>
          <a:p xmlns:a="http://schemas.openxmlformats.org/drawingml/2006/main">
            <a:r>
              <a:t>Content-Type: application/json</a:t>
            </a:r>
          </a:p>
          <a:p xmlns:a="http://schemas.openxmlformats.org/drawingml/2006/main">
            <a:r>
              <a:t>X-Signature: sha256=9f86d0…</a:t>
            </a:r>
          </a:p>
          <a:p xmlns:a="http://schemas.openxmlformats.org/drawingml/2006/main">
            <a:r>
              <a:t>{ "id": "evt_123",</a:t>
            </a:r>
          </a:p>
          <a:p xmlns:a="http://schemas.openxmlformats.org/drawingml/2006/main">
            <a:r>
              <a:t>  "tipo": "pagamento.aprovado",</a:t>
            </a:r>
          </a:p>
          <a:p xmlns:a="http://schemas.openxmlformats.org/drawingml/2006/main">
            <a:r>
              <a:t>  "pedido": 981 }</a:t>
            </a:r>
          </a:p>
          <a:p xmlns:a="http://schemas.openxmlformats.org/drawingml/2006/main">
            <a:r>
              <a:t>É uma “API ao contrário”: quem expõe o endpoint é você, quem chama é o provedor.</a:t>
            </a:r>
          </a:p>
          <a:p xmlns:a="http://schemas.openxmlformats.org/drawingml/2006/main">
            <a:r>
              <a:t>Checklist de quem recebe</a:t>
            </a:r>
          </a:p>
          <a:p xmlns:a="http://schemas.openxmlformats.org/drawingml/2006/main">
            <a:r>
              <a:t>Verifique a assinatura</a:t>
            </a:r>
          </a:p>
          <a:p xmlns:a="http://schemas.openxmlformats.org/drawingml/2006/main">
            <a:r>
              <a:t> (HMAC): senão qualquer um liga dizendo que é a cozinha</a:t>
            </a:r>
          </a:p>
          <a:p xmlns:a="http://schemas.openxmlformats.org/drawingml/2006/main">
            <a:r>
              <a:t>Responda 2xx rápido</a:t>
            </a:r>
          </a:p>
          <a:p xmlns:a="http://schemas.openxmlformats.org/drawingml/2006/main">
            <a:r>
              <a:t> e processe depois, numa fila</a:t>
            </a:r>
          </a:p>
          <a:p xmlns:a="http://schemas.openxmlformats.org/drawingml/2006/main">
            <a:r>
              <a:t>Trate duplicatas</a:t>
            </a:r>
          </a:p>
          <a:p xmlns:a="http://schemas.openxmlformats.org/drawingml/2006/main">
            <a:r>
              <a:t> pelo id do evento: o provedor reenvia se falhar</a:t>
            </a:r>
          </a:p>
          <a:p xmlns:a="http://schemas.openxmlformats.org/drawingml/2006/main">
            <a:r>
              <a:t>Não confie na ordem</a:t>
            </a:r>
          </a:p>
          <a:p xmlns:a="http://schemas.openxmlformats.org/drawingml/2006/main">
            <a:r>
              <a:t>: eventos podem chegar trocados</a:t>
            </a:r>
          </a:p>
          <a:p xmlns:a="http://schemas.openxmlformats.org/drawingml/2006/main">
            <a:r>
              <a:t>URL pública e HTTPS</a:t>
            </a:r>
          </a:p>
          <a:p xmlns:a="http://schemas.openxmlformats.org/drawingml/2006/main">
            <a:r>
              <a:t>: localhost não recebe ligação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Waiting Skeleton. Fonte: https://i.imgflip.com/2fm6x.jpg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provedores como Stripe, verifique a assinatura sobre o payload original; responda rapidamente e processe de forma resiliente. Deduplicate eventos, não dependa da ordem e confira a política de retentativas do provedor. Assinatura é específica do contrato, não um header universal X-Signature. https://docs.stripe.com/webhooks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 boa para a turma: o app de delivery precisa saber que o pagamento foi aprovado e mostrar isso na tela do cliente. Resposta: a Stripe avisa o backend por webhook, e o backend avisa o app por WebSocket. Os dois juntos, cada um no seu trecho.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WebSocket × Webhook: só o nome é parecido</a:t>
            </a:r>
          </a:p>
          <a:p xmlns:a="http://schemas.openxmlformats.org/drawingml/2006/main">
            <a:r>
              <a:t>Critério</a:t>
            </a:r>
          </a:p>
          <a:p xmlns:a="http://schemas.openxmlformats.org/drawingml/2006/main">
            <a:r>
              <a:t>WebSocket</a:t>
            </a:r>
          </a:p>
          <a:p xmlns:a="http://schemas.openxmlformats.org/drawingml/2006/main">
            <a:r>
              <a:t>Webhook</a:t>
            </a:r>
          </a:p>
          <a:p xmlns:a="http://schemas.openxmlformats.org/drawingml/2006/main">
            <a:r>
              <a:t>O que é</a:t>
            </a:r>
          </a:p>
          <a:p xmlns:a="http://schemas.openxmlformats.org/drawingml/2006/main">
            <a:r>
              <a:t>Protocolo de comunicação (RFC 6455)</a:t>
            </a:r>
          </a:p>
          <a:p xmlns:a="http://schemas.openxmlformats.org/drawingml/2006/main">
            <a:r>
              <a:t>Padrão de entrega de eventos via HTTP</a:t>
            </a:r>
          </a:p>
          <a:p xmlns:a="http://schemas.openxmlformats.org/drawingml/2006/main">
            <a:r>
              <a:t>Conexão</a:t>
            </a:r>
          </a:p>
          <a:p xmlns:a="http://schemas.openxmlformats.org/drawingml/2006/main">
            <a:r>
              <a:t>Uma só, aberta o tempo todo</a:t>
            </a:r>
          </a:p>
          <a:p xmlns:a="http://schemas.openxmlformats.org/drawingml/2006/main">
            <a:r>
              <a:t>Nenhuma fica aberta: um POST por evento</a:t>
            </a:r>
          </a:p>
          <a:p xmlns:a="http://schemas.openxmlformats.org/drawingml/2006/main">
            <a:r>
              <a:t>Direção</a:t>
            </a:r>
          </a:p>
          <a:p xmlns:a="http://schemas.openxmlformats.org/drawingml/2006/main">
            <a:r>
              <a:t>Nos dois sentidos (full-duplex)</a:t>
            </a:r>
          </a:p>
          <a:p xmlns:a="http://schemas.openxmlformats.org/drawingml/2006/main">
            <a:r>
              <a:t>Mão única: provedor → você</a:t>
            </a:r>
          </a:p>
          <a:p xmlns:a="http://schemas.openxmlformats.org/drawingml/2006/main">
            <a:r>
              <a:t>Entre quem</a:t>
            </a:r>
          </a:p>
          <a:p xmlns:a="http://schemas.openxmlformats.org/drawingml/2006/main">
            <a:r>
              <a:t>Em geral navegador/app ↔ servidor</a:t>
            </a:r>
          </a:p>
          <a:p xmlns:a="http://schemas.openxmlformats.org/drawingml/2006/main">
            <a:r>
              <a:t>Em geral servidor ↔ servidor</a:t>
            </a:r>
          </a:p>
          <a:p xmlns:a="http://schemas.openxmlformats.org/drawingml/2006/main">
            <a:r>
              <a:t>Se cair</a:t>
            </a:r>
          </a:p>
          <a:p xmlns:a="http://schemas.openxmlformats.org/drawingml/2006/main">
            <a:r>
              <a:t>O cliente reconecta</a:t>
            </a:r>
          </a:p>
          <a:p xmlns:a="http://schemas.openxmlformats.org/drawingml/2006/main">
            <a:r>
              <a:t>O provedor tenta de novo (retry)</a:t>
            </a:r>
          </a:p>
          <a:p xmlns:a="http://schemas.openxmlformats.org/drawingml/2006/main">
            <a:r>
              <a:t>Exemplos</a:t>
            </a:r>
          </a:p>
          <a:p xmlns:a="http://schemas.openxmlformats.org/drawingml/2006/main">
            <a:r>
              <a:t>Chat, mapa ao vivo, jogos</a:t>
            </a:r>
          </a:p>
          <a:p xmlns:a="http://schemas.openxmlformats.org/drawingml/2006/main">
            <a:r>
              <a:t>Pagamento aprovado, push no GitHub</a:t>
            </a:r>
          </a:p>
          <a:p xmlns:a="http://schemas.openxmlformats.org/drawingml/2006/main">
            <a:r>
              <a:t>No restaurante</a:t>
            </a:r>
          </a:p>
          <a:p xmlns:a="http://schemas.openxmlformats.org/drawingml/2006/main">
            <a:r>
              <a:t>Linha aberta com o garçom</a:t>
            </a:r>
          </a:p>
          <a:p xmlns:a="http://schemas.openxmlformats.org/drawingml/2006/main">
            <a:r>
              <a:t>A cozinha liga quando fica pronto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REST e GraphQL em foco</a:t>
            </a:r>
          </a:p>
          <a:p xmlns:a="http://schemas.openxmlformats.org/drawingml/2006/main">
            <a:r>
              <a:t>A treta mais antiga do backend moderno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Star Wars Yoda. Fonte: https://i.imgflip.com/8k0sa.jpg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capítulo 5 da tese de doutorado de Roy Fielding (UC Irvine, 2000). A versão REST do exemplo da direita seria GET /usuarios/42.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Change My Mind. Fonte: https://i.imgflip.com/24y43o.jpg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REST foi definido por Roy Fielding em 2000. As restrições são cliente-servidor, stateless, cache, interface uniforme, sistema em camadas e código sob demanda opcional. A interface uniforme inclui identificação de recursos, manipulação por representações, mensagens autodescritivas e hipermídia. Um URI ou um exemplo isolado não comprova a conformidade nem a ausência de cache. Fonte: https://ics.uci.edu/~fielding/pubs/dissertation/rest_arch_style.htm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Sugestão de figura: um print da mesma chamada no Postman ou Insomnia (gratuitos), mostrando método, URL, headers e o JSON. Leva cinco minutos.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Roll Safe Think About It. Fonte: https://i.imgflip.com/1h7in3.jpg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com linhas selecionadas. Stateless não proíbe dados persistentes no servidor; significa que compreender a requisição não exige contexto de sessão guardado de chamadas anteriores. Cache-Control private limita o cache a um usuário, apropriado ao exemplo autenticado; as regras de cache dependem do contrato e da sensibilidade dos dados. Fonte: https://www.rfc-editor.org/rfc/rfc9111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cliente não "decide tudo": ele escolhe dentro do que o servidor definiu. E a query única que economiza chamadas no cliente pode sair cara no servidor.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Distracted Boyfriend. Fonte: https://i.imgflip.com/1ur9b0.jpg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GraphQL permite selecionar campos do schema publicado; autorização precisa ser implementada. Pode reduzir over-fetching e viagens de rede, mas não garante uma chamada por tela nem elimina custo no banco. Atenção a N+1, batching e limites de complexidade. REST também pode oferecer seleção de campos e agregação. Fontes: https://graphql.org/learn/queries/ ; https://graphql.org/learn/security/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pedido GraphQL não é "de graça": o servidor executa resolvers para usuário, pedidos e endereço. A economia de idas e voltas acontece do lado do cliente.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Comparação de tendências, não regras absolutas. REST não exige versão em URL e pode retornar agregações; GraphQL pode ter múltiplas consultas, caches e versões. GraphQL sobre HTTP pode usar GET para consultas. Fontes: https://graphql.org/learn/serving-over-http/ ; https://ics.uci.edu/~fielding/pubs/dissertation/rest_arch_style.htm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Engenharia do contrato</a:t>
            </a:r>
          </a:p>
          <a:p xmlns:a="http://schemas.openxmlformats.org/drawingml/2006/main">
            <a:r>
              <a:t>A parte que separa uma API de um “na minha máquina funciona”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One Does Not Simply. Fonte: https://i.imgflip.com/1bij.jpg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É o cardápio num formato que máquinas leem. Mostrar que o trecho tem tudo do slide "o contrato define": operação, parâmetro, schema, autenticação e erro. O schema Pedido fica em components (omitido por espaço).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O contrato executável: OpenAPI</a:t>
            </a:r>
          </a:p>
          <a:p xmlns:a="http://schemas.openxmlformats.org/drawingml/2006/main">
            <a:r>
              <a:t>openapi:</a:t>
            </a:r>
          </a:p>
          <a:p xmlns:a="http://schemas.openxmlformats.org/drawingml/2006/main">
            <a:r>
              <a:t> 3.1.0</a:t>
            </a:r>
          </a:p>
          <a:p xmlns:a="http://schemas.openxmlformats.org/drawingml/2006/main">
            <a:r>
              <a:t>info:</a:t>
            </a:r>
          </a:p>
          <a:p xmlns:a="http://schemas.openxmlformats.org/drawingml/2006/main">
            <a:r>
              <a:t> { title: API do Restaurante, version: 1.2.0 }</a:t>
            </a:r>
          </a:p>
          <a:p xmlns:a="http://schemas.openxmlformats.org/drawingml/2006/main">
            <a:r>
              <a:t>paths:</a:t>
            </a:r>
          </a:p>
          <a:p xmlns:a="http://schemas.openxmlformats.org/drawingml/2006/main">
            <a:r>
              <a:t>  </a:t>
            </a:r>
          </a:p>
          <a:p xmlns:a="http://schemas.openxmlformats.org/drawingml/2006/main">
            <a:r>
              <a:t>/pedidos/{id}:</a:t>
            </a:r>
          </a:p>
          <a:p xmlns:a="http://schemas.openxmlformats.org/drawingml/2006/main">
            <a:r>
              <a:t>    </a:t>
            </a:r>
          </a:p>
          <a:p xmlns:a="http://schemas.openxmlformats.org/drawingml/2006/main">
            <a:r>
              <a:t>get:</a:t>
            </a:r>
          </a:p>
          <a:p xmlns:a="http://schemas.openxmlformats.org/drawingml/2006/main">
            <a:r>
              <a:t>      security: [ { bearerAuth: [] } ]</a:t>
            </a:r>
          </a:p>
          <a:p xmlns:a="http://schemas.openxmlformats.org/drawingml/2006/main">
            <a:r>
              <a:t>      parameters:</a:t>
            </a:r>
          </a:p>
          <a:p xmlns:a="http://schemas.openxmlformats.org/drawingml/2006/main">
            <a:r>
              <a:t>        - name: id</a:t>
            </a:r>
          </a:p>
          <a:p xmlns:a="http://schemas.openxmlformats.org/drawingml/2006/main">
            <a:r>
              <a:t>          in: path</a:t>
            </a:r>
          </a:p>
          <a:p xmlns:a="http://schemas.openxmlformats.org/drawingml/2006/main">
            <a:r>
              <a:t>          required: true</a:t>
            </a:r>
          </a:p>
          <a:p xmlns:a="http://schemas.openxmlformats.org/drawingml/2006/main">
            <a:r>
              <a:t>          schema: { type: integer }</a:t>
            </a:r>
          </a:p>
          <a:p xmlns:a="http://schemas.openxmlformats.org/drawingml/2006/main">
            <a:r>
              <a:t>      responses:</a:t>
            </a:r>
          </a:p>
          <a:p xmlns:a="http://schemas.openxmlformats.org/drawingml/2006/main">
            <a:r>
              <a:t>        </a:t>
            </a:r>
          </a:p>
          <a:p xmlns:a="http://schemas.openxmlformats.org/drawingml/2006/main">
            <a:r>
              <a:t>"200":</a:t>
            </a:r>
          </a:p>
          <a:p xmlns:a="http://schemas.openxmlformats.org/drawingml/2006/main">
            <a:r>
              <a:t>          description: Pedido encontrado</a:t>
            </a:r>
          </a:p>
          <a:p xmlns:a="http://schemas.openxmlformats.org/drawingml/2006/main">
            <a:r>
              <a:t>          content:</a:t>
            </a:r>
          </a:p>
          <a:p xmlns:a="http://schemas.openxmlformats.org/drawingml/2006/main">
            <a:r>
              <a:t>            application/json:</a:t>
            </a:r>
          </a:p>
          <a:p xmlns:a="http://schemas.openxmlformats.org/drawingml/2006/main">
            <a:r>
              <a:t>              schema: { $ref: "#/components/schemas/Pedido" }</a:t>
            </a:r>
          </a:p>
          <a:p xmlns:a="http://schemas.openxmlformats.org/drawingml/2006/main">
            <a:r>
              <a:t>        </a:t>
            </a:r>
          </a:p>
          <a:p xmlns:a="http://schemas.openxmlformats.org/drawingml/2006/main">
            <a:r>
              <a:t>"404":</a:t>
            </a:r>
          </a:p>
          <a:p xmlns:a="http://schemas.openxmlformats.org/drawingml/2006/main">
            <a:r>
              <a:t> { description: Pedido não encontrado }</a:t>
            </a:r>
          </a:p>
          <a:p xmlns:a="http://schemas.openxmlformats.org/drawingml/2006/main">
            <a:r>
              <a:t>Um arquivo, quatro usos</a:t>
            </a:r>
          </a:p>
          <a:p xmlns:a="http://schemas.openxmlformats.org/drawingml/2006/main">
            <a:r>
              <a:t>Documentação</a:t>
            </a:r>
          </a:p>
          <a:p xmlns:a="http://schemas.openxmlformats.org/drawingml/2006/main">
            <a:r>
              <a:t>Swagger UI gera a página navegável</a:t>
            </a:r>
          </a:p>
          <a:p xmlns:a="http://schemas.openxmlformats.org/drawingml/2006/main">
            <a:r>
              <a:t>Clientes gerados</a:t>
            </a:r>
          </a:p>
          <a:p xmlns:a="http://schemas.openxmlformats.org/drawingml/2006/main">
            <a:r>
              <a:t>SDKs em Java, TypeScript, Python…</a:t>
            </a:r>
          </a:p>
          <a:p xmlns:a="http://schemas.openxmlformats.org/drawingml/2006/main">
            <a:r>
              <a:t>Mocks</a:t>
            </a:r>
          </a:p>
          <a:p xmlns:a="http://schemas.openxmlformats.org/drawingml/2006/main">
            <a:r>
              <a:t>O front trabalha antes do back existir</a:t>
            </a:r>
          </a:p>
          <a:p xmlns:a="http://schemas.openxmlformats.org/drawingml/2006/main">
            <a:r>
              <a:t>Testes de contrato</a:t>
            </a:r>
          </a:p>
          <a:p xmlns:a="http://schemas.openxmlformats.org/drawingml/2006/main">
            <a:r>
              <a:t>O CI falha se o código divergir</a:t>
            </a:r>
          </a:p>
          <a:p xmlns:a="http://schemas.openxmlformats.org/drawingml/2006/main">
            <a:r>
              <a:t>No Spring, o springdoc-openapi gera o arquivo a partir do código (code-first); ou o arquivo vem antes (contract-first).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Captura real do Swagger UI Petstore obtida em 25/09/2026: https://petstore3.swagger.io/ . OpenAPI descreve APIs HTTP; geração de documentação, SDKs, mocks e testes depende das ferramentas e da configuração. A especificação por si só não faz o CI falhar. https://spec.openapis.org/oas/latest.html ; https://swagger.io/tools/swagger-ui/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imagem é uma captura real do Swagger UI da API de exemplo Petstore: https://petstore3.swagger.io/ . Cada faixa identifica uma operação pelo método HTTP e caminho; ao expandir, a interface mostra parâmetros e respostas. Swagger UI é a documentação interativa construída a partir do contrato OpenAPI.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Contrato didático proposto para a API fictícia do restaurante. Os códigos indicados são escolhas desse contrato, não uma regra universal para toda API. HTTP 401 exige WWW-Authenticate adequado; 403 indica que a solicitação foi entendida, mas recusada. 400 inclui JSON malformado; 422 é usado aqui para falhas semânticas de validação. Fontes: https://www.rfc-editor.org/rfc/rfc9110 ; https://spec.openapis.org/oas/v3.1.0.html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Schema proposto para o exemplo do restaurante. A aplicação deve validar tipos e limites e implementar a quantidade padrão 1; a palavra default no JSON Schema é uma anotação e não preenche automaticamente o valor. Validação estrutural não substitui as regras de negócio (por exemplo, estoque). Fonte: https://spec.openapis.org/oas/v3.1.0.html ; https://json-schema.org/understanding-json-schema/reference/annotations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200 com erro no corpo engana monitoramento, cache, retries e qualquer cliente que confia no status. O contrato promete 404; entreguem 404.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Hide the Pain Harold. Fonte: https://i.imgflip.com/gk5el.jpg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Neste exemplo de API HTTP, devolver 200 para recurso inexistente contraria o contrato documentado e prejudica observabilidade e clientes. A escolha de status deve refletir a semântica e o protocolo: há sistemas que usam respostas de aplicação ou erros parciais com HTTP 200. Fonte: https://www.rfc-editor.org/rfc/rfc9110#section-15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API pública não pode mudar arbitrariamente: do outro lado há código que você não controla. Sunset é a RFC 8594; Deprecation, a RFC 9745.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Gru's Plan. Fonte: https://i.imgflip.com/26jxvz.jpg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Remover campos, alterar tipos e tornar entradas obrigatórias pode quebrar clientes. Adições costumam ser compatíveis quando clientes toleram campos desconhecidos; não existe garantia universal. Planeje migração e depreciação. Fontes: https://www.rfc-editor.org/rfc/rfc9745 (Deprecation); https://www.rfc-editor.org/rfc/rfc8594 (Sunset).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 com o slide anterior: renomear um campo quebra todo cliente que lia o nome antigo. O certo seria adicionar userName, manter nomeUsuario como depreciado e remover só na próxima versão.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 do meme This Is Fine, de K.C. Green, via https://imgflip.com/meme/This-Is-Fine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PAUSA PARA O MEME</a:t>
            </a:r>
          </a:p>
          <a:p xmlns:a="http://schemas.openxmlformats.org/drawingml/2006/main">
            <a:r>
              <a:t>37 / 45</a:t>
            </a:r>
          </a:p>
          <a:p xmlns:a="http://schemas.openxmlformats.org/drawingml/2006/main">
            <a:r>
              <a:t>Sexta-feira, 18h03: “só renomeei um campo”</a:t>
            </a:r>
          </a:p>
          <a:p xmlns:a="http://schemas.openxmlformats.org/drawingml/2006/main">
            <a:r>
              <a:t>Backend:</a:t>
            </a:r>
          </a:p>
          <a:p xmlns:a="http://schemas.openxmlformats.org/drawingml/2006/main">
            <a:r>
              <a:t>nomeUsuario</a:t>
            </a:r>
          </a:p>
          <a:p xmlns:a="http://schemas.openxmlformats.org/drawingml/2006/main">
            <a:r>
              <a:t>→ userName</a:t>
            </a:r>
          </a:p>
          <a:p xmlns:a="http://schemas.openxmlformats.org/drawingml/2006/main">
            <a:r>
              <a:t>App às 18h04:</a:t>
            </a:r>
          </a:p>
          <a:p xmlns:a="http://schemas.openxmlformats.org/drawingml/2006/main">
            <a:r>
              <a:t>TypeError</a:t>
            </a:r>
          </a:p>
          <a:p xmlns:a="http://schemas.openxmlformats.org/drawingml/2006/main">
            <a:r>
              <a:t>Breaking change sem aviso: o incêndio é no app de todo mundo. Versionem e avisem 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Meme This Is Fine, K.C. Green, via https://imgflip.com/meme/This-Is-Fine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OWASP API Security Top 10 (2023): API1 é Broken Object Level Authorization (BOLA), API2 é falha de autenticação, API4 é consumo de recursos sem limites. Backoff: esperar cada vez mais entre tentativas; a aleatoriedade (jitter) evita que todos os clientes tentem ao mesmo tempo.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Batman Slapping Robin. Fonte: https://i.imgflip.com/9ehk.jpg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Autenticação identifica; autorização decide acesso, inclusive ao objeto solicitado. Use TLS, valide entradas e aplique rate limiting. Timeouts e retries exigem backoff, jitter e limites. Idempotency-Key só funciona quando o provedor implementa essa semântica; incluir o header sozinho não evita duplicatas. Fontes: https://owasp.org/API-Security/editions/2023/en/0xa1-broken-object-level-authorization/ ; https://docs.stripe.com/api/idempotent_requests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BOLA = Broken Object Level Authorization. O usuário está autenticado (tem token válido), mas a API esquece de verificar se o recurso 43 é dele. No Spring, isso vira uma checagem explícita no service, não só no filtro de autenticação.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Monkey Puppet. Fonte: https://i.imgflip.com/2gnnjh.jpg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BOLA é Broken Object Level Authorization, API1 no OWASP API Security Top 10 de 2023. O controle não é apenas comparar propriedade: deve respeitar o modelo de autorização, incluindo compartilhamentos, papéis e regras de negócio. Fonte: https://owasp.org/API-Security/editions/2023/en/0xa1-broken-object-level-authorization/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Passo 2: se a rede cair e o backend repetir a chamada com a mesma Idempotency-Key, a Stripe devolve o mesmo resultado em vez de criar outro pagamento. Passo 5: o pagamento pode terminar depois (3-D Secure, Pix, boleto), por isso o resultado chega por webhook. O backend confere o header Stripe-Signature antes de confiar no evento e responde 2xx para a Stripe não reenviar. A versão da API é fixada por data, via header Stripe-Version. Ou seja: contrato, idempotência, eventos e segurança num fluxo só.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Fluxo simplificado de Payment Intents: backend cria o PaymentIntent com idempotência, retorna client_secret ao cliente, cliente confirma usando Stripe.js e o backend processa payment_intent.succeeded recebido em webhook verificado. Métodos assíncronos podem terminar depois; não confiar apenas no redirecionamento do navegador. Não registrar nem expor indevidamente client_secret. Fontes: https://docs.stripe.com/payments/payment-intents ; https://docs.stripe.com/webhooks ; https://docs.stripe.com/api/idempotent_requests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opcional: se o tempo apertar, pulem e deixem o tema para as perguntas.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Charlie Conspiracy (Always Sunny in Philidelphia). Fonte: https://i.imgflip.com/1itoun.jpg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 é uma interface, não uma arquitetura obrigatória. Gateways podem centralizar roteamento e políticas, mas serviços ainda precisam proteger os próprios recursos. BFF é backend específico para necessidades de um frontend. Eventos podem desacoplar produtores e consumidores; filas absorvem picos quando corretamente configuradas, webhooks sozinhos não garantem isso.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 o bloco de arquitetura com humor. Microsserviços resolvem problemas de escala de equipe e de deploy; não são o jeito "certo" de ter uma API.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PAUSA PARA O MEME</a:t>
            </a:r>
          </a:p>
          <a:p xmlns:a="http://schemas.openxmlformats.org/drawingml/2006/main">
            <a:r>
              <a:t>Microsserviços: expectativa × realidade</a:t>
            </a:r>
          </a:p>
          <a:p xmlns:a="http://schemas.openxmlformats.org/drawingml/2006/main">
            <a:r>
              <a:t>Expectativa</a:t>
            </a:r>
          </a:p>
          <a:p xmlns:a="http://schemas.openxmlformats.org/drawingml/2006/main">
            <a:r>
              <a:t>“Vamos quebrar o monólito em microsserviços e tudo vai ficar simples!”</a:t>
            </a:r>
          </a:p>
          <a:p xmlns:a="http://schemas.openxmlformats.org/drawingml/2006/main">
            <a:r>
              <a:t>Realidade, seis meses depois</a:t>
            </a:r>
          </a:p>
          <a:p xmlns:a="http://schemas.openxmlformats.org/drawingml/2006/main">
            <a:r>
              <a:t>47 serviços, 3 gateways, 12 filas, e ninguém sabe quem chama quem.</a:t>
            </a:r>
          </a:p>
          <a:p xmlns:a="http://schemas.openxmlformats.org/drawingml/2006/main">
            <a:r>
              <a:t>Moral: API não implica microsserviços. Um monólito bem feito também expõe uma ótima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Oprah You Get A. Fonte: https://i.imgflip.com/gtj5t.jpg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Fechamento</a:t>
            </a:r>
          </a:p>
          <a:p xmlns:a="http://schemas.openxmlformats.org/drawingml/2006/main">
            <a:r>
              <a:t>“Uma API é o contrato que um sistema expõe para que outro peça o que precisa sem entrar na cozinha. </a:t>
            </a:r>
          </a:p>
          <a:p xmlns:a="http://schemas.openxmlformats.org/drawingml/2006/main">
            <a:r>
              <a:t>REST, SOAP, gRPC e GraphQL definem formas de expor APIs. WebSocket e webhooks ajudam na troca de mensagens.</a:t>
            </a:r>
          </a:p>
          <a:p xmlns:a="http://schemas.openxmlformats.org/drawingml/2006/main">
            <a:r>
              <a:t> E um bom contrato é documentado, evolui sem quebrar ninguém, é seguro e aguenta falhas.”</a:t>
            </a:r>
          </a:p>
          <a:p xmlns:a="http://schemas.openxmlformats.org/drawingml/2006/main">
            <a:r>
              <a:t>Moral da história: nunca entre na cozinha dos outros.</a:t>
            </a:r>
          </a:p>
          <a:p xmlns:a="http://schemas.openxmlformats.org/drawingml/2006/main">
            <a:r>
              <a:t>A seguir: atividade desplugada para colocar tudo isso em prática.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Apoio à apresentação (conteúdo de referência):</a:t>
            </a:r>
          </a:p>
          <a:p xmlns:a="http://schemas.openxmlformats.org/drawingml/2006/main">
            <a:r>
              <a:t>Atividade desplugada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Imagem: X, X Everywhere. Fonte: https://i.imgflip.com/1ihzfe.jpg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Retomar os mesmos papéis da atividade inicial. Propor um pedido válido, um prato inexistente e uma requisição duplicada. Pedir ao grupo que identifique contrato, entrada, resposta, status e tratamento de falhas.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Introdução baseada no PDF bingo-das-apis_3.pdf. Foram incluídos somente o título e a chamada inicial da atividade, sem as cartelas e sem o restante do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d0a391e074b2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a482f91bc2448b" /><Relationship Type="http://schemas.openxmlformats.org/officeDocument/2006/relationships/slideLayout" Target="/ppt/slideLayouts/slideLayout1.xml" Id="Rb5a534489ecc488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534489ecc488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ed3a6414e48bc" /><Relationship Type="http://schemas.openxmlformats.org/officeDocument/2006/relationships/notesSlide" Target="/ppt/notesSlides/notesSlide1.xml" Id="Rbacf1ee4b8d44b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6f45cf4b44563" /><Relationship Type="http://schemas.openxmlformats.org/officeDocument/2006/relationships/notesSlide" Target="/ppt/notesSlides/notesSlide2.xml" Id="Race0cb7df7004b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a7a64420348cb" /><Relationship Type="http://schemas.openxmlformats.org/officeDocument/2006/relationships/image" Target="/ppt/media/image.jpeg" Id="Rfae4c22d2fbb452f" /><Relationship Type="http://schemas.openxmlformats.org/officeDocument/2006/relationships/notesSlide" Target="/ppt/notesSlides/notesSlide3.xml" Id="R3e9854c34f8e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f234fa4f84a02" /><Relationship Type="http://schemas.openxmlformats.org/officeDocument/2006/relationships/notesSlide" Target="/ppt/notesSlides/notesSlide4.xml" Id="Recba44dd881f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bcbe0713d4df0" /><Relationship Type="http://schemas.openxmlformats.org/officeDocument/2006/relationships/notesSlide" Target="/ppt/notesSlides/notesSlide5.xml" Id="R97ba705b1c3d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bb2167f744a86" /><Relationship Type="http://schemas.openxmlformats.org/officeDocument/2006/relationships/notesSlide" Target="/ppt/notesSlides/notesSlide6.xml" Id="Rdaf523a19e5e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45918e1024ad4" /><Relationship Type="http://schemas.openxmlformats.org/officeDocument/2006/relationships/image" Target="/ppt/media/image2.jpeg" Id="R88b7508e986a4721" /><Relationship Type="http://schemas.openxmlformats.org/officeDocument/2006/relationships/notesSlide" Target="/ppt/notesSlides/notesSlide7.xml" Id="Rb2c08e7a4ac44c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66cb2f6e9423d" /><Relationship Type="http://schemas.openxmlformats.org/officeDocument/2006/relationships/image" Target="/ppt/media/image3.jpeg" Id="R28980e25693d473f" /><Relationship Type="http://schemas.openxmlformats.org/officeDocument/2006/relationships/notesSlide" Target="/ppt/notesSlides/notesSlide8.xml" Id="R30024c0d06e949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aae6c0e3d4453" /><Relationship Type="http://schemas.openxmlformats.org/officeDocument/2006/relationships/notesSlide" Target="/ppt/notesSlides/notesSlide9.xml" Id="R7cff199464fc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f4292a65d4c20" /><Relationship Type="http://schemas.openxmlformats.org/officeDocument/2006/relationships/notesSlide" Target="/ppt/notesSlides/notesSlide10.xml" Id="R5b44521acb5e48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227fdbd22489b" /><Relationship Type="http://schemas.openxmlformats.org/officeDocument/2006/relationships/notesSlide" Target="/ppt/notesSlides/notesSlide11.xml" Id="Rbab0c47e928a4d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ffe7ec20846f2" /><Relationship Type="http://schemas.openxmlformats.org/officeDocument/2006/relationships/image" Target="/ppt/media/image4.jpeg" Id="R63be141a79124b13" /><Relationship Type="http://schemas.openxmlformats.org/officeDocument/2006/relationships/notesSlide" Target="/ppt/notesSlides/notesSlide12.xml" Id="R3d59df41d32548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d9ab439e9446f" /><Relationship Type="http://schemas.openxmlformats.org/officeDocument/2006/relationships/notesSlide" Target="/ppt/notesSlides/notesSlide13.xml" Id="Rf533477912c94d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c25b2f7dd4dfc" /><Relationship Type="http://schemas.openxmlformats.org/officeDocument/2006/relationships/image" Target="/ppt/media/image5.jpeg" Id="R9945a9e6fbe049f0" /><Relationship Type="http://schemas.openxmlformats.org/officeDocument/2006/relationships/notesSlide" Target="/ppt/notesSlides/notesSlide14.xml" Id="R08d914b6d2a048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3f32c4ed46fa" /><Relationship Type="http://schemas.openxmlformats.org/officeDocument/2006/relationships/notesSlide" Target="/ppt/notesSlides/notesSlide15.xml" Id="R69bd4309d8154a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ae84ddec341ac" /><Relationship Type="http://schemas.openxmlformats.org/officeDocument/2006/relationships/notesSlide" Target="/ppt/notesSlides/notesSlide16.xml" Id="R0e7408013fcf48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af15bea8740fa" /><Relationship Type="http://schemas.openxmlformats.org/officeDocument/2006/relationships/notesSlide" Target="/ppt/notesSlides/notesSlide17.xml" Id="R0d47fac24cc949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d0b111c144d5" /><Relationship Type="http://schemas.openxmlformats.org/officeDocument/2006/relationships/image" Target="/ppt/media/image.png" Id="Rbb0402adb9d146ae" /><Relationship Type="http://schemas.openxmlformats.org/officeDocument/2006/relationships/notesSlide" Target="/ppt/notesSlides/notesSlide18.xml" Id="Rdda0ae4cdd914d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484db6f484d49" /><Relationship Type="http://schemas.openxmlformats.org/officeDocument/2006/relationships/notesSlide" Target="/ppt/notesSlides/notesSlide19.xml" Id="R44422a6127574c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28c8b9d9f496b" /><Relationship Type="http://schemas.openxmlformats.org/officeDocument/2006/relationships/image" Target="/ppt/media/image6.jpeg" Id="R8fd328fc679a4f79" /><Relationship Type="http://schemas.openxmlformats.org/officeDocument/2006/relationships/notesSlide" Target="/ppt/notesSlides/notesSlide20.xml" Id="R2aebe97cb5b64c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4a471776644c9" /><Relationship Type="http://schemas.openxmlformats.org/officeDocument/2006/relationships/image" Target="/ppt/media/image7.jpeg" Id="R719302092511499c" /><Relationship Type="http://schemas.openxmlformats.org/officeDocument/2006/relationships/notesSlide" Target="/ppt/notesSlides/notesSlide21.xml" Id="R479b543187fa46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eb80bcf444fe2" /><Relationship Type="http://schemas.openxmlformats.org/officeDocument/2006/relationships/notesSlide" Target="/ppt/notesSlides/notesSlide22.xml" Id="Rd65fe8cd523547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4e136ad294eac" /><Relationship Type="http://schemas.openxmlformats.org/officeDocument/2006/relationships/notesSlide" Target="/ppt/notesSlides/notesSlide23.xml" Id="Rb7eba8a069f643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a92e6bccc4a66" /><Relationship Type="http://schemas.openxmlformats.org/officeDocument/2006/relationships/image" Target="/ppt/media/image8.jpeg" Id="Rb8533de9abca4e38" /><Relationship Type="http://schemas.openxmlformats.org/officeDocument/2006/relationships/notesSlide" Target="/ppt/notesSlides/notesSlide24.xml" Id="R1e5c518840554f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d57fbb5844d93" /><Relationship Type="http://schemas.openxmlformats.org/officeDocument/2006/relationships/image" Target="/ppt/media/image9.jpeg" Id="R41ff88799a034c8e" /><Relationship Type="http://schemas.openxmlformats.org/officeDocument/2006/relationships/image" Target="/ppt/media/image10.jpeg" Id="R4f8d04e4d97e48fb" /><Relationship Type="http://schemas.openxmlformats.org/officeDocument/2006/relationships/image" Target="/ppt/media/image11.jpeg" Id="Rd6c0f789ddaa4be5" /><Relationship Type="http://schemas.openxmlformats.org/officeDocument/2006/relationships/notesSlide" Target="/ppt/notesSlides/notesSlide25.xml" Id="Raa81921a4f6f4c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eee08a953425b" /><Relationship Type="http://schemas.openxmlformats.org/officeDocument/2006/relationships/image" Target="/ppt/media/image12.jpeg" Id="Refd66e8878ca4802" /><Relationship Type="http://schemas.openxmlformats.org/officeDocument/2006/relationships/notesSlide" Target="/ppt/notesSlides/notesSlide26.xml" Id="Rfeb388e0fda446a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625beb8fe4b73" /><Relationship Type="http://schemas.openxmlformats.org/officeDocument/2006/relationships/notesSlide" Target="/ppt/notesSlides/notesSlide27.xml" Id="R33c185e7ada54d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1822fe99d400a" /><Relationship Type="http://schemas.openxmlformats.org/officeDocument/2006/relationships/notesSlide" Target="/ppt/notesSlides/notesSlide28.xml" Id="Rb2d757a3a06245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ac6d918eb4e7e" /><Relationship Type="http://schemas.openxmlformats.org/officeDocument/2006/relationships/image" Target="/ppt/media/image2.png" Id="R685a47ce3f144f4c" /><Relationship Type="http://schemas.openxmlformats.org/officeDocument/2006/relationships/notesSlide" Target="/ppt/notesSlides/notesSlide29.xml" Id="R6637c483c18740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afcd9bc6f47fc" /><Relationship Type="http://schemas.openxmlformats.org/officeDocument/2006/relationships/image" Target="/ppt/media/image13.jpeg" Id="Rbff510426b464ef9" /><Relationship Type="http://schemas.openxmlformats.org/officeDocument/2006/relationships/notesSlide" Target="/ppt/notesSlides/notesSlide30.xml" Id="R566dda08ae5f477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2948157c34fa7" /><Relationship Type="http://schemas.openxmlformats.org/officeDocument/2006/relationships/image" Target="/ppt/media/image3.png" Id="Rb6d7449fd5474ab3" /><Relationship Type="http://schemas.openxmlformats.org/officeDocument/2006/relationships/notesSlide" Target="/ppt/notesSlides/notesSlide31.xml" Id="R3e35af9968344a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58fe2593d4630" /><Relationship Type="http://schemas.openxmlformats.org/officeDocument/2006/relationships/image" Target="/ppt/media/image14.jpeg" Id="Ra2cbbaab68c24acc" /><Relationship Type="http://schemas.openxmlformats.org/officeDocument/2006/relationships/notesSlide" Target="/ppt/notesSlides/notesSlide32.xml" Id="R10b71cabb0724e2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14fd6f176478f" /><Relationship Type="http://schemas.openxmlformats.org/officeDocument/2006/relationships/image" Target="/ppt/media/image15.jpeg" Id="Rb88b136897e7405a" /><Relationship Type="http://schemas.openxmlformats.org/officeDocument/2006/relationships/notesSlide" Target="/ppt/notesSlides/notesSlide33.xml" Id="R16fa74e7b5b3448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28e79b94a48fb" /><Relationship Type="http://schemas.openxmlformats.org/officeDocument/2006/relationships/notesSlide" Target="/ppt/notesSlides/notesSlide34.xml" Id="Reaa474baa30d445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ecd734aff4bf3" /><Relationship Type="http://schemas.openxmlformats.org/officeDocument/2006/relationships/notesSlide" Target="/ppt/notesSlides/notesSlide35.xml" Id="R77198dc7fd33433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35bec5f644f45" /><Relationship Type="http://schemas.openxmlformats.org/officeDocument/2006/relationships/image" Target="/ppt/media/image4.png" Id="R9b8746cdaa754842" /><Relationship Type="http://schemas.openxmlformats.org/officeDocument/2006/relationships/notesSlide" Target="/ppt/notesSlides/notesSlide36.xml" Id="R5d66e569b651420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2ed4d67af4968" /><Relationship Type="http://schemas.openxmlformats.org/officeDocument/2006/relationships/image" Target="/ppt/media/image16.jpeg" Id="R6fc62a4f55734c5c" /><Relationship Type="http://schemas.openxmlformats.org/officeDocument/2006/relationships/notesSlide" Target="/ppt/notesSlides/notesSlide37.xml" Id="R312e0f91d4c6493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0b52815a64838" /><Relationship Type="http://schemas.openxmlformats.org/officeDocument/2006/relationships/image" Target="/ppt/media/image17.jpeg" Id="Re2eaa75e9f914921" /><Relationship Type="http://schemas.openxmlformats.org/officeDocument/2006/relationships/notesSlide" Target="/ppt/notesSlides/notesSlide38.xml" Id="Rdd31558430d04f9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ce789e2cf4a7e" /><Relationship Type="http://schemas.openxmlformats.org/officeDocument/2006/relationships/image" Target="/ppt/media/image18.jpeg" Id="R6c6dce58771d4250" /><Relationship Type="http://schemas.openxmlformats.org/officeDocument/2006/relationships/notesSlide" Target="/ppt/notesSlides/notesSlide39.xml" Id="R00983248df07435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78a5af8cd4b08" /><Relationship Type="http://schemas.openxmlformats.org/officeDocument/2006/relationships/image" Target="/ppt/media/image19.jpeg" Id="Re5f5c7c7aa5f4813" /><Relationship Type="http://schemas.openxmlformats.org/officeDocument/2006/relationships/notesSlide" Target="/ppt/notesSlides/notesSlide40.xml" Id="R9baa3a465aa4464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8191257df48da" /><Relationship Type="http://schemas.openxmlformats.org/officeDocument/2006/relationships/image" Target="/ppt/media/image20.jpeg" Id="R8c2c444903d04bf5" /><Relationship Type="http://schemas.openxmlformats.org/officeDocument/2006/relationships/notesSlide" Target="/ppt/notesSlides/notesSlide41.xml" Id="R35903c4df4ff433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f433aab4e4478" /><Relationship Type="http://schemas.openxmlformats.org/officeDocument/2006/relationships/notesSlide" Target="/ppt/notesSlides/notesSlide42.xml" Id="R75a6bd370ad54d8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759fe1f0f4279" /><Relationship Type="http://schemas.openxmlformats.org/officeDocument/2006/relationships/image" Target="/ppt/media/image21.jpeg" Id="Rf007b5e2f5d2450b" /><Relationship Type="http://schemas.openxmlformats.org/officeDocument/2006/relationships/notesSlide" Target="/ppt/notesSlides/notesSlide43.xml" Id="R1e83154dd96f442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6bba690484089" /><Relationship Type="http://schemas.openxmlformats.org/officeDocument/2006/relationships/image" Target="/ppt/media/image22.jpeg" Id="R858bad6c3d594675" /><Relationship Type="http://schemas.openxmlformats.org/officeDocument/2006/relationships/notesSlide" Target="/ppt/notesSlides/notesSlide44.xml" Id="R73891e8b00c9490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919ee8f154501" /><Relationship Type="http://schemas.openxmlformats.org/officeDocument/2006/relationships/image" Target="/ppt/media/image23.jpeg" Id="R6e222be28bc4484a" /><Relationship Type="http://schemas.openxmlformats.org/officeDocument/2006/relationships/notesSlide" Target="/ppt/notesSlides/notesSlide45.xml" Id="R8112b565527948e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ec2038a214bd4" /><Relationship Type="http://schemas.openxmlformats.org/officeDocument/2006/relationships/image" Target="/ppt/media/image24.jpeg" Id="R56b8700bc8d34100" /><Relationship Type="http://schemas.openxmlformats.org/officeDocument/2006/relationships/notesSlide" Target="/ppt/notesSlides/notesSlide46.xml" Id="Rac421aacedd44a3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8f7c6b0b14b4b" /><Relationship Type="http://schemas.openxmlformats.org/officeDocument/2006/relationships/notesSlide" Target="/ppt/notesSlides/notesSlide47.xml" Id="R35472588e621415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9535ec8743c8" /><Relationship Type="http://schemas.openxmlformats.org/officeDocument/2006/relationships/image" Target="/ppt/media/image25.jpeg" Id="R5d5cb5b44e74477e" /><Relationship Type="http://schemas.openxmlformats.org/officeDocument/2006/relationships/notesSlide" Target="/ppt/notesSlides/notesSlide48.xml" Id="R41dfd3ffa6e545d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ebdbd7d824ab6" /><Relationship Type="http://schemas.openxmlformats.org/officeDocument/2006/relationships/image" Target="/ppt/media/image26.jpeg" Id="R619b7cd63b2b425a" /><Relationship Type="http://schemas.openxmlformats.org/officeDocument/2006/relationships/notesSlide" Target="/ppt/notesSlides/notesSlide49.xml" Id="R986e81a299f843f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bb9579cb4593" /><Relationship Type="http://schemas.openxmlformats.org/officeDocument/2006/relationships/notesSlide" Target="/ppt/notesSlides/notesSlide50.xml" Id="Rabc7ab0bcfc1497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bf16f422b4326" /><Relationship Type="http://schemas.openxmlformats.org/officeDocument/2006/relationships/notesSlide" Target="/ppt/notesSlides/notesSlide51.xml" Id="Rc9b3bb039cd3493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40c46cbe14cb0" /><Relationship Type="http://schemas.openxmlformats.org/officeDocument/2006/relationships/image" Target="/ppt/media/image27.jpeg" Id="Rf127582b6e904910" /><Relationship Type="http://schemas.openxmlformats.org/officeDocument/2006/relationships/notesSlide" Target="/ppt/notesSlides/notesSlide52.xml" Id="R8f8627d5be6c4cd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daf01d7d14aeb" /><Relationship Type="http://schemas.openxmlformats.org/officeDocument/2006/relationships/image" Target="/ppt/media/image28.jpeg" Id="R213052afe2c44f3f" /><Relationship Type="http://schemas.openxmlformats.org/officeDocument/2006/relationships/notesSlide" Target="/ppt/notesSlides/notesSlide53.xml" Id="R018b6bdcfd614d3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8bdb4c5504097" /><Relationship Type="http://schemas.openxmlformats.org/officeDocument/2006/relationships/image" Target="/ppt/media/image29.jpeg" Id="R1dcd0983ade34476" /><Relationship Type="http://schemas.openxmlformats.org/officeDocument/2006/relationships/notesSlide" Target="/ppt/notesSlides/notesSlide54.xml" Id="R3572957fd4184c0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9b1bffdc84d17" /><Relationship Type="http://schemas.openxmlformats.org/officeDocument/2006/relationships/image" Target="/ppt/media/image30.jpeg" Id="R114b7de13d5d4c95" /><Relationship Type="http://schemas.openxmlformats.org/officeDocument/2006/relationships/notesSlide" Target="/ppt/notesSlides/notesSlide55.xml" Id="R8344f04f490c42f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6087d47314606" /><Relationship Type="http://schemas.openxmlformats.org/officeDocument/2006/relationships/image" Target="/ppt/media/image31.jpeg" Id="Ra2d8698ee05b44fc" /><Relationship Type="http://schemas.openxmlformats.org/officeDocument/2006/relationships/notesSlide" Target="/ppt/notesSlides/notesSlide56.xml" Id="Rc4cb6a499273477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551ebe64a4457" /><Relationship Type="http://schemas.openxmlformats.org/officeDocument/2006/relationships/notesSlide" Target="/ppt/notesSlides/notesSlide57.xml" Id="R7b2e16bcc5b5435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14782902e4d65" /><Relationship Type="http://schemas.openxmlformats.org/officeDocument/2006/relationships/image" Target="/ppt/media/image32.jpeg" Id="R0c02699aef28496f" /><Relationship Type="http://schemas.openxmlformats.org/officeDocument/2006/relationships/notesSlide" Target="/ppt/notesSlides/notesSlide58.xml" Id="R6083fb7d7ea5424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4d414584b4f68" /><Relationship Type="http://schemas.openxmlformats.org/officeDocument/2006/relationships/image" Target="/ppt/media/image33.jpeg" Id="Rcb55df977a2b4b8b" /><Relationship Type="http://schemas.openxmlformats.org/officeDocument/2006/relationships/notesSlide" Target="/ppt/notesSlides/notesSlide59.xml" Id="R641985537fc24c5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4c57970ff4117" /><Relationship Type="http://schemas.openxmlformats.org/officeDocument/2006/relationships/notesSlide" Target="/ppt/notesSlides/notesSlide60.xml" Id="R6fa34d4a85d54ec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e8488db74c0c" /><Relationship Type="http://schemas.openxmlformats.org/officeDocument/2006/relationships/image" Target="/ppt/media/image34.jpeg" Id="Rdda26d571c1d4fe8" /><Relationship Type="http://schemas.openxmlformats.org/officeDocument/2006/relationships/notesSlide" Target="/ppt/notesSlides/notesSlide61.xml" Id="R681fe17793884ea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c12eddbb04335" /><Relationship Type="http://schemas.openxmlformats.org/officeDocument/2006/relationships/notesSlide" Target="/ppt/notesSlides/notesSlide62.xml" Id="R9cb936af121e471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c9ec8ec6e4b2e" /><Relationship Type="http://schemas.openxmlformats.org/officeDocument/2006/relationships/notesSlide" Target="/ppt/notesSlides/notesSlide63.xml" Id="R1efff96a723f49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-addition-1">
            <a:extLst xmlns:a="http://schemas.openxmlformats.org/drawingml/2006/main">
              <a:ext uri="{FF2B5EF4-FFF2-40B4-BE49-F238E27FC236}">
                <a16:creationId xmlns:a16="http://schemas.microsoft.com/office/drawing/2014/main" id="{A3E02FF6-8B61-4614-A172-BBEF8A8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TEMA 3 • UFSM 2026/2</a:t>
            </a:r>
          </a:p>
        </p:txBody>
      </p:sp>
      <p:sp>
        <p:nvSpPr>
          <p:cNvPr id="2" name="content-addition-2">
            <a:extLst xmlns:a="http://schemas.openxmlformats.org/drawingml/2006/main">
              <a:ext uri="{FF2B5EF4-FFF2-40B4-BE49-F238E27FC236}">
                <a16:creationId xmlns:a16="http://schemas.microsoft.com/office/drawing/2014/main" id="{DEAD9A07-25EF-4565-B822-50D79486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3" name="content-addition-3">
            <a:extLst xmlns:a="http://schemas.openxmlformats.org/drawingml/2006/main">
              <a:ext uri="{FF2B5EF4-FFF2-40B4-BE49-F238E27FC236}">
                <a16:creationId xmlns:a16="http://schemas.microsoft.com/office/drawing/2014/main" id="{54033C5A-375B-4863-8A6C-9B003ECA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62300"/>
            <a:ext cx="92392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Como pedir comida para um servidor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sem invadir a cozinha</a:t>
            </a:r>
          </a:p>
        </p:txBody>
      </p:sp>
      <p:sp>
        <p:nvSpPr>
          <p:cNvPr id="4" name="content-addition-4">
            <a:extLst xmlns:a="http://schemas.openxmlformats.org/drawingml/2006/main">
              <a:ext uri="{FF2B5EF4-FFF2-40B4-BE49-F238E27FC236}">
                <a16:creationId xmlns:a16="http://schemas.microsoft.com/office/drawing/2014/main" id="{654A13E2-47E4-4E6A-A017-26B3A8E8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Seminário de Engenharia de Software II</a:t>
            </a:r>
          </a:p>
        </p:txBody>
      </p:sp>
      <p:sp>
        <p:nvSpPr>
          <p:cNvPr id="5" name="content-addition-5">
            <a:extLst xmlns:a="http://schemas.openxmlformats.org/drawingml/2006/main">
              <a:ext uri="{FF2B5EF4-FFF2-40B4-BE49-F238E27FC236}">
                <a16:creationId xmlns:a16="http://schemas.microsoft.com/office/drawing/2014/main" id="{B0E56C0D-2B77-4034-88F9-8129DC00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Enzo · Isaac · Joloano · Matheus</a:t>
            </a:r>
          </a:p>
        </p:txBody>
      </p:sp>
      <p:sp>
        <p:nvSpPr>
          <p:cNvPr id="9" name="history-spec-92">
            <a:extLst xmlns:a="http://schemas.openxmlformats.org/drawingml/2006/main">
              <a:ext uri="{FF2B5EF4-FFF2-40B4-BE49-F238E27FC236}">
                <a16:creationId xmlns:a16="http://schemas.microsoft.com/office/drawing/2014/main" id="{DA6B0ABA-F0BC-4354-A25E-2B37C26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0" name="history-spec-93">
            <a:extLst xmlns:a="http://schemas.openxmlformats.org/drawingml/2006/main">
              <a:ext uri="{FF2B5EF4-FFF2-40B4-BE49-F238E27FC236}">
                <a16:creationId xmlns:a16="http://schemas.microsoft.com/office/drawing/2014/main" id="{492C1FAC-CE83-401C-888A-38A3C71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1 / 63</a:t>
            </a:r>
          </a:p>
        </p:txBody>
      </p:sp>
    </p:spTree>
    <p:extLst>
      <p:ext uri="{BB962C8B-B14F-4D97-AF65-F5344CB8AC3E}">
        <p14:creationId xmlns:p14="http://schemas.microsoft.com/office/powerpoint/2010/main" val="1131465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istory-spec-34">
            <a:extLst xmlns:a="http://schemas.openxmlformats.org/drawingml/2006/main">
              <a:ext uri="{FF2B5EF4-FFF2-40B4-BE49-F238E27FC236}">
                <a16:creationId xmlns:a16="http://schemas.microsoft.com/office/drawing/2014/main" id="{6F35085E-C423-4819-AA6A-1032FBEE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HISTÓRIA PRIMEIRO. DEPOIS, O PEDIDO.</a:t>
            </a:r>
          </a:p>
        </p:txBody>
      </p:sp>
      <p:sp>
        <p:nvSpPr>
          <p:cNvPr id="2" name="history-spec-35">
            <a:extLst xmlns:a="http://schemas.openxmlformats.org/drawingml/2006/main">
              <a:ext uri="{FF2B5EF4-FFF2-40B4-BE49-F238E27FC236}">
                <a16:creationId xmlns:a16="http://schemas.microsoft.com/office/drawing/2014/main" id="{5FEE6C2F-635E-4AD3-A7A0-9056240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Cardápio do dia</a:t>
            </a:r>
          </a:p>
        </p:txBody>
      </p:sp>
      <p:sp>
        <p:nvSpPr>
          <p:cNvPr id="3" name="history-spec-36">
            <a:extLst xmlns:a="http://schemas.openxmlformats.org/drawingml/2006/main">
              <a:ext uri="{FF2B5EF4-FFF2-40B4-BE49-F238E27FC236}">
                <a16:creationId xmlns:a16="http://schemas.microsoft.com/office/drawing/2014/main" id="{746F1909-6B64-4CE4-960A-87D5697A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4" name="history-spec-37">
            <a:extLst xmlns:a="http://schemas.openxmlformats.org/drawingml/2006/main">
              <a:ext uri="{FF2B5EF4-FFF2-40B4-BE49-F238E27FC236}">
                <a16:creationId xmlns:a16="http://schemas.microsoft.com/office/drawing/2014/main" id="{F226F69F-1360-4F32-B976-B9D34504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38325"/>
            <a:ext cx="10106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História: das subrotinas às APIs modernas</a:t>
            </a:r>
          </a:p>
        </p:txBody>
      </p:sp>
      <p:sp>
        <p:nvSpPr>
          <p:cNvPr id="5" name="history-spec-38">
            <a:extLst xmlns:a="http://schemas.openxmlformats.org/drawingml/2006/main">
              <a:ext uri="{FF2B5EF4-FFF2-40B4-BE49-F238E27FC236}">
                <a16:creationId xmlns:a16="http://schemas.microsoft.com/office/drawing/2014/main" id="{1E5EE9E4-AC1F-4AEE-BC06-6EAC023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history-spec-39">
            <a:extLst xmlns:a="http://schemas.openxmlformats.org/drawingml/2006/main">
              <a:ext uri="{FF2B5EF4-FFF2-40B4-BE49-F238E27FC236}">
                <a16:creationId xmlns:a16="http://schemas.microsoft.com/office/drawing/2014/main" id="{561E37A9-9268-4F0A-9DCF-C1F99848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43175"/>
            <a:ext cx="10106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API: interface, contrato e tipos</a:t>
            </a:r>
          </a:p>
        </p:txBody>
      </p:sp>
      <p:sp>
        <p:nvSpPr>
          <p:cNvPr id="7" name="history-spec-40">
            <a:extLst xmlns:a="http://schemas.openxmlformats.org/drawingml/2006/main">
              <a:ext uri="{FF2B5EF4-FFF2-40B4-BE49-F238E27FC236}">
                <a16:creationId xmlns:a16="http://schemas.microsoft.com/office/drawing/2014/main" id="{3AEA1E95-6582-40A1-A2AD-597F328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4802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history-spec-41">
            <a:extLst xmlns:a="http://schemas.openxmlformats.org/drawingml/2006/main">
              <a:ext uri="{FF2B5EF4-FFF2-40B4-BE49-F238E27FC236}">
                <a16:creationId xmlns:a16="http://schemas.microsoft.com/office/drawing/2014/main" id="{1B6150A7-7483-4C43-8A36-61B41A97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48025"/>
            <a:ext cx="10106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HTTP: pedido, resposta e APIs reais</a:t>
            </a:r>
          </a:p>
        </p:txBody>
      </p:sp>
      <p:sp>
        <p:nvSpPr>
          <p:cNvPr id="9" name="history-spec-42">
            <a:extLst xmlns:a="http://schemas.openxmlformats.org/drawingml/2006/main">
              <a:ext uri="{FF2B5EF4-FFF2-40B4-BE49-F238E27FC236}">
                <a16:creationId xmlns:a16="http://schemas.microsoft.com/office/drawing/2014/main" id="{A95A8E2F-4476-4BCE-8DE4-1E2CB70E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history-spec-43">
            <a:extLst xmlns:a="http://schemas.openxmlformats.org/drawingml/2006/main">
              <a:ext uri="{FF2B5EF4-FFF2-40B4-BE49-F238E27FC236}">
                <a16:creationId xmlns:a16="http://schemas.microsoft.com/office/drawing/2014/main" id="{3E688939-6463-45FA-AA8B-B38FBD3E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952875"/>
            <a:ext cx="10106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Tecnologias e comunicação</a:t>
            </a:r>
          </a:p>
        </p:txBody>
      </p:sp>
      <p:sp>
        <p:nvSpPr>
          <p:cNvPr id="11" name="history-spec-44">
            <a:extLst xmlns:a="http://schemas.openxmlformats.org/drawingml/2006/main">
              <a:ext uri="{FF2B5EF4-FFF2-40B4-BE49-F238E27FC236}">
                <a16:creationId xmlns:a16="http://schemas.microsoft.com/office/drawing/2014/main" id="{262614EA-1681-4291-AAE3-2C4B62D4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history-spec-45">
            <a:extLst xmlns:a="http://schemas.openxmlformats.org/drawingml/2006/main">
              <a:ext uri="{FF2B5EF4-FFF2-40B4-BE49-F238E27FC236}">
                <a16:creationId xmlns:a16="http://schemas.microsoft.com/office/drawing/2014/main" id="{8EFCFA28-3D6D-4D65-89F4-804D6D6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57725"/>
            <a:ext cx="10106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REST × GraphQL</a:t>
            </a:r>
          </a:p>
        </p:txBody>
      </p:sp>
      <p:sp>
        <p:nvSpPr>
          <p:cNvPr id="13" name="history-spec-46">
            <a:extLst xmlns:a="http://schemas.openxmlformats.org/drawingml/2006/main">
              <a:ext uri="{FF2B5EF4-FFF2-40B4-BE49-F238E27FC236}">
                <a16:creationId xmlns:a16="http://schemas.microsoft.com/office/drawing/2014/main" id="{D54C3331-F122-483C-A74D-E9B502AB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625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history-spec-47">
            <a:extLst xmlns:a="http://schemas.openxmlformats.org/drawingml/2006/main">
              <a:ext uri="{FF2B5EF4-FFF2-40B4-BE49-F238E27FC236}">
                <a16:creationId xmlns:a16="http://schemas.microsoft.com/office/drawing/2014/main" id="{413407A1-6B59-4FF7-AFE8-0047E3C6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62575"/>
            <a:ext cx="10106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Especificar, proteger e evoluir</a:t>
            </a:r>
          </a:p>
        </p:txBody>
      </p:sp>
      <p:sp>
        <p:nvSpPr>
          <p:cNvPr id="15" name="history-spec-94">
            <a:extLst xmlns:a="http://schemas.openxmlformats.org/drawingml/2006/main">
              <a:ext uri="{FF2B5EF4-FFF2-40B4-BE49-F238E27FC236}">
                <a16:creationId xmlns:a16="http://schemas.microsoft.com/office/drawing/2014/main" id="{0C79ABCB-55BF-4595-9922-D44D2BD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6" name="history-spec-95">
            <a:extLst xmlns:a="http://schemas.openxmlformats.org/drawingml/2006/main">
              <a:ext uri="{FF2B5EF4-FFF2-40B4-BE49-F238E27FC236}">
                <a16:creationId xmlns:a16="http://schemas.microsoft.com/office/drawing/2014/main" id="{F7DB1849-8D47-4AD9-B686-A0DE1F6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2 / 63</a:t>
            </a:r>
          </a:p>
        </p:txBody>
      </p:sp>
    </p:spTree>
    <p:extLst>
      <p:ext uri="{BB962C8B-B14F-4D97-AF65-F5344CB8AC3E}">
        <p14:creationId xmlns:p14="http://schemas.microsoft.com/office/powerpoint/2010/main" val="528280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istory-spec-1">
            <a:extLst xmlns:a="http://schemas.openxmlformats.org/drawingml/2006/main">
              <a:ext uri="{FF2B5EF4-FFF2-40B4-BE49-F238E27FC236}">
                <a16:creationId xmlns:a16="http://schemas.microsoft.com/office/drawing/2014/main" id="{BCBCC12D-6782-476C-85F1-54109A44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HISTÓRIA • 1/4 • ANTECEDENTES</a:t>
            </a:r>
          </a:p>
        </p:txBody>
      </p:sp>
      <p:sp>
        <p:nvSpPr>
          <p:cNvPr id="2" name="history-spec-2">
            <a:extLst xmlns:a="http://schemas.openxmlformats.org/drawingml/2006/main">
              <a:ext uri="{FF2B5EF4-FFF2-40B4-BE49-F238E27FC236}">
                <a16:creationId xmlns:a16="http://schemas.microsoft.com/office/drawing/2014/main" id="{217374C7-5B09-47E2-9EA7-E0159022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1949–1951: as peças reutilizáveis</a:t>
            </a:r>
          </a:p>
        </p:txBody>
      </p:sp>
      <p:sp>
        <p:nvSpPr>
          <p:cNvPr id="3" name="history-spec-3">
            <a:extLst xmlns:a="http://schemas.openxmlformats.org/drawingml/2006/main">
              <a:ext uri="{FF2B5EF4-FFF2-40B4-BE49-F238E27FC236}">
                <a16:creationId xmlns:a16="http://schemas.microsoft.com/office/drawing/2014/main" id="{196BAF68-DAEE-4658-A0E6-7B2F1858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76425"/>
            <a:ext cx="636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1949 · EDSAC</a:t>
            </a:r>
          </a:p>
        </p:txBody>
      </p:sp>
      <p:sp>
        <p:nvSpPr>
          <p:cNvPr id="4" name="history-spec-4">
            <a:extLst xmlns:a="http://schemas.openxmlformats.org/drawingml/2006/main">
              <a:ext uri="{FF2B5EF4-FFF2-40B4-BE49-F238E27FC236}">
                <a16:creationId xmlns:a16="http://schemas.microsoft.com/office/drawing/2014/main" id="{713D9053-6375-4615-80CE-BFAEC317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6362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Em Cambridge, uma biblioteca de subrotinas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permitia reaproveitar tarefas já programadas.</a:t>
            </a:r>
          </a:p>
        </p:txBody>
      </p:sp>
      <p:sp>
        <p:nvSpPr>
          <p:cNvPr id="5" name="history-spec-5">
            <a:extLst xmlns:a="http://schemas.openxmlformats.org/drawingml/2006/main">
              <a:ext uri="{FF2B5EF4-FFF2-40B4-BE49-F238E27FC236}">
                <a16:creationId xmlns:a16="http://schemas.microsoft.com/office/drawing/2014/main" id="{7AE41838-AC9A-4891-9570-5EA3EA33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636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1951 · Um manual de programação</a:t>
            </a:r>
          </a:p>
        </p:txBody>
      </p:sp>
      <p:sp>
        <p:nvSpPr>
          <p:cNvPr id="6" name="history-spec-6">
            <a:extLst xmlns:a="http://schemas.openxmlformats.org/drawingml/2006/main">
              <a:ext uri="{FF2B5EF4-FFF2-40B4-BE49-F238E27FC236}">
                <a16:creationId xmlns:a16="http://schemas.microsoft.com/office/drawing/2014/main" id="{E4CCAC21-E184-4C7F-AC0D-E34E2195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6362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Wilkes, Wheeler e Gill explicaram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como organizar e usar essas subrotinas.</a:t>
            </a:r>
          </a:p>
        </p:txBody>
      </p:sp>
      <p:sp>
        <p:nvSpPr>
          <p:cNvPr id="7" name="history-spec-7">
            <a:extLst xmlns:a="http://schemas.openxmlformats.org/drawingml/2006/main">
              <a:ext uri="{FF2B5EF4-FFF2-40B4-BE49-F238E27FC236}">
                <a16:creationId xmlns:a16="http://schemas.microsoft.com/office/drawing/2014/main" id="{F15DD0F2-C4E0-4A2C-BC42-FD8D1101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651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 ideia de reutilizar funções antecede a web.</a:t>
            </a:r>
          </a:p>
        </p:txBody>
      </p:sp>
      <p:sp>
        <p:nvSpPr>
          <p:cNvPr id="8" name="history-spec-8">
            <a:extLst xmlns:a="http://schemas.openxmlformats.org/drawingml/2006/main">
              <a:ext uri="{FF2B5EF4-FFF2-40B4-BE49-F238E27FC236}">
                <a16:creationId xmlns:a16="http://schemas.microsoft.com/office/drawing/2014/main" id="{5947C46E-2E8E-426D-98DE-71F1A6B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“não vou fazer tudo do zero” tem história.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c22d2fbb452f"/>
          <a:stretch xmlns:a="http://schemas.openxmlformats.org/drawingml/2006/main"/>
        </p:blipFill>
        <p:spPr>
          <a:xfrm xmlns:a="http://schemas.openxmlformats.org/drawingml/2006/main">
            <a:off x="7361892" y="1809750"/>
            <a:ext cx="4250016" cy="3419475"/>
          </a:xfrm>
          <a:prstGeom xmlns:a="http://schemas.openxmlformats.org/drawingml/2006/main" prst="rect">
            <a:avLst/>
          </a:prstGeom>
        </p:spPr>
      </p:pic>
      <p:sp>
        <p:nvSpPr>
          <p:cNvPr id="10" name="history-spec-9">
            <a:extLst xmlns:a="http://schemas.openxmlformats.org/drawingml/2006/main">
              <a:ext uri="{FF2B5EF4-FFF2-40B4-BE49-F238E27FC236}">
                <a16:creationId xmlns:a16="http://schemas.microsoft.com/office/drawing/2014/main" id="{74346925-36F0-46EF-8999-413E536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340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EDSAC · Cambridge</a:t>
            </a:r>
          </a:p>
        </p:txBody>
      </p:sp>
      <p:sp>
        <p:nvSpPr>
          <p:cNvPr id="11" name="history-spec-96">
            <a:extLst xmlns:a="http://schemas.openxmlformats.org/drawingml/2006/main">
              <a:ext uri="{FF2B5EF4-FFF2-40B4-BE49-F238E27FC236}">
                <a16:creationId xmlns:a16="http://schemas.microsoft.com/office/drawing/2014/main" id="{10F45C95-0BDC-4160-B123-C83C756C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97">
            <a:extLst xmlns:a="http://schemas.openxmlformats.org/drawingml/2006/main">
              <a:ext uri="{FF2B5EF4-FFF2-40B4-BE49-F238E27FC236}">
                <a16:creationId xmlns:a16="http://schemas.microsoft.com/office/drawing/2014/main" id="{5D122625-1443-434F-A1CC-B4023BB6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3 / 63</a:t>
            </a:r>
          </a:p>
        </p:txBody>
      </p:sp>
    </p:spTree>
    <p:extLst>
      <p:ext uri="{BB962C8B-B14F-4D97-AF65-F5344CB8AC3E}">
        <p14:creationId xmlns:p14="http://schemas.microsoft.com/office/powerpoint/2010/main" val="438559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istory-spec-10">
            <a:extLst xmlns:a="http://schemas.openxmlformats.org/drawingml/2006/main">
              <a:ext uri="{FF2B5EF4-FFF2-40B4-BE49-F238E27FC236}">
                <a16:creationId xmlns:a16="http://schemas.microsoft.com/office/drawing/2014/main" id="{4A918D52-2F42-42BA-90BF-36D1774D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HISTÓRIA • 2/4 • RPC E WEB</a:t>
            </a:r>
          </a:p>
        </p:txBody>
      </p:sp>
      <p:sp>
        <p:nvSpPr>
          <p:cNvPr id="2" name="history-spec-11">
            <a:extLst xmlns:a="http://schemas.openxmlformats.org/drawingml/2006/main">
              <a:ext uri="{FF2B5EF4-FFF2-40B4-BE49-F238E27FC236}">
                <a16:creationId xmlns:a16="http://schemas.microsoft.com/office/drawing/2014/main" id="{CD655AF5-431E-4C63-A13F-05676CAB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1984–1991: as chamadas chegam à rede</a:t>
            </a:r>
          </a:p>
        </p:txBody>
      </p:sp>
      <p:sp>
        <p:nvSpPr>
          <p:cNvPr id="3" name="history-spec-12">
            <a:extLst xmlns:a="http://schemas.openxmlformats.org/drawingml/2006/main">
              <a:ext uri="{FF2B5EF4-FFF2-40B4-BE49-F238E27FC236}">
                <a16:creationId xmlns:a16="http://schemas.microsoft.com/office/drawing/2014/main" id="{668B4924-D50A-4B28-AC30-F23C9B3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76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1984 · RPC</a:t>
            </a:r>
          </a:p>
        </p:txBody>
      </p:sp>
      <p:sp>
        <p:nvSpPr>
          <p:cNvPr id="4" name="history-spec-13">
            <a:extLst xmlns:a="http://schemas.openxmlformats.org/drawingml/2006/main">
              <a:ext uri="{FF2B5EF4-FFF2-40B4-BE49-F238E27FC236}">
                <a16:creationId xmlns:a16="http://schemas.microsoft.com/office/drawing/2014/main" id="{93D2B742-E92E-4648-99A1-57FFEE9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5076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Birrell e Nelson detalham chamadas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de procedimentos em outro computador.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 rede entra no caminho da função.</a:t>
            </a:r>
          </a:p>
        </p:txBody>
      </p:sp>
      <p:sp>
        <p:nvSpPr>
          <p:cNvPr id="5" name="history-spec-14">
            <a:extLst xmlns:a="http://schemas.openxmlformats.org/drawingml/2006/main">
              <a:ext uri="{FF2B5EF4-FFF2-40B4-BE49-F238E27FC236}">
                <a16:creationId xmlns:a16="http://schemas.microsoft.com/office/drawing/2014/main" id="{974E85AF-D8DC-485E-B290-BEE099BA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1989 → 1991 · Web</a:t>
            </a:r>
          </a:p>
        </p:txBody>
      </p:sp>
      <p:sp>
        <p:nvSpPr>
          <p:cNvPr id="6" name="history-spec-15">
            <a:extLst xmlns:a="http://schemas.openxmlformats.org/drawingml/2006/main">
              <a:ext uri="{FF2B5EF4-FFF2-40B4-BE49-F238E27FC236}">
                <a16:creationId xmlns:a16="http://schemas.microsoft.com/office/drawing/2014/main" id="{8C0D5568-FE56-4D7C-9AFC-4FFD4A8A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5276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Berners-Lee propõe a Web no CERN.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Em 1991, ela começa a se espalhar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para fora do laboratório.</a:t>
            </a:r>
          </a:p>
        </p:txBody>
      </p:sp>
      <p:sp>
        <p:nvSpPr>
          <p:cNvPr id="7" name="history-spec-16">
            <a:extLst xmlns:a="http://schemas.openxmlformats.org/drawingml/2006/main">
              <a:ext uri="{FF2B5EF4-FFF2-40B4-BE49-F238E27FC236}">
                <a16:creationId xmlns:a16="http://schemas.microsoft.com/office/drawing/2014/main" id="{2CE36DCF-09B7-4299-9BA5-B3D697C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que muda?</a:t>
            </a:r>
          </a:p>
        </p:txBody>
      </p:sp>
      <p:sp>
        <p:nvSpPr>
          <p:cNvPr id="8" name="history-spec-17">
            <a:extLst xmlns:a="http://schemas.openxmlformats.org/drawingml/2006/main">
              <a:ext uri="{FF2B5EF4-FFF2-40B4-BE49-F238E27FC236}">
                <a16:creationId xmlns:a16="http://schemas.microsoft.com/office/drawing/2014/main" id="{CF6D465D-124C-4B68-A20E-EE46F6B3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Programas passam a acessar operações à distância.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 Web oferece endereços e HTTP para a comunicação.</a:t>
            </a:r>
          </a:p>
        </p:txBody>
      </p:sp>
      <p:sp>
        <p:nvSpPr>
          <p:cNvPr id="9" name="history-spec-18">
            <a:extLst xmlns:a="http://schemas.openxmlformats.org/drawingml/2006/main">
              <a:ext uri="{FF2B5EF4-FFF2-40B4-BE49-F238E27FC236}">
                <a16:creationId xmlns:a16="http://schemas.microsoft.com/office/drawing/2014/main" id="{1AD09D79-313F-4B01-BD8B-7CB43730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 função saiu para passear. Agora pode dar timeout.</a:t>
            </a:r>
          </a:p>
        </p:txBody>
      </p:sp>
      <p:sp>
        <p:nvSpPr>
          <p:cNvPr id="10" name="history-spec-98">
            <a:extLst xmlns:a="http://schemas.openxmlformats.org/drawingml/2006/main">
              <a:ext uri="{FF2B5EF4-FFF2-40B4-BE49-F238E27FC236}">
                <a16:creationId xmlns:a16="http://schemas.microsoft.com/office/drawing/2014/main" id="{11837CE3-E8A5-45C1-97D8-0B9211D5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99">
            <a:extLst xmlns:a="http://schemas.openxmlformats.org/drawingml/2006/main">
              <a:ext uri="{FF2B5EF4-FFF2-40B4-BE49-F238E27FC236}">
                <a16:creationId xmlns:a16="http://schemas.microsoft.com/office/drawing/2014/main" id="{F59C0F67-BF0B-4C69-8E1D-5D76A4A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4 / 63</a:t>
            </a:r>
          </a:p>
        </p:txBody>
      </p:sp>
    </p:spTree>
    <p:extLst>
      <p:ext uri="{BB962C8B-B14F-4D97-AF65-F5344CB8AC3E}">
        <p14:creationId xmlns:p14="http://schemas.microsoft.com/office/powerpoint/2010/main" val="1330521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istory-spec-19">
            <a:extLst xmlns:a="http://schemas.openxmlformats.org/drawingml/2006/main">
              <a:ext uri="{FF2B5EF4-FFF2-40B4-BE49-F238E27FC236}">
                <a16:creationId xmlns:a16="http://schemas.microsoft.com/office/drawing/2014/main" id="{101A9243-5A5E-4C4E-B0D1-60F4E00D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HISTÓRIA • 3/4 • TRÊS MARCOS, PROPOSTAS DIFERENTES</a:t>
            </a:r>
          </a:p>
        </p:txBody>
      </p:sp>
      <p:sp>
        <p:nvSpPr>
          <p:cNvPr id="2" name="history-spec-20">
            <a:extLst xmlns:a="http://schemas.openxmlformats.org/drawingml/2006/main">
              <a:ext uri="{FF2B5EF4-FFF2-40B4-BE49-F238E27FC236}">
                <a16:creationId xmlns:a16="http://schemas.microsoft.com/office/drawing/2014/main" id="{95A93493-6074-471A-A16E-6D97D23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1998–2000: XML, SOAP e REST</a:t>
            </a:r>
          </a:p>
        </p:txBody>
      </p:sp>
      <p:sp>
        <p:nvSpPr>
          <p:cNvPr id="3" name="history-spec-21">
            <a:extLst xmlns:a="http://schemas.openxmlformats.org/drawingml/2006/main">
              <a:ext uri="{FF2B5EF4-FFF2-40B4-BE49-F238E27FC236}">
                <a16:creationId xmlns:a16="http://schemas.microsoft.com/office/drawing/2014/main" id="{C2D3F817-A740-4A92-8F70-2E326C4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743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1998</a:t>
            </a:r>
          </a:p>
        </p:txBody>
      </p:sp>
      <p:sp>
        <p:nvSpPr>
          <p:cNvPr id="4" name="history-spec-22">
            <a:extLst xmlns:a="http://schemas.openxmlformats.org/drawingml/2006/main">
              <a:ext uri="{FF2B5EF4-FFF2-40B4-BE49-F238E27FC236}">
                <a16:creationId xmlns:a16="http://schemas.microsoft.com/office/drawing/2014/main" id="{84E467FD-3058-42E3-A2B8-57B1429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47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XML-RPC</a:t>
            </a:r>
          </a:p>
        </p:txBody>
      </p:sp>
      <p:sp>
        <p:nvSpPr>
          <p:cNvPr id="5" name="history-spec-23">
            <a:extLst xmlns:a="http://schemas.openxmlformats.org/drawingml/2006/main">
              <a:ext uri="{FF2B5EF4-FFF2-40B4-BE49-F238E27FC236}">
                <a16:creationId xmlns:a16="http://schemas.microsoft.com/office/drawing/2014/main" id="{537E3687-03D4-4DC7-A326-BF35CCB9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76425"/>
            <a:ext cx="58197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Chamadas remotas empacotadas em XML.</a:t>
            </a:r>
          </a:p>
        </p:txBody>
      </p:sp>
      <p:sp>
        <p:nvSpPr>
          <p:cNvPr id="6" name="history-spec-24">
            <a:extLst xmlns:a="http://schemas.openxmlformats.org/drawingml/2006/main">
              <a:ext uri="{FF2B5EF4-FFF2-40B4-BE49-F238E27FC236}">
                <a16:creationId xmlns:a16="http://schemas.microsoft.com/office/drawing/2014/main" id="{57C60807-A432-4294-9358-8E5DFB7C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743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7" name="history-spec-25">
            <a:extLst xmlns:a="http://schemas.openxmlformats.org/drawingml/2006/main">
              <a:ext uri="{FF2B5EF4-FFF2-40B4-BE49-F238E27FC236}">
                <a16:creationId xmlns:a16="http://schemas.microsoft.com/office/drawing/2014/main" id="{9DEA558B-A526-40F6-92E8-4FDAA3F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242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SOAP 1.1</a:t>
            </a:r>
          </a:p>
        </p:txBody>
      </p:sp>
      <p:sp>
        <p:nvSpPr>
          <p:cNvPr id="8" name="history-spec-26">
            <a:extLst xmlns:a="http://schemas.openxmlformats.org/drawingml/2006/main">
              <a:ext uri="{FF2B5EF4-FFF2-40B4-BE49-F238E27FC236}">
                <a16:creationId xmlns:a16="http://schemas.microsoft.com/office/drawing/2014/main" id="{4FB19273-5853-4198-816F-D4C1077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152775"/>
            <a:ext cx="58197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Mensagens com envelope e corpo;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cabeçalho opcional.</a:t>
            </a:r>
          </a:p>
        </p:txBody>
      </p:sp>
      <p:sp>
        <p:nvSpPr>
          <p:cNvPr id="9" name="history-spec-27">
            <a:extLst xmlns:a="http://schemas.openxmlformats.org/drawingml/2006/main">
              <a:ext uri="{FF2B5EF4-FFF2-40B4-BE49-F238E27FC236}">
                <a16:creationId xmlns:a16="http://schemas.microsoft.com/office/drawing/2014/main" id="{F6D40345-28DD-4B5C-B6E4-A1F92647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7430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10" name="history-spec-28">
            <a:extLst xmlns:a="http://schemas.openxmlformats.org/drawingml/2006/main">
              <a:ext uri="{FF2B5EF4-FFF2-40B4-BE49-F238E27FC236}">
                <a16:creationId xmlns:a16="http://schemas.microsoft.com/office/drawing/2014/main" id="{6C7DB78A-1BD9-4B82-8B31-04563276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00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1" name="history-spec-29">
            <a:extLst xmlns:a="http://schemas.openxmlformats.org/drawingml/2006/main">
              <a:ext uri="{FF2B5EF4-FFF2-40B4-BE49-F238E27FC236}">
                <a16:creationId xmlns:a16="http://schemas.microsoft.com/office/drawing/2014/main" id="{CD7874DD-8101-46BB-85F3-56514DFB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29125"/>
            <a:ext cx="58197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Fielding descreve um estilo arquitetural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com recursos e interface uniforme.</a:t>
            </a:r>
          </a:p>
        </p:txBody>
      </p:sp>
      <p:sp>
        <p:nvSpPr>
          <p:cNvPr id="12" name="history-spec-30">
            <a:extLst xmlns:a="http://schemas.openxmlformats.org/drawingml/2006/main">
              <a:ext uri="{FF2B5EF4-FFF2-40B4-BE49-F238E27FC236}">
                <a16:creationId xmlns:a16="http://schemas.microsoft.com/office/drawing/2014/main" id="{EEA43AC8-166A-4D27-AAC7-3E8FD302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34075"/>
            <a:ext cx="11125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SOAP e REST coexistem. A internet não tem final de campeonato.</a:t>
            </a:r>
          </a:p>
        </p:txBody>
      </p:sp>
      <p:sp>
        <p:nvSpPr>
          <p:cNvPr id="13" name="history-spec-100">
            <a:extLst xmlns:a="http://schemas.openxmlformats.org/drawingml/2006/main">
              <a:ext uri="{FF2B5EF4-FFF2-40B4-BE49-F238E27FC236}">
                <a16:creationId xmlns:a16="http://schemas.microsoft.com/office/drawing/2014/main" id="{1368DD6A-E366-4C3B-A174-D66DE27E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4" name="history-spec-101">
            <a:extLst xmlns:a="http://schemas.openxmlformats.org/drawingml/2006/main">
              <a:ext uri="{FF2B5EF4-FFF2-40B4-BE49-F238E27FC236}">
                <a16:creationId xmlns:a16="http://schemas.microsoft.com/office/drawing/2014/main" id="{DCCB998A-9069-48B4-9064-55A1EFA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5 / 63</a:t>
            </a:r>
          </a:p>
        </p:txBody>
      </p:sp>
    </p:spTree>
    <p:extLst>
      <p:ext uri="{BB962C8B-B14F-4D97-AF65-F5344CB8AC3E}">
        <p14:creationId xmlns:p14="http://schemas.microsoft.com/office/powerpoint/2010/main" val="189404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istory-spec-31">
            <a:extLst xmlns:a="http://schemas.openxmlformats.org/drawingml/2006/main">
              <a:ext uri="{FF2B5EF4-FFF2-40B4-BE49-F238E27FC236}">
                <a16:creationId xmlns:a16="http://schemas.microsoft.com/office/drawing/2014/main" id="{61909D01-A1B4-45FA-9632-F9CEADA3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HISTÓRIA • 4/4 • FERRAMENTAS QUE COEXISTEM</a:t>
            </a:r>
          </a:p>
        </p:txBody>
      </p:sp>
      <p:sp>
        <p:nvSpPr>
          <p:cNvPr id="2" name="history-spec-32">
            <a:extLst xmlns:a="http://schemas.openxmlformats.org/drawingml/2006/main">
              <a:ext uri="{FF2B5EF4-FFF2-40B4-BE49-F238E27FC236}">
                <a16:creationId xmlns:a16="http://schemas.microsoft.com/office/drawing/2014/main" id="{24CEDF12-8891-4610-86DE-8FB846A1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2011–2015: novas formas de conversar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33400" y="1743075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857625"/>
                <a:gridCol w="5553075"/>
              </a:tblGrid>
              <a:tr h="619125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Marco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O que acrescenta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19125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2011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WebSocket · RFC 6455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Canal persistente de mão dupla.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19125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2012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GraphQL no Facebook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Início do desenvolvimento interno.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19125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fev. 2015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gRPC aberto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Framework RPC baseado em HTTP/2.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19125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jul. 2015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GraphQL aberto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Consulta de campos de um schema.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19125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nov. 2015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OpenAPI Initiative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Descrição comum de APIs HTTP.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4" name="history-spec-33">
            <a:extLst xmlns:a="http://schemas.openxmlformats.org/drawingml/2006/main">
              <a:ext uri="{FF2B5EF4-FFF2-40B4-BE49-F238E27FC236}">
                <a16:creationId xmlns:a16="http://schemas.microsoft.com/office/drawing/2014/main" id="{7BA3808B-B6F7-44E7-B5A8-973E43D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Mais ferramentas, mais escolhas. O “depende” ganhou currículo.</a:t>
            </a:r>
          </a:p>
        </p:txBody>
      </p:sp>
      <p:sp>
        <p:nvSpPr>
          <p:cNvPr id="5" name="history-spec-102">
            <a:extLst xmlns:a="http://schemas.openxmlformats.org/drawingml/2006/main">
              <a:ext uri="{FF2B5EF4-FFF2-40B4-BE49-F238E27FC236}">
                <a16:creationId xmlns:a16="http://schemas.microsoft.com/office/drawing/2014/main" id="{E1E258B1-251E-449F-A733-E137745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6" name="history-spec-103">
            <a:extLst xmlns:a="http://schemas.openxmlformats.org/drawingml/2006/main">
              <a:ext uri="{FF2B5EF4-FFF2-40B4-BE49-F238E27FC236}">
                <a16:creationId xmlns:a16="http://schemas.microsoft.com/office/drawing/2014/main" id="{7B92A03B-43F3-4463-9D11-02434B6D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6 / 63</a:t>
            </a:r>
          </a:p>
        </p:txBody>
      </p:sp>
    </p:spTree>
    <p:extLst>
      <p:ext uri="{BB962C8B-B14F-4D97-AF65-F5344CB8AC3E}">
        <p14:creationId xmlns:p14="http://schemas.microsoft.com/office/powerpoint/2010/main" val="1310711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6B84189F-A139-47E7-92F6-D3F4C0B5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7B91FC79-2733-4AE2-A4B9-A8F04AF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que é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uma API?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1E73C404-67FF-448A-8004-6EA03C29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O cliente pede.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 cozinha se vira.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7508e986a4721"/>
          <a:srcRect xmlns:a="http://schemas.openxmlformats.org/drawingml/2006/main" l="11968" t="0" r="119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14475"/>
            <a:ext cx="4895850" cy="4276725"/>
          </a:xfrm>
          <a:prstGeom xmlns:a="http://schemas.openxmlformats.org/drawingml/2006/main" prst="rect">
            <a:avLst/>
          </a:prstGeom>
        </p:spPr>
      </p:pic>
      <p:sp>
        <p:nvSpPr>
          <p:cNvPr id="9" name="history-spec-106">
            <a:extLst xmlns:a="http://schemas.openxmlformats.org/drawingml/2006/main">
              <a:ext uri="{FF2B5EF4-FFF2-40B4-BE49-F238E27FC236}">
                <a16:creationId xmlns:a16="http://schemas.microsoft.com/office/drawing/2014/main" id="{0A08840E-AA2E-4517-BF30-490C89B9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0" name="history-spec-107">
            <a:extLst xmlns:a="http://schemas.openxmlformats.org/drawingml/2006/main">
              <a:ext uri="{FF2B5EF4-FFF2-40B4-BE49-F238E27FC236}">
                <a16:creationId xmlns:a16="http://schemas.microsoft.com/office/drawing/2014/main" id="{ED2F1B94-BB5A-41A9-9F2D-B62975FE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7 / 63</a:t>
            </a:r>
          </a:p>
        </p:txBody>
      </p:sp>
    </p:spTree>
    <p:extLst>
      <p:ext uri="{BB962C8B-B14F-4D97-AF65-F5344CB8AC3E}">
        <p14:creationId xmlns:p14="http://schemas.microsoft.com/office/powerpoint/2010/main" val="246644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0">
            <a:extLst xmlns:a="http://schemas.openxmlformats.org/drawingml/2006/main">
              <a:ext uri="{FF2B5EF4-FFF2-40B4-BE49-F238E27FC236}">
                <a16:creationId xmlns:a16="http://schemas.microsoft.com/office/drawing/2014/main" id="{8BCD3948-181E-4C13-B118-FFE36533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 = APPLICATION PROGRAMMING INTERFACE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03FBED1A-D025-477E-A0EC-E3483809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Você pede. Não invade a cozinha.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80e25693d473f"/>
          <a:srcRect xmlns:a="http://schemas.openxmlformats.org/drawingml/2006/main" l="0" t="1083" r="0" b="1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90700"/>
            <a:ext cx="7334250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62BCB303-52D1-485B-A024-D56A3C43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288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B224E215-187B-445B-BAF8-8E504B3E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28825"/>
            <a:ext cx="2933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Cliente faz o pedido</a:t>
            </a:r>
          </a:p>
        </p:txBody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5645B1B4-B8BE-4213-8D82-1D9FE50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19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47">
            <a:extLst xmlns:a="http://schemas.openxmlformats.org/drawingml/2006/main">
              <a:ext uri="{FF2B5EF4-FFF2-40B4-BE49-F238E27FC236}">
                <a16:creationId xmlns:a16="http://schemas.microsoft.com/office/drawing/2014/main" id="{6ECAE399-2BBC-4DEC-87D0-3D971E4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19450"/>
            <a:ext cx="2933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API expõe o contrato</a:t>
            </a:r>
          </a:p>
        </p:txBody>
      </p:sp>
      <p:sp>
        <p:nvSpPr>
          <p:cNvPr id="10" name="text-48">
            <a:extLst xmlns:a="http://schemas.openxmlformats.org/drawingml/2006/main">
              <a:ext uri="{FF2B5EF4-FFF2-40B4-BE49-F238E27FC236}">
                <a16:creationId xmlns:a16="http://schemas.microsoft.com/office/drawing/2014/main" id="{D8FF8A25-0F40-41D5-90F7-8687A2D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00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49">
            <a:extLst xmlns:a="http://schemas.openxmlformats.org/drawingml/2006/main">
              <a:ext uri="{FF2B5EF4-FFF2-40B4-BE49-F238E27FC236}">
                <a16:creationId xmlns:a16="http://schemas.microsoft.com/office/drawing/2014/main" id="{E2AB6118-14A8-437D-9440-B943C962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10075"/>
            <a:ext cx="2933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Sistema executa</a:t>
            </a:r>
          </a:p>
        </p:txBody>
      </p:sp>
      <p:sp>
        <p:nvSpPr>
          <p:cNvPr id="14" name="history-spec-108">
            <a:extLst xmlns:a="http://schemas.openxmlformats.org/drawingml/2006/main">
              <a:ext uri="{FF2B5EF4-FFF2-40B4-BE49-F238E27FC236}">
                <a16:creationId xmlns:a16="http://schemas.microsoft.com/office/drawing/2014/main" id="{E4785324-4791-44C5-BE24-3CA03B4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5" name="history-spec-109">
            <a:extLst xmlns:a="http://schemas.openxmlformats.org/drawingml/2006/main">
              <a:ext uri="{FF2B5EF4-FFF2-40B4-BE49-F238E27FC236}">
                <a16:creationId xmlns:a16="http://schemas.microsoft.com/office/drawing/2014/main" id="{17E59246-A5AA-4EA6-B237-9DAF7A2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8 / 63</a:t>
            </a:r>
          </a:p>
        </p:txBody>
      </p:sp>
    </p:spTree>
    <p:extLst>
      <p:ext uri="{BB962C8B-B14F-4D97-AF65-F5344CB8AC3E}">
        <p14:creationId xmlns:p14="http://schemas.microsoft.com/office/powerpoint/2010/main" val="974008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7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D0B4163E-62F0-4598-81F3-EB5161D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 SIGNIFICADO DA SIGLA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218FE2-BF30-45D2-82C9-187D346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API: Interface de Programação de Aplicações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63C753-F891-4800-8750-76C236AD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F1E0157-C525-4D41-AAF3-65C3A89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9 / 63</a:t>
            </a:r>
          </a:p>
        </p:txBody>
      </p:sp>
      <p:sp>
        <p:nvSpPr>
          <p:cNvPr id="5" name="api-a">
            <a:extLst xmlns:a="http://schemas.openxmlformats.org/drawingml/2006/main">
              <a:ext uri="{FF2B5EF4-FFF2-40B4-BE49-F238E27FC236}">
                <a16:creationId xmlns:a16="http://schemas.microsoft.com/office/drawing/2014/main" id="{7A2F1178-1481-464A-9EB2-54B13E8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api-a-text">
            <a:extLst xmlns:a="http://schemas.openxmlformats.org/drawingml/2006/main">
              <a:ext uri="{FF2B5EF4-FFF2-40B4-BE49-F238E27FC236}">
                <a16:creationId xmlns:a16="http://schemas.microsoft.com/office/drawing/2014/main" id="{F0FB600A-D1E8-4030-BFB3-0514C03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8597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Application: quem oferece ou consome uma função.</a:t>
            </a:r>
          </a:p>
        </p:txBody>
      </p:sp>
      <p:sp>
        <p:nvSpPr>
          <p:cNvPr id="7" name="api-p">
            <a:extLst xmlns:a="http://schemas.openxmlformats.org/drawingml/2006/main">
              <a:ext uri="{FF2B5EF4-FFF2-40B4-BE49-F238E27FC236}">
                <a16:creationId xmlns:a16="http://schemas.microsoft.com/office/drawing/2014/main" id="{7C7B4650-2F08-4488-8300-8B96559D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8" name="api-p-text">
            <a:extLst xmlns:a="http://schemas.openxmlformats.org/drawingml/2006/main">
              <a:ext uri="{FF2B5EF4-FFF2-40B4-BE49-F238E27FC236}">
                <a16:creationId xmlns:a16="http://schemas.microsoft.com/office/drawing/2014/main" id="{1899E063-C842-46AC-892A-29D04DEC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0517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Programming: a conversa acontece por código.</a:t>
            </a:r>
          </a:p>
        </p:txBody>
      </p:sp>
      <p:sp>
        <p:nvSpPr>
          <p:cNvPr id="9" name="api-i">
            <a:extLst xmlns:a="http://schemas.openxmlformats.org/drawingml/2006/main">
              <a:ext uri="{FF2B5EF4-FFF2-40B4-BE49-F238E27FC236}">
                <a16:creationId xmlns:a16="http://schemas.microsoft.com/office/drawing/2014/main" id="{4BA00A8A-67B6-441A-8D0E-F1E21BF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" name="api-i-text">
            <a:extLst xmlns:a="http://schemas.openxmlformats.org/drawingml/2006/main">
              <a:ext uri="{FF2B5EF4-FFF2-40B4-BE49-F238E27FC236}">
                <a16:creationId xmlns:a16="http://schemas.microsoft.com/office/drawing/2014/main" id="{D63D3CE8-51C2-482E-8966-B5D9C23C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2437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Interface: o combinado entre os dois lados.</a:t>
            </a:r>
          </a:p>
        </p:txBody>
      </p:sp>
    </p:spTree>
    <p:extLst>
      <p:ext uri="{BB962C8B-B14F-4D97-AF65-F5344CB8AC3E}">
        <p14:creationId xmlns:p14="http://schemas.microsoft.com/office/powerpoint/2010/main" val="11013266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CFC3113D-48BF-42C6-BD3F-2A66C07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TRÊS IDEIAS PARA GUARDAR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6F31AA-27FE-4216-B304-7BFCD26C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O ABC de uma API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07C5F4-EDD9-46FB-824C-C158F26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088FBAE-1411-465D-BD7F-A3F3FF8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10 / 63</a:t>
            </a:r>
          </a:p>
        </p:txBody>
      </p:sp>
      <p:sp>
        <p:nvSpPr>
          <p:cNvPr id="5" name="abc-A">
            <a:extLst xmlns:a="http://schemas.openxmlformats.org/drawingml/2006/main">
              <a:ext uri="{FF2B5EF4-FFF2-40B4-BE49-F238E27FC236}">
                <a16:creationId xmlns:a16="http://schemas.microsoft.com/office/drawing/2014/main" id="{2A435415-5B37-46B2-9E0F-6533DC67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904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abc-A-head">
            <a:extLst xmlns:a="http://schemas.openxmlformats.org/drawingml/2006/main">
              <a:ext uri="{FF2B5EF4-FFF2-40B4-BE49-F238E27FC236}">
                <a16:creationId xmlns:a16="http://schemas.microsoft.com/office/drawing/2014/main" id="{62481596-E197-4597-ADBB-34CD47A8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954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Abstração</a:t>
            </a:r>
          </a:p>
        </p:txBody>
      </p:sp>
      <p:sp>
        <p:nvSpPr>
          <p:cNvPr id="7" name="abc-A-body">
            <a:extLst xmlns:a="http://schemas.openxmlformats.org/drawingml/2006/main">
              <a:ext uri="{FF2B5EF4-FFF2-40B4-BE49-F238E27FC236}">
                <a16:creationId xmlns:a16="http://schemas.microsoft.com/office/drawing/2014/main" id="{ACC7623B-BE58-4F8B-84D4-A981670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717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Você usa a função sem conhecer toda a implementação.</a:t>
            </a:r>
          </a:p>
        </p:txBody>
      </p:sp>
      <p:sp>
        <p:nvSpPr>
          <p:cNvPr id="8" name="abc-B">
            <a:extLst xmlns:a="http://schemas.openxmlformats.org/drawingml/2006/main">
              <a:ext uri="{FF2B5EF4-FFF2-40B4-BE49-F238E27FC236}">
                <a16:creationId xmlns:a16="http://schemas.microsoft.com/office/drawing/2014/main" id="{4C2F2041-ED20-40FD-A713-E04ED029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904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abc-B-head">
            <a:extLst xmlns:a="http://schemas.openxmlformats.org/drawingml/2006/main">
              <a:ext uri="{FF2B5EF4-FFF2-40B4-BE49-F238E27FC236}">
                <a16:creationId xmlns:a16="http://schemas.microsoft.com/office/drawing/2014/main" id="{4673C4AF-FB8C-4ABB-BA86-F161E042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051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Baixo acoplamento</a:t>
            </a:r>
          </a:p>
        </p:txBody>
      </p:sp>
      <p:sp>
        <p:nvSpPr>
          <p:cNvPr id="10" name="abc-B-body">
            <a:extLst xmlns:a="http://schemas.openxmlformats.org/drawingml/2006/main">
              <a:ext uri="{FF2B5EF4-FFF2-40B4-BE49-F238E27FC236}">
                <a16:creationId xmlns:a16="http://schemas.microsoft.com/office/drawing/2014/main" id="{BBBFD642-ABA1-49E4-83AC-31FB8DED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814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Cliente e servidor podem evoluir com menos dependência.</a:t>
            </a:r>
          </a:p>
        </p:txBody>
      </p:sp>
      <p:sp>
        <p:nvSpPr>
          <p:cNvPr id="11" name="abc-C">
            <a:extLst xmlns:a="http://schemas.openxmlformats.org/drawingml/2006/main">
              <a:ext uri="{FF2B5EF4-FFF2-40B4-BE49-F238E27FC236}">
                <a16:creationId xmlns:a16="http://schemas.microsoft.com/office/drawing/2014/main" id="{26ADC9B3-2212-458E-8F35-436DBEAD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904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abc-C-head">
            <a:extLst xmlns:a="http://schemas.openxmlformats.org/drawingml/2006/main">
              <a:ext uri="{FF2B5EF4-FFF2-40B4-BE49-F238E27FC236}">
                <a16:creationId xmlns:a16="http://schemas.microsoft.com/office/drawing/2014/main" id="{AD7DC903-9CCC-4375-82BF-7F6EA649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148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13" name="abc-C-body">
            <a:extLst xmlns:a="http://schemas.openxmlformats.org/drawingml/2006/main">
              <a:ext uri="{FF2B5EF4-FFF2-40B4-BE49-F238E27FC236}">
                <a16:creationId xmlns:a16="http://schemas.microsoft.com/office/drawing/2014/main" id="{6E0746C4-E6C9-477F-9C9C-3E1D355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911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Entradas, saídas e erros seguem regras conhecidas.</a:t>
            </a:r>
          </a:p>
        </p:txBody>
      </p:sp>
    </p:spTree>
    <p:extLst>
      <p:ext uri="{BB962C8B-B14F-4D97-AF65-F5344CB8AC3E}">
        <p14:creationId xmlns:p14="http://schemas.microsoft.com/office/powerpoint/2010/main" val="1187673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27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48892D-23B4-4FDD-B680-DB76E59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EM QUE CONTEXTO SE APLICA?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E889A1-83AC-44DE-A1AF-0FC8AF8D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conectam serviços e sistemas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C5247B-754D-4934-AD51-392F3F09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C888C1-BD85-4AB8-A9CC-F6FA98C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11 / 63</a:t>
            </a:r>
          </a:p>
        </p:txBody>
      </p:sp>
      <p:sp>
        <p:nvSpPr>
          <p:cNvPr id="5" name="service-0-head">
            <a:extLst xmlns:a="http://schemas.openxmlformats.org/drawingml/2006/main">
              <a:ext uri="{FF2B5EF4-FFF2-40B4-BE49-F238E27FC236}">
                <a16:creationId xmlns:a16="http://schemas.microsoft.com/office/drawing/2014/main" id="{0B1935BD-1D99-4E26-99F3-626FE55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Mapas</a:t>
            </a:r>
          </a:p>
        </p:txBody>
      </p:sp>
      <p:sp>
        <p:nvSpPr>
          <p:cNvPr id="6" name="service-0-body">
            <a:extLst xmlns:a="http://schemas.openxmlformats.org/drawingml/2006/main">
              <a:ext uri="{FF2B5EF4-FFF2-40B4-BE49-F238E27FC236}">
                <a16:creationId xmlns:a16="http://schemas.microsoft.com/office/drawing/2014/main" id="{695D0F87-9FEE-432F-8990-690A826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757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Um app consulta rotas e tempo de viagem.</a:t>
            </a:r>
          </a:p>
        </p:txBody>
      </p:sp>
      <p:sp>
        <p:nvSpPr>
          <p:cNvPr id="7" name="service-1-head">
            <a:extLst xmlns:a="http://schemas.openxmlformats.org/drawingml/2006/main">
              <a:ext uri="{FF2B5EF4-FFF2-40B4-BE49-F238E27FC236}">
                <a16:creationId xmlns:a16="http://schemas.microsoft.com/office/drawing/2014/main" id="{74055009-3EB2-4182-B9B5-3DA07470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Pagamentos</a:t>
            </a:r>
          </a:p>
        </p:txBody>
      </p:sp>
      <p:sp>
        <p:nvSpPr>
          <p:cNvPr id="8" name="service-1-body">
            <a:extLst xmlns:a="http://schemas.openxmlformats.org/drawingml/2006/main">
              <a:ext uri="{FF2B5EF4-FFF2-40B4-BE49-F238E27FC236}">
                <a16:creationId xmlns:a16="http://schemas.microsoft.com/office/drawing/2014/main" id="{CE682A0D-C18A-4A3E-8EB8-EE1D231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757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Uma loja solicita uma cobrança e recebe o resultado.</a:t>
            </a:r>
          </a:p>
        </p:txBody>
      </p:sp>
      <p:sp>
        <p:nvSpPr>
          <p:cNvPr id="9" name="service-2-head">
            <a:extLst xmlns:a="http://schemas.openxmlformats.org/drawingml/2006/main">
              <a:ext uri="{FF2B5EF4-FFF2-40B4-BE49-F238E27FC236}">
                <a16:creationId xmlns:a16="http://schemas.microsoft.com/office/drawing/2014/main" id="{B4474E5C-FDB7-415D-91A4-E24782C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10" name="service-2-body">
            <a:extLst xmlns:a="http://schemas.openxmlformats.org/drawingml/2006/main">
              <a:ext uri="{FF2B5EF4-FFF2-40B4-BE49-F238E27FC236}">
                <a16:creationId xmlns:a16="http://schemas.microsoft.com/office/drawing/2014/main" id="{D2DAFC61-74B3-4384-BF21-EB3A9551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757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Um serviço valida login e permissões.</a:t>
            </a:r>
          </a:p>
        </p:txBody>
      </p:sp>
      <p:sp>
        <p:nvSpPr>
          <p:cNvPr id="11" name="service-3-head">
            <a:extLst xmlns:a="http://schemas.openxmlformats.org/drawingml/2006/main">
              <a:ext uri="{FF2B5EF4-FFF2-40B4-BE49-F238E27FC236}">
                <a16:creationId xmlns:a16="http://schemas.microsoft.com/office/drawing/2014/main" id="{EE8F1195-510B-4C44-B120-565635B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Dentro da empresa</a:t>
            </a:r>
          </a:p>
        </p:txBody>
      </p:sp>
      <p:sp>
        <p:nvSpPr>
          <p:cNvPr id="12" name="service-3-body">
            <a:extLst xmlns:a="http://schemas.openxmlformats.org/drawingml/2006/main">
              <a:ext uri="{FF2B5EF4-FFF2-40B4-BE49-F238E27FC236}">
                <a16:creationId xmlns:a16="http://schemas.microsoft.com/office/drawing/2014/main" id="{5C3D0CEE-8082-44BF-ABA1-5483C26C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757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Estoque e vendas trocam dados entre sistemas.</a:t>
            </a:r>
          </a:p>
        </p:txBody>
      </p:sp>
    </p:spTree>
    <p:extLst>
      <p:ext uri="{BB962C8B-B14F-4D97-AF65-F5344CB8AC3E}">
        <p14:creationId xmlns:p14="http://schemas.microsoft.com/office/powerpoint/2010/main" val="1023247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0">
            <a:extLst xmlns:a="http://schemas.openxmlformats.org/drawingml/2006/main">
              <a:ext uri="{FF2B5EF4-FFF2-40B4-BE49-F238E27FC236}">
                <a16:creationId xmlns:a16="http://schemas.microsoft.com/office/drawing/2014/main" id="{E51CDD82-B728-469A-AC78-A03B3B42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PEQUENAS VITÓRIAS DO DEV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FECBB744-6019-4016-BCCF-ACA8C19B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Consumiu a API. Não invadiu o banco.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e141a79124b13"/>
          <a:stretch xmlns:a="http://schemas.openxmlformats.org/drawingml/2006/main"/>
        </p:blipFill>
        <p:spPr>
          <a:xfrm xmlns:a="http://schemas.openxmlformats.org/drawingml/2006/main">
            <a:off x="533400" y="1809750"/>
            <a:ext cx="4381500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E3CD19D8-E79C-4028-B3A5-81A40CB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05000"/>
            <a:ext cx="571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7" name="panel-55">
            <a:extLst xmlns:a="http://schemas.openxmlformats.org/drawingml/2006/main">
              <a:ext uri="{FF2B5EF4-FFF2-40B4-BE49-F238E27FC236}">
                <a16:creationId xmlns:a16="http://schemas.microsoft.com/office/drawing/2014/main" id="{03E31CAD-CB18-4ACA-9249-5E59DD61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0"/>
            <a:ext cx="60960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8" name="text-56">
            <a:extLst xmlns:a="http://schemas.openxmlformats.org/drawingml/2006/main">
              <a:ext uri="{FF2B5EF4-FFF2-40B4-BE49-F238E27FC236}">
                <a16:creationId xmlns:a16="http://schemas.microsoft.com/office/drawing/2014/main" id="{9F6BFB9F-62B5-40D9-A3CC-BAFCBD4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48050"/>
            <a:ext cx="5638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GET /api/clientes/42</a:t>
            </a:r>
          </a:p>
        </p:txBody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EC92D6D9-1419-491F-9EC9-A7DEBC04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95825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banco do vizinho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continua em paz.</a:t>
            </a:r>
          </a:p>
        </p:txBody>
      </p:sp>
      <p:sp>
        <p:nvSpPr>
          <p:cNvPr id="12" name="history-spec-110">
            <a:extLst xmlns:a="http://schemas.openxmlformats.org/drawingml/2006/main">
              <a:ext uri="{FF2B5EF4-FFF2-40B4-BE49-F238E27FC236}">
                <a16:creationId xmlns:a16="http://schemas.microsoft.com/office/drawing/2014/main" id="{E95B80CE-1BDD-4BFB-B060-A7DBBE6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3" name="history-spec-111">
            <a:extLst xmlns:a="http://schemas.openxmlformats.org/drawingml/2006/main">
              <a:ext uri="{FF2B5EF4-FFF2-40B4-BE49-F238E27FC236}">
                <a16:creationId xmlns:a16="http://schemas.microsoft.com/office/drawing/2014/main" id="{2C70505E-05C8-49FC-AA0E-A2832AA9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12 / 63</a:t>
            </a:r>
          </a:p>
        </p:txBody>
      </p:sp>
    </p:spTree>
    <p:extLst>
      <p:ext uri="{BB962C8B-B14F-4D97-AF65-F5344CB8AC3E}">
        <p14:creationId xmlns:p14="http://schemas.microsoft.com/office/powerpoint/2010/main" val="1512380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5A4CD7C9-E4DE-4654-B50C-04605BFF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GUARDE ESTA ANALOGIA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104FAD2F-507D-4AA3-84D3-962FE65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O restaurante, traduzido para software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800225"/>
          <a:ext xmlns:a="http://schemas.openxmlformats.org/drawingml/2006/main" cx="111252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124700"/>
              </a:tblGrid>
              <a:tr h="642938"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Restaurante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Software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42938"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Cliente com fome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210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App / sistema consumidor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42938"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Cardápio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210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Contrato da API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42938"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Atendimento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210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Interface exposta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42938"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Cozinha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210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Implementação e regras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42938">
                <a:tc>
                  <a:txBody>
                    <a:bodyPr lIns="142875" tIns="85725" rIns="95250" bIns="57150"/>
                    <a:lstStyle/>
                    <a:p>
                      <a:r>
                        <a:rPr sz="210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Pedido → prato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210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Requisição → resposta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6" name="panel-62">
            <a:extLst xmlns:a="http://schemas.openxmlformats.org/drawingml/2006/main">
              <a:ext uri="{FF2B5EF4-FFF2-40B4-BE49-F238E27FC236}">
                <a16:creationId xmlns:a16="http://schemas.microsoft.com/office/drawing/2014/main" id="{4F16C258-6FD8-4BF8-A7BF-3D57555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63">
            <a:extLst xmlns:a="http://schemas.openxmlformats.org/drawingml/2006/main">
              <a:ext uri="{FF2B5EF4-FFF2-40B4-BE49-F238E27FC236}">
                <a16:creationId xmlns:a16="http://schemas.microsoft.com/office/drawing/2014/main" id="{C7E35280-522D-4D44-BEE9-82E81100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 cozinha pode mudar. O combinado precisa continuar funcionando.</a:t>
            </a:r>
          </a:p>
        </p:txBody>
      </p:sp>
      <p:sp>
        <p:nvSpPr>
          <p:cNvPr id="10" name="history-spec-112">
            <a:extLst xmlns:a="http://schemas.openxmlformats.org/drawingml/2006/main">
              <a:ext uri="{FF2B5EF4-FFF2-40B4-BE49-F238E27FC236}">
                <a16:creationId xmlns:a16="http://schemas.microsoft.com/office/drawing/2014/main" id="{51CCDD6E-97E7-4433-A611-09A67543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13">
            <a:extLst xmlns:a="http://schemas.openxmlformats.org/drawingml/2006/main">
              <a:ext uri="{FF2B5EF4-FFF2-40B4-BE49-F238E27FC236}">
                <a16:creationId xmlns:a16="http://schemas.microsoft.com/office/drawing/2014/main" id="{21B09709-E1FA-4FE0-8A55-0C4498A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13 / 63</a:t>
            </a:r>
          </a:p>
        </p:txBody>
      </p:sp>
    </p:spTree>
    <p:extLst>
      <p:ext uri="{BB962C8B-B14F-4D97-AF65-F5344CB8AC3E}">
        <p14:creationId xmlns:p14="http://schemas.microsoft.com/office/powerpoint/2010/main" val="1869234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4">
            <a:extLst xmlns:a="http://schemas.openxmlformats.org/drawingml/2006/main">
              <a:ext uri="{FF2B5EF4-FFF2-40B4-BE49-F238E27FC236}">
                <a16:creationId xmlns:a16="http://schemas.microsoft.com/office/drawing/2014/main" id="{E98D46E9-EC6F-4595-96C1-A623796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CONTRATO, NÃO ENDEREÇO NA INTERNET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2A1FE275-10F7-4B54-BC02-3B6AA31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API também mora dentro de uma biblioteca.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5a9e6fbe049f0"/>
          <a:stretch xmlns:a="http://schemas.openxmlformats.org/drawingml/2006/main"/>
        </p:blipFill>
        <p:spPr>
          <a:xfrm xmlns:a="http://schemas.openxmlformats.org/drawingml/2006/main">
            <a:off x="787116" y="1809750"/>
            <a:ext cx="4826568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panel-68">
            <a:extLst xmlns:a="http://schemas.openxmlformats.org/drawingml/2006/main">
              <a:ext uri="{FF2B5EF4-FFF2-40B4-BE49-F238E27FC236}">
                <a16:creationId xmlns:a16="http://schemas.microsoft.com/office/drawing/2014/main" id="{23A8D255-8552-40F4-8E4C-8B67F06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44C59821-3833-4A9C-8876-F6F834A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java.util.List… isso é uma API?</a:t>
            </a:r>
          </a:p>
        </p:txBody>
      </p:sp>
      <p:sp>
        <p:nvSpPr>
          <p:cNvPr id="16" name="content-addition-8">
            <a:extLst xmlns:a="http://schemas.openxmlformats.org/drawingml/2006/main">
              <a:ext uri="{FF2B5EF4-FFF2-40B4-BE49-F238E27FC236}">
                <a16:creationId xmlns:a16="http://schemas.microsoft.com/office/drawing/2014/main" id="{BD267650-593F-4D15-8D31-80970DE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14525"/>
            <a:ext cx="5324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Operações e dados</a:t>
            </a:r>
          </a:p>
        </p:txBody>
      </p:sp>
      <p:sp>
        <p:nvSpPr>
          <p:cNvPr id="17" name="content-addition-9">
            <a:extLst xmlns:a="http://schemas.openxmlformats.org/drawingml/2006/main">
              <a:ext uri="{FF2B5EF4-FFF2-40B4-BE49-F238E27FC236}">
                <a16:creationId xmlns:a16="http://schemas.microsoft.com/office/drawing/2014/main" id="{FFD945DC-E453-433B-A1CA-F18CE83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14575"/>
            <a:ext cx="5324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Quais ações existem, o que enviar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 como será a resposta (schema).</a:t>
            </a:r>
          </a:p>
        </p:txBody>
      </p:sp>
      <p:sp>
        <p:nvSpPr>
          <p:cNvPr id="18" name="content-addition-10">
            <a:extLst xmlns:a="http://schemas.openxmlformats.org/drawingml/2006/main">
              <a:ext uri="{FF2B5EF4-FFF2-40B4-BE49-F238E27FC236}">
                <a16:creationId xmlns:a16="http://schemas.microsoft.com/office/drawing/2014/main" id="{2027E2F0-BFA6-47A5-AFD4-3A8294D5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05175"/>
            <a:ext cx="5324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Identidade e erros</a:t>
            </a:r>
          </a:p>
        </p:txBody>
      </p:sp>
      <p:sp>
        <p:nvSpPr>
          <p:cNvPr id="19" name="content-addition-11">
            <a:extLst xmlns:a="http://schemas.openxmlformats.org/drawingml/2006/main">
              <a:ext uri="{FF2B5EF4-FFF2-40B4-BE49-F238E27FC236}">
                <a16:creationId xmlns:a16="http://schemas.microsoft.com/office/drawing/2014/main" id="{03C2D1A2-633A-4684-9864-939607C8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05225"/>
            <a:ext cx="5324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Como autenticar, quais permissões exigir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 qual formato usar nos erros.</a:t>
            </a:r>
          </a:p>
        </p:txBody>
      </p:sp>
      <p:sp>
        <p:nvSpPr>
          <p:cNvPr id="20" name="content-addition-12">
            <a:extLst xmlns:a="http://schemas.openxmlformats.org/drawingml/2006/main">
              <a:ext uri="{FF2B5EF4-FFF2-40B4-BE49-F238E27FC236}">
                <a16:creationId xmlns:a16="http://schemas.microsoft.com/office/drawing/2014/main" id="{833533B4-4381-4246-9EDC-5FC5A7F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95825"/>
            <a:ext cx="5324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Limites e evolução</a:t>
            </a:r>
          </a:p>
        </p:txBody>
      </p:sp>
      <p:sp>
        <p:nvSpPr>
          <p:cNvPr id="21" name="content-addition-13">
            <a:extLst xmlns:a="http://schemas.openxmlformats.org/drawingml/2006/main">
              <a:ext uri="{FF2B5EF4-FFF2-40B4-BE49-F238E27FC236}">
                <a16:creationId xmlns:a16="http://schemas.microsoft.com/office/drawing/2014/main" id="{FB3E6AF5-9642-4F5E-8042-01D599C9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95875"/>
            <a:ext cx="5324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Paginação, cota de chamadas e mudanças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que preservam a compatibilidade.</a:t>
            </a:r>
          </a:p>
        </p:txBody>
      </p:sp>
      <p:sp>
        <p:nvSpPr>
          <p:cNvPr id="23" name="history-spec-114">
            <a:extLst xmlns:a="http://schemas.openxmlformats.org/drawingml/2006/main">
              <a:ext uri="{FF2B5EF4-FFF2-40B4-BE49-F238E27FC236}">
                <a16:creationId xmlns:a16="http://schemas.microsoft.com/office/drawing/2014/main" id="{4AC50EE3-19AF-4A61-9D8A-1DF545F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24" name="history-spec-115">
            <a:extLst xmlns:a="http://schemas.openxmlformats.org/drawingml/2006/main">
              <a:ext uri="{FF2B5EF4-FFF2-40B4-BE49-F238E27FC236}">
                <a16:creationId xmlns:a16="http://schemas.microsoft.com/office/drawing/2014/main" id="{16C1C0ED-A143-4507-9EA1-9E7A016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14 / 63</a:t>
            </a:r>
          </a:p>
        </p:txBody>
      </p:sp>
    </p:spTree>
    <p:extLst>
      <p:ext uri="{BB962C8B-B14F-4D97-AF65-F5344CB8AC3E}">
        <p14:creationId xmlns:p14="http://schemas.microsoft.com/office/powerpoint/2010/main" val="4631684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istory-spec-48">
            <a:extLst xmlns:a="http://schemas.openxmlformats.org/drawingml/2006/main">
              <a:ext uri="{FF2B5EF4-FFF2-40B4-BE49-F238E27FC236}">
                <a16:creationId xmlns:a16="http://schemas.microsoft.com/office/drawing/2014/main" id="{967BDCF5-E5E6-49DC-8F8B-633691C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ESPECIFICAÇÕES • ONDE A INTERFACE ESTÁ</a:t>
            </a:r>
          </a:p>
        </p:txBody>
      </p:sp>
      <p:sp>
        <p:nvSpPr>
          <p:cNvPr id="2" name="history-spec-49">
            <a:extLst xmlns:a="http://schemas.openxmlformats.org/drawingml/2006/main">
              <a:ext uri="{FF2B5EF4-FFF2-40B4-BE49-F238E27FC236}">
                <a16:creationId xmlns:a16="http://schemas.microsoft.com/office/drawing/2014/main" id="{EFB97EBF-8B89-4792-BD18-D75F2D6A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APIs também vivem fora da web</a:t>
            </a:r>
          </a:p>
        </p:txBody>
      </p:sp>
      <p:sp>
        <p:nvSpPr>
          <p:cNvPr id="3" name="history-spec-50">
            <a:extLst xmlns:a="http://schemas.openxmlformats.org/drawingml/2006/main">
              <a:ext uri="{FF2B5EF4-FFF2-40B4-BE49-F238E27FC236}">
                <a16:creationId xmlns:a16="http://schemas.microsoft.com/office/drawing/2014/main" id="{1AB5B97C-0FD3-4167-8AD0-C89BE54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 = interface de programação de aplicações.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48125"/>
                <a:gridCol w="4410075"/>
              </a:tblGrid>
              <a:tr h="719138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Tipo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Exemplo de operação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Como o programa usa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719138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Biblioteca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Java · pedidos.add(pedido)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Adiciona um item à lista</a:t>
                      </a:r>
                    </a:p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dentro do próprio programa.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719138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Sistema operacional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Windows · CreateFileW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Abre ou cria um arquivo</a:t>
                      </a:r>
                    </a:p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 devolve um identificador.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719138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HTTP · POST /api/pedidos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Envia dados para uma operação</a:t>
                      </a:r>
                    </a:p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de outro serviço pela rede.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5" name="history-spec-51">
            <a:extLst xmlns:a="http://schemas.openxmlformats.org/drawingml/2006/main">
              <a:ext uri="{FF2B5EF4-FFF2-40B4-BE49-F238E27FC236}">
                <a16:creationId xmlns:a16="http://schemas.microsoft.com/office/drawing/2014/main" id="{7DB238A7-C61F-49FF-929E-E353AB38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A interface define operações e regras; o mecanismo da chamada muda.</a:t>
            </a:r>
          </a:p>
        </p:txBody>
      </p:sp>
      <p:sp>
        <p:nvSpPr>
          <p:cNvPr id="6" name="history-spec-52">
            <a:extLst xmlns:a="http://schemas.openxmlformats.org/drawingml/2006/main">
              <a:ext uri="{FF2B5EF4-FFF2-40B4-BE49-F238E27FC236}">
                <a16:creationId xmlns:a16="http://schemas.microsoft.com/office/drawing/2014/main" id="{EA961DB7-EF09-48E3-81F6-6A6428A7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Cada cozinha tem seu balcão.</a:t>
            </a:r>
          </a:p>
        </p:txBody>
      </p:sp>
      <p:sp>
        <p:nvSpPr>
          <p:cNvPr id="7" name="history-spec-116">
            <a:extLst xmlns:a="http://schemas.openxmlformats.org/drawingml/2006/main">
              <a:ext uri="{FF2B5EF4-FFF2-40B4-BE49-F238E27FC236}">
                <a16:creationId xmlns:a16="http://schemas.microsoft.com/office/drawing/2014/main" id="{6286A531-3571-4977-BF31-8F1E6A5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8" name="history-spec-117">
            <a:extLst xmlns:a="http://schemas.openxmlformats.org/drawingml/2006/main">
              <a:ext uri="{FF2B5EF4-FFF2-40B4-BE49-F238E27FC236}">
                <a16:creationId xmlns:a16="http://schemas.microsoft.com/office/drawing/2014/main" id="{62351BDB-39A6-446A-A304-51FBD3A8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15 / 63</a:t>
            </a:r>
          </a:p>
        </p:txBody>
      </p:sp>
    </p:spTree>
    <p:extLst>
      <p:ext uri="{BB962C8B-B14F-4D97-AF65-F5344CB8AC3E}">
        <p14:creationId xmlns:p14="http://schemas.microsoft.com/office/powerpoint/2010/main" val="16391673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68DB4FD-DEC5-46B5-A38B-DB1EBDA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O ENDEREÇO DE UMA OPERAÇÃO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A99715-0BF7-4B37-AF0F-B3A54442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Endpoint: onde o pedido chega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48609C-B9D2-4B8B-976F-7A6B13B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D477F4-97AD-4D62-8B00-F58FF2B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16 / 63</a:t>
            </a:r>
          </a:p>
        </p:txBody>
      </p:sp>
      <p:sp>
        <p:nvSpPr>
          <p:cNvPr id="5" name="endpoint-url">
            <a:extLst xmlns:a="http://schemas.openxmlformats.org/drawingml/2006/main">
              <a:ext uri="{FF2B5EF4-FFF2-40B4-BE49-F238E27FC236}">
                <a16:creationId xmlns:a16="http://schemas.microsoft.com/office/drawing/2014/main" id="{712773E8-82F0-4362-BF3F-DF5F919A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https://api.loja.com/v1/pedidos/42</a:t>
            </a:r>
          </a:p>
        </p:txBody>
      </p:sp>
      <p:sp>
        <p:nvSpPr>
          <p:cNvPr id="6" name="endpoint-base">
            <a:extLst xmlns:a="http://schemas.openxmlformats.org/drawingml/2006/main">
              <a:ext uri="{FF2B5EF4-FFF2-40B4-BE49-F238E27FC236}">
                <a16:creationId xmlns:a16="http://schemas.microsoft.com/office/drawing/2014/main" id="{29CE0FE4-454F-4E89-AED6-B062C5F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33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Domínio + versão + recurso + identificador</a:t>
            </a:r>
          </a:p>
        </p:txBody>
      </p:sp>
      <p:sp>
        <p:nvSpPr>
          <p:cNvPr id="7" name="endpoint-example-bg">
            <a:extLst xmlns:a="http://schemas.openxmlformats.org/drawingml/2006/main">
              <a:ext uri="{FF2B5EF4-FFF2-40B4-BE49-F238E27FC236}">
                <a16:creationId xmlns:a16="http://schemas.microsoft.com/office/drawing/2014/main" id="{09EE8D8F-4393-4CA2-A727-B02179DF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6B"/>
          </a:solidFill>
          <a:ln xmlns:a="http://schemas.openxmlformats.org/drawingml/2006/main" w="0">
            <a:noFill/>
          </a:ln>
        </p:spPr>
      </p:sp>
      <p:sp>
        <p:nvSpPr>
          <p:cNvPr id="8" name="endpoint-get">
            <a:extLst xmlns:a="http://schemas.openxmlformats.org/drawingml/2006/main">
              <a:ext uri="{FF2B5EF4-FFF2-40B4-BE49-F238E27FC236}">
                <a16:creationId xmlns:a16="http://schemas.microsoft.com/office/drawing/2014/main" id="{C38B3F19-0C4F-4B55-8995-1F8B8C6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GET /v1/pedidos/42</a:t>
            </a:r>
          </a:p>
        </p:txBody>
      </p:sp>
      <p:sp>
        <p:nvSpPr>
          <p:cNvPr id="9" name="endpoint-explain">
            <a:extLst xmlns:a="http://schemas.openxmlformats.org/drawingml/2006/main">
              <a:ext uri="{FF2B5EF4-FFF2-40B4-BE49-F238E27FC236}">
                <a16:creationId xmlns:a16="http://schemas.microsoft.com/office/drawing/2014/main" id="{A3A42212-E485-42A5-910F-88DE79E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O método diz o que fazer; o caminho indica em qual recurso.</a:t>
            </a:r>
          </a:p>
        </p:txBody>
      </p:sp>
    </p:spTree>
    <p:extLst>
      <p:ext uri="{BB962C8B-B14F-4D97-AF65-F5344CB8AC3E}">
        <p14:creationId xmlns:p14="http://schemas.microsoft.com/office/powerpoint/2010/main" val="1950243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27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771518E3-E925-4451-AE49-57C237EA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EXEMPLO REAL DE GERENCIAMENTO DE API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1A3BA9-4C48-4A6E-BA93-0C09F4C5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Google Cloud Endpoints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03E3795-9F8E-4051-81DE-A3B9B8E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095FD97-7593-472C-AA37-6FDF6C23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17 / 63</a:t>
            </a:r>
          </a:p>
        </p:txBody>
      </p:sp>
      <p:sp>
        <p:nvSpPr>
          <p:cNvPr id="5" name="cloud-line-1">
            <a:extLst xmlns:a="http://schemas.openxmlformats.org/drawingml/2006/main">
              <a:ext uri="{FF2B5EF4-FFF2-40B4-BE49-F238E27FC236}">
                <a16:creationId xmlns:a16="http://schemas.microsoft.com/office/drawing/2014/main" id="{C141AA19-BE4B-46B1-A98C-3FCFBB86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O caminho /v1/pedidos é um endpoint da API.</a:t>
            </a:r>
          </a:p>
        </p:txBody>
      </p:sp>
      <p:sp>
        <p:nvSpPr>
          <p:cNvPr id="6" name="cloud-line-2">
            <a:extLst xmlns:a="http://schemas.openxmlformats.org/drawingml/2006/main">
              <a:ext uri="{FF2B5EF4-FFF2-40B4-BE49-F238E27FC236}">
                <a16:creationId xmlns:a16="http://schemas.microsoft.com/office/drawing/2014/main" id="{E4569B64-4E4A-4598-BB69-CC11AEB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Cloud Endpoints é o produto que ajuda a publicar e gerenciar a API.</a:t>
            </a:r>
          </a:p>
        </p:txBody>
      </p:sp>
      <p:sp>
        <p:nvSpPr>
          <p:cNvPr id="7" name="cloud-url-bg">
            <a:extLst xmlns:a="http://schemas.openxmlformats.org/drawingml/2006/main">
              <a:ext uri="{FF2B5EF4-FFF2-40B4-BE49-F238E27FC236}">
                <a16:creationId xmlns:a16="http://schemas.microsoft.com/office/drawing/2014/main" id="{DD176EBE-C68D-4A5E-B7AB-2F1F68D6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1125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  <a:ln xmlns:a="http://schemas.openxmlformats.org/drawingml/2006/main" w="0">
            <a:noFill/>
          </a:ln>
        </p:spPr>
      </p:sp>
      <p:sp>
        <p:nvSpPr>
          <p:cNvPr id="8" name="cloud-url">
            <a:extLst xmlns:a="http://schemas.openxmlformats.org/drawingml/2006/main">
              <a:ext uri="{FF2B5EF4-FFF2-40B4-BE49-F238E27FC236}">
                <a16:creationId xmlns:a16="http://schemas.microsoft.com/office/drawing/2014/main" id="{40037DC3-B3A7-47F2-9547-6DFE63D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671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api.endpoints.meu-projeto.cloud.goog/v1/pedidos</a:t>
            </a:r>
          </a:p>
        </p:txBody>
      </p:sp>
      <p:sp>
        <p:nvSpPr>
          <p:cNvPr id="9" name="cloud-capabilities">
            <a:extLst xmlns:a="http://schemas.openxmlformats.org/drawingml/2006/main">
              <a:ext uri="{FF2B5EF4-FFF2-40B4-BE49-F238E27FC236}">
                <a16:creationId xmlns:a16="http://schemas.microsoft.com/office/drawing/2014/main" id="{D55981DD-8A53-41A9-AAC5-C0CCFE24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Autenticação    •    cotas    •    métricas    •    OpenAPI</a:t>
            </a:r>
          </a:p>
        </p:txBody>
      </p:sp>
    </p:spTree>
    <p:extLst>
      <p:ext uri="{BB962C8B-B14F-4D97-AF65-F5344CB8AC3E}">
        <p14:creationId xmlns:p14="http://schemas.microsoft.com/office/powerpoint/2010/main" val="8056330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ABB2FE13-9167-4505-91A6-17163D13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54001167-C8AA-437F-8BA5-6378E386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HTTP: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pedido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por dentro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402adb9d146ae"/>
          <a:stretch xmlns:a="http://schemas.openxmlformats.org/drawingml/2006/main"/>
        </p:blipFill>
        <p:spPr>
          <a:xfrm xmlns:a="http://schemas.openxmlformats.org/drawingml/2006/main">
            <a:off x="6010275" y="1336322"/>
            <a:ext cx="5648325" cy="4109156"/>
          </a:xfrm>
          <a:prstGeom xmlns:a="http://schemas.openxmlformats.org/drawingml/2006/main" prst="rect">
            <a:avLst/>
          </a:prstGeom>
        </p:spPr>
      </p:pic>
      <p:sp>
        <p:nvSpPr>
          <p:cNvPr id="6" name="text-80">
            <a:extLst xmlns:a="http://schemas.openxmlformats.org/drawingml/2006/main">
              <a:ext uri="{FF2B5EF4-FFF2-40B4-BE49-F238E27FC236}">
                <a16:creationId xmlns:a16="http://schemas.microsoft.com/office/drawing/2014/main" id="{81C41717-0D98-4785-B4BF-5E007611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“me vê um risoto”</a:t>
            </a:r>
          </a:p>
        </p:txBody>
      </p:sp>
      <p:sp>
        <p:nvSpPr>
          <p:cNvPr id="7" name="text-81">
            <a:extLst xmlns:a="http://schemas.openxmlformats.org/drawingml/2006/main">
              <a:ext uri="{FF2B5EF4-FFF2-40B4-BE49-F238E27FC236}">
                <a16:creationId xmlns:a16="http://schemas.microsoft.com/office/drawing/2014/main" id="{91A4A42F-05B4-4020-81AE-7940D319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338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562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F2562"/>
                </a:solidFill>
                <a:latin typeface="Consolas"/>
                <a:ea typeface="Consolas"/>
                <a:cs typeface="Consolas"/>
              </a:rPr>
              <a:t>POST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F2562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F2562"/>
                </a:solidFill>
                <a:latin typeface="Consolas"/>
                <a:ea typeface="Consolas"/>
                <a:cs typeface="Consolas"/>
              </a:rPr>
              <a:t>/api/pedidos</a:t>
            </a:r>
          </a:p>
        </p:txBody>
      </p:sp>
      <p:sp>
        <p:nvSpPr>
          <p:cNvPr id="10" name="history-spec-118">
            <a:extLst xmlns:a="http://schemas.openxmlformats.org/drawingml/2006/main">
              <a:ext uri="{FF2B5EF4-FFF2-40B4-BE49-F238E27FC236}">
                <a16:creationId xmlns:a16="http://schemas.microsoft.com/office/drawing/2014/main" id="{2C553DC0-CAFA-4B41-8547-77508D6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19">
            <a:extLst xmlns:a="http://schemas.openxmlformats.org/drawingml/2006/main">
              <a:ext uri="{FF2B5EF4-FFF2-40B4-BE49-F238E27FC236}">
                <a16:creationId xmlns:a16="http://schemas.microsoft.com/office/drawing/2014/main" id="{69D85F92-8BF0-497F-9CBF-B2C4E400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18 / 63</a:t>
            </a:r>
          </a:p>
        </p:txBody>
      </p:sp>
    </p:spTree>
    <p:extLst>
      <p:ext uri="{BB962C8B-B14F-4D97-AF65-F5344CB8AC3E}">
        <p14:creationId xmlns:p14="http://schemas.microsoft.com/office/powerpoint/2010/main" val="12337445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E595C01-366B-4677-B4BB-87BEF93C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O PROTOCOLO DA WEB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F2E2FF-1D5B-460A-AD82-4933961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Por que HTTP/1.1 foi adotado?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283F607-2ABA-4499-8252-002F3C2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726BBD6-6B3E-481E-85CF-C81F532F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19 / 63</a:t>
            </a:r>
          </a:p>
        </p:txBody>
      </p:sp>
      <p:sp>
        <p:nvSpPr>
          <p:cNvPr id="5" name="http-old">
            <a:extLst xmlns:a="http://schemas.openxmlformats.org/drawingml/2006/main">
              <a:ext uri="{FF2B5EF4-FFF2-40B4-BE49-F238E27FC236}">
                <a16:creationId xmlns:a16="http://schemas.microsoft.com/office/drawing/2014/main" id="{A5300EA7-4FF9-47B3-9E18-6235DCE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http-old-body">
            <a:extLst xmlns:a="http://schemas.openxmlformats.org/drawingml/2006/main">
              <a:ext uri="{FF2B5EF4-FFF2-40B4-BE49-F238E27FC236}">
                <a16:creationId xmlns:a16="http://schemas.microsoft.com/office/drawing/2014/main" id="{B49F20C2-9824-4AA8-81CF-019A514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Uma nova conexão TCP para cada pedido era comum no HTTP/1.0.</a:t>
            </a:r>
          </a:p>
        </p:txBody>
      </p:sp>
      <p:sp>
        <p:nvSpPr>
          <p:cNvPr id="7" name="http-new">
            <a:extLst xmlns:a="http://schemas.openxmlformats.org/drawingml/2006/main">
              <a:ext uri="{FF2B5EF4-FFF2-40B4-BE49-F238E27FC236}">
                <a16:creationId xmlns:a16="http://schemas.microsoft.com/office/drawing/2014/main" id="{E3FBF09B-B308-4BEC-8C62-3E8B9F9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COM HTTP/1.1</a:t>
            </a:r>
          </a:p>
        </p:txBody>
      </p:sp>
      <p:sp>
        <p:nvSpPr>
          <p:cNvPr id="8" name="http-new-body">
            <a:extLst xmlns:a="http://schemas.openxmlformats.org/drawingml/2006/main">
              <a:ext uri="{FF2B5EF4-FFF2-40B4-BE49-F238E27FC236}">
                <a16:creationId xmlns:a16="http://schemas.microsoft.com/office/drawing/2014/main" id="{3C15698C-D72D-4CF0-A24E-EA64821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Conexão persistente por padrão; o Host identifica o site no servidor.</a:t>
            </a:r>
          </a:p>
        </p:txBody>
      </p:sp>
      <p:sp>
        <p:nvSpPr>
          <p:cNvPr id="9" name="http-why">
            <a:extLst xmlns:a="http://schemas.openxmlformats.org/drawingml/2006/main">
              <a:ext uri="{FF2B5EF4-FFF2-40B4-BE49-F238E27FC236}">
                <a16:creationId xmlns:a16="http://schemas.microsoft.com/office/drawing/2014/main" id="{03BC43E9-B53A-48F1-BB4E-58B72D48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Para APIs, isso trouxe uma base comum para métodos, cabeçalhos e respostas.</a:t>
            </a:r>
          </a:p>
        </p:txBody>
      </p:sp>
    </p:spTree>
    <p:extLst>
      <p:ext uri="{BB962C8B-B14F-4D97-AF65-F5344CB8AC3E}">
        <p14:creationId xmlns:p14="http://schemas.microsoft.com/office/powerpoint/2010/main" val="14933549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2">
            <a:extLst xmlns:a="http://schemas.openxmlformats.org/drawingml/2006/main">
              <a:ext uri="{FF2B5EF4-FFF2-40B4-BE49-F238E27FC236}">
                <a16:creationId xmlns:a16="http://schemas.microsoft.com/office/drawing/2014/main" id="{464EC4A6-EF68-4DB2-9128-C850958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MÉTODO + ENDEREÇO + HEADERS + DADOS</a:t>
            </a:r>
          </a:p>
        </p:txBody>
      </p:sp>
      <p:sp>
        <p:nvSpPr>
          <p:cNvPr id="2" name="text-83">
            <a:extLst xmlns:a="http://schemas.openxmlformats.org/drawingml/2006/main">
              <a:ext uri="{FF2B5EF4-FFF2-40B4-BE49-F238E27FC236}">
                <a16:creationId xmlns:a16="http://schemas.microsoft.com/office/drawing/2014/main" id="{5935056E-8A1E-4512-847F-58C6FE89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 requisição: “sem cebola” vai no body.</a:t>
            </a:r>
          </a:p>
        </p:txBody>
      </p:sp>
      <p:sp>
        <p:nvSpPr>
          <p:cNvPr id="5" name="panel-86">
            <a:extLst xmlns:a="http://schemas.openxmlformats.org/drawingml/2006/main">
              <a:ext uri="{FF2B5EF4-FFF2-40B4-BE49-F238E27FC236}">
                <a16:creationId xmlns:a16="http://schemas.microsoft.com/office/drawing/2014/main" id="{2137CBB6-C0B8-4BF4-8139-4DC802C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666750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57A27FC5-03B8-4CFD-A6C2-BF497AA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62103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POST /api/pedidos?mesa=12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Authorization: Bearer &lt;token&gt;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  <a:p xmlns:a="http://schemas.openxmlformats.org/drawingml/2006/main">
            <a:pPr>
              <a:buNone/>
              <a:defRPr sz="180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Accept: application/json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{ "prato": "risoto",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"obs": "sem cebola" }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328fc679a4f79"/>
          <a:stretch xmlns:a="http://schemas.openxmlformats.org/drawingml/2006/main"/>
        </p:blipFill>
        <p:spPr>
          <a:xfrm xmlns:a="http://schemas.openxmlformats.org/drawingml/2006/main">
            <a:off x="7642225" y="2152650"/>
            <a:ext cx="4013200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panel-89">
            <a:extLst xmlns:a="http://schemas.openxmlformats.org/drawingml/2006/main">
              <a:ext uri="{FF2B5EF4-FFF2-40B4-BE49-F238E27FC236}">
                <a16:creationId xmlns:a16="http://schemas.microsoft.com/office/drawing/2014/main" id="{52D356EF-007E-4BEB-B3AB-F7B61004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34000"/>
            <a:ext cx="4019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10" name="text-90">
            <a:extLst xmlns:a="http://schemas.openxmlformats.org/drawingml/2006/main">
              <a:ext uri="{FF2B5EF4-FFF2-40B4-BE49-F238E27FC236}">
                <a16:creationId xmlns:a16="http://schemas.microsoft.com/office/drawing/2014/main" id="{E432218F-CAD3-42BF-98ED-A8DB32A6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81625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E a cebola veio no header?</a:t>
            </a:r>
          </a:p>
        </p:txBody>
      </p:sp>
      <p:sp>
        <p:nvSpPr>
          <p:cNvPr id="13" name="content-addition-14">
            <a:extLst xmlns:a="http://schemas.openxmlformats.org/drawingml/2006/main">
              <a:ext uri="{FF2B5EF4-FFF2-40B4-BE49-F238E27FC236}">
                <a16:creationId xmlns:a16="http://schemas.microsoft.com/office/drawing/2014/main" id="{01A504B2-2511-499A-9E80-3942758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43475"/>
            <a:ext cx="678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Path e query: recurso e parâmetros da chamada.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Authorization: credencial de quem faz o pedido.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Content-Type: formato enviado. Accept: formato aceito.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Body: dados que a operação precisa processar.</a:t>
            </a:r>
          </a:p>
        </p:txBody>
      </p:sp>
      <p:sp>
        <p:nvSpPr>
          <p:cNvPr id="15" name="history-spec-120">
            <a:extLst xmlns:a="http://schemas.openxmlformats.org/drawingml/2006/main">
              <a:ext uri="{FF2B5EF4-FFF2-40B4-BE49-F238E27FC236}">
                <a16:creationId xmlns:a16="http://schemas.microsoft.com/office/drawing/2014/main" id="{FED45BF5-9470-41B9-8CEB-10D28B9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6" name="history-spec-121">
            <a:extLst xmlns:a="http://schemas.openxmlformats.org/drawingml/2006/main">
              <a:ext uri="{FF2B5EF4-FFF2-40B4-BE49-F238E27FC236}">
                <a16:creationId xmlns:a16="http://schemas.microsoft.com/office/drawing/2014/main" id="{7D15D17B-62D0-4A1D-8083-0184909C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20 / 63</a:t>
            </a:r>
          </a:p>
        </p:txBody>
      </p:sp>
    </p:spTree>
    <p:extLst>
      <p:ext uri="{BB962C8B-B14F-4D97-AF65-F5344CB8AC3E}">
        <p14:creationId xmlns:p14="http://schemas.microsoft.com/office/powerpoint/2010/main" val="9700686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21765CBB-2EDD-4379-A4B0-7EE40E1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STATUS + HEADERS + CORPO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EB33E0B9-0EBE-42B0-BC95-DF860C7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201 Created: o pedido nasceu.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302092511499c"/>
          <a:stretch xmlns:a="http://schemas.openxmlformats.org/drawingml/2006/main"/>
        </p:blipFill>
        <p:spPr>
          <a:xfrm xmlns:a="http://schemas.openxmlformats.org/drawingml/2006/main">
            <a:off x="523875" y="1928813"/>
            <a:ext cx="5172075" cy="3448050"/>
          </a:xfrm>
          <a:prstGeom xmlns:a="http://schemas.openxmlformats.org/drawingml/2006/main" prst="rect">
            <a:avLst/>
          </a:prstGeom>
        </p:spPr>
      </p:pic>
      <p:sp>
        <p:nvSpPr>
          <p:cNvPr id="6" name="panel-95">
            <a:extLst xmlns:a="http://schemas.openxmlformats.org/drawingml/2006/main">
              <a:ext uri="{FF2B5EF4-FFF2-40B4-BE49-F238E27FC236}">
                <a16:creationId xmlns:a16="http://schemas.microsoft.com/office/drawing/2014/main" id="{F1AC2907-31B6-48B2-AF0C-655EAC00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5626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7" name="text-96">
            <a:extLst xmlns:a="http://schemas.openxmlformats.org/drawingml/2006/main">
              <a:ext uri="{FF2B5EF4-FFF2-40B4-BE49-F238E27FC236}">
                <a16:creationId xmlns:a16="http://schemas.microsoft.com/office/drawing/2014/main" id="{68D851FF-C65D-4502-B36C-5618288E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105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HTTP/1.1 201 Created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Location: /api/pedidos/981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{ "id": 981,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"status": "na_cozinha" }</a:t>
            </a:r>
          </a:p>
        </p:txBody>
      </p:sp>
      <p:sp>
        <p:nvSpPr>
          <p:cNvPr id="8" name="text-97">
            <a:extLst xmlns:a="http://schemas.openxmlformats.org/drawingml/2006/main">
              <a:ext uri="{FF2B5EF4-FFF2-40B4-BE49-F238E27FC236}">
                <a16:creationId xmlns:a16="http://schemas.microsoft.com/office/drawing/2014/main" id="{2C75936F-253C-4639-8298-22AA5B1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Um brinde ao JSON que chegou.</a:t>
            </a:r>
          </a:p>
        </p:txBody>
      </p:sp>
      <p:sp>
        <p:nvSpPr>
          <p:cNvPr id="11" name="content-addition-15">
            <a:extLst xmlns:a="http://schemas.openxmlformats.org/drawingml/2006/main">
              <a:ext uri="{FF2B5EF4-FFF2-40B4-BE49-F238E27FC236}">
                <a16:creationId xmlns:a16="http://schemas.microsoft.com/office/drawing/2014/main" id="{599272ED-D6F4-49AB-843A-10B29D0A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55626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201 confirma a criação.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Location aponta para o novo recurso.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Content-Type descreve o corpo recebido.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Em 204 No Content, a resposta vem sem corpo.</a:t>
            </a:r>
          </a:p>
        </p:txBody>
      </p:sp>
      <p:sp>
        <p:nvSpPr>
          <p:cNvPr id="13" name="history-spec-122">
            <a:extLst xmlns:a="http://schemas.openxmlformats.org/drawingml/2006/main">
              <a:ext uri="{FF2B5EF4-FFF2-40B4-BE49-F238E27FC236}">
                <a16:creationId xmlns:a16="http://schemas.microsoft.com/office/drawing/2014/main" id="{F04F7A6C-E332-4A94-9A62-2ADF7B3F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4" name="history-spec-123">
            <a:extLst xmlns:a="http://schemas.openxmlformats.org/drawingml/2006/main">
              <a:ext uri="{FF2B5EF4-FFF2-40B4-BE49-F238E27FC236}">
                <a16:creationId xmlns:a16="http://schemas.microsoft.com/office/drawing/2014/main" id="{6DF72855-2D8B-4276-95EF-B4F507A0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21 / 63</a:t>
            </a:r>
          </a:p>
        </p:txBody>
      </p:sp>
    </p:spTree>
    <p:extLst>
      <p:ext uri="{BB962C8B-B14F-4D97-AF65-F5344CB8AC3E}">
        <p14:creationId xmlns:p14="http://schemas.microsoft.com/office/powerpoint/2010/main" val="4273361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27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AF433D60-ADB1-4849-8BA4-AD5F9D43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 CORPO DA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1E73B2-A13B-43BB-8C71-F18F09A6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JSON e XML: dois formatos de retorno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1F90DA-C357-4D1A-8234-749592A8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B7ED82E-9E7D-4E31-8AFB-4D7065D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22 / 63</a:t>
            </a:r>
          </a:p>
        </p:txBody>
      </p:sp>
      <p:sp>
        <p:nvSpPr>
          <p:cNvPr id="5" name="json-label">
            <a:extLst xmlns:a="http://schemas.openxmlformats.org/drawingml/2006/main">
              <a:ext uri="{FF2B5EF4-FFF2-40B4-BE49-F238E27FC236}">
                <a16:creationId xmlns:a16="http://schemas.microsoft.com/office/drawing/2014/main" id="{DEF69169-D7EE-4E0C-91C7-39A776F7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JSON · application/json</a:t>
            </a:r>
          </a:p>
        </p:txBody>
      </p:sp>
      <p:sp>
        <p:nvSpPr>
          <p:cNvPr id="6" name="xml-label">
            <a:extLst xmlns:a="http://schemas.openxmlformats.org/drawingml/2006/main">
              <a:ext uri="{FF2B5EF4-FFF2-40B4-BE49-F238E27FC236}">
                <a16:creationId xmlns:a16="http://schemas.microsoft.com/office/drawing/2014/main" id="{9C2AAE91-2FA4-4E3A-A304-3408BBF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24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XML · application/xml</a:t>
            </a:r>
          </a:p>
        </p:txBody>
      </p:sp>
      <p:sp>
        <p:nvSpPr>
          <p:cNvPr id="7" name="json-bg">
            <a:extLst xmlns:a="http://schemas.openxmlformats.org/drawingml/2006/main">
              <a:ext uri="{FF2B5EF4-FFF2-40B4-BE49-F238E27FC236}">
                <a16:creationId xmlns:a16="http://schemas.microsoft.com/office/drawing/2014/main" id="{856BC6F5-38B6-486E-A83C-EE44845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52578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  <a:ln xmlns:a="http://schemas.openxmlformats.org/drawingml/2006/main" w="0">
            <a:noFill/>
          </a:ln>
        </p:spPr>
      </p:sp>
      <p:sp>
        <p:nvSpPr>
          <p:cNvPr id="8" name="xml-bg">
            <a:extLst xmlns:a="http://schemas.openxmlformats.org/drawingml/2006/main">
              <a:ext uri="{FF2B5EF4-FFF2-40B4-BE49-F238E27FC236}">
                <a16:creationId xmlns:a16="http://schemas.microsoft.com/office/drawing/2014/main" id="{4217E77A-1D39-48E9-8E38-5FA295E3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38375"/>
            <a:ext cx="5400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  <a:ln xmlns:a="http://schemas.openxmlformats.org/drawingml/2006/main" w="0">
            <a:noFill/>
          </a:ln>
        </p:spPr>
      </p:sp>
      <p:sp>
        <p:nvSpPr>
          <p:cNvPr id="9" name="json-code">
            <a:extLst xmlns:a="http://schemas.openxmlformats.org/drawingml/2006/main">
              <a:ext uri="{FF2B5EF4-FFF2-40B4-BE49-F238E27FC236}">
                <a16:creationId xmlns:a16="http://schemas.microsoft.com/office/drawing/2014/main" id="{C0336003-61A0-4D06-A672-3F12B16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62225"/>
            <a:ext cx="4857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232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"id": 42,</a:t>
            </a:r>
          </a:p>
          <a:p xmlns:a="http://schemas.openxmlformats.org/drawingml/2006/main">
            <a:pPr algn="l">
              <a:defRPr sz="232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"status": "pronto"</a:t>
            </a:r>
          </a:p>
          <a:p xmlns:a="http://schemas.openxmlformats.org/drawingml/2006/main">
            <a:pPr algn="l">
              <a:defRPr sz="232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xml-code">
            <a:extLst xmlns:a="http://schemas.openxmlformats.org/drawingml/2006/main">
              <a:ext uri="{FF2B5EF4-FFF2-40B4-BE49-F238E27FC236}">
                <a16:creationId xmlns:a16="http://schemas.microsoft.com/office/drawing/2014/main" id="{40AA827F-445B-4E3D-807A-9210CAE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62225"/>
            <a:ext cx="5048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&lt;pedido&gt;</a:t>
            </a:r>
          </a:p>
          <a:p xmlns:a="http://schemas.openxmlformats.org/drawingml/2006/main">
            <a:pPr algn="l">
              <a:defRPr sz="1950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&lt;id&gt;42&lt;/id&gt;</a:t>
            </a:r>
          </a:p>
          <a:p xmlns:a="http://schemas.openxmlformats.org/drawingml/2006/main">
            <a:pPr algn="l">
              <a:defRPr sz="1950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&lt;status&gt;pronto&lt;/status&gt;</a:t>
            </a:r>
          </a:p>
          <a:p xmlns:a="http://schemas.openxmlformats.org/drawingml/2006/main">
            <a:pPr algn="l">
              <a:defRPr sz="1950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&lt;/pedido&gt;</a:t>
            </a:r>
          </a:p>
        </p:txBody>
      </p:sp>
      <p:sp>
        <p:nvSpPr>
          <p:cNvPr id="11" name="formats-note">
            <a:extLst xmlns:a="http://schemas.openxmlformats.org/drawingml/2006/main">
              <a:ext uri="{FF2B5EF4-FFF2-40B4-BE49-F238E27FC236}">
                <a16:creationId xmlns:a16="http://schemas.microsoft.com/office/drawing/2014/main" id="{B2502A7A-63C4-47C3-A1B2-5F4B53BC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81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O status HTTP diz como foi a requisição. O corpo carrega os dados.</a:t>
            </a:r>
          </a:p>
        </p:txBody>
      </p:sp>
    </p:spTree>
    <p:extLst>
      <p:ext uri="{BB962C8B-B14F-4D97-AF65-F5344CB8AC3E}">
        <p14:creationId xmlns:p14="http://schemas.microsoft.com/office/powerpoint/2010/main" val="18453061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A5A2044A-A1BE-4A07-BA7A-7D87F7E9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HTTP NÃO É SINÔNIMO DE CRUD</a:t>
            </a:r>
          </a:p>
        </p:txBody>
      </p:sp>
      <p:sp>
        <p:nvSpPr>
          <p:cNvPr id="2" name="text-99">
            <a:extLst xmlns:a="http://schemas.openxmlformats.org/drawingml/2006/main">
              <a:ext uri="{FF2B5EF4-FFF2-40B4-BE49-F238E27FC236}">
                <a16:creationId xmlns:a16="http://schemas.microsoft.com/office/drawing/2014/main" id="{2218F5DD-14F2-4818-8B17-B7864E3C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Cinco verbos. Cinco intenções.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62125"/>
          <a:ext xmlns:a="http://schemas.openxmlformats.org/drawingml/2006/main" cx="111252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6315075"/>
                <a:gridCol w="2762250"/>
              </a:tblGrid>
              <a:tr h="6381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Intenção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Idempotente?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381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Consultar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381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Processar / criar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Não garantido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381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PUT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Substituir / criar no endereço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381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Alterar parte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Não garantido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381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Remover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6" name="panel-102">
            <a:extLst xmlns:a="http://schemas.openxmlformats.org/drawingml/2006/main">
              <a:ext uri="{FF2B5EF4-FFF2-40B4-BE49-F238E27FC236}">
                <a16:creationId xmlns:a16="http://schemas.microsoft.com/office/drawing/2014/main" id="{5AC31CCB-F2B7-4FE6-9BCF-5203640D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5E56012C-4742-4DC9-A93E-3864BA11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Idempotência: repetir tem o mesmo efeito pretendido.</a:t>
            </a:r>
          </a:p>
        </p:txBody>
      </p:sp>
      <p:sp>
        <p:nvSpPr>
          <p:cNvPr id="10" name="history-spec-124">
            <a:extLst xmlns:a="http://schemas.openxmlformats.org/drawingml/2006/main">
              <a:ext uri="{FF2B5EF4-FFF2-40B4-BE49-F238E27FC236}">
                <a16:creationId xmlns:a16="http://schemas.microsoft.com/office/drawing/2014/main" id="{B5B463C1-B0FE-4D79-9146-0A6572D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25">
            <a:extLst xmlns:a="http://schemas.openxmlformats.org/drawingml/2006/main">
              <a:ext uri="{FF2B5EF4-FFF2-40B4-BE49-F238E27FC236}">
                <a16:creationId xmlns:a16="http://schemas.microsoft.com/office/drawing/2014/main" id="{39320763-D2AD-4203-83AD-B644D8D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23 / 63</a:t>
            </a:r>
          </a:p>
        </p:txBody>
      </p:sp>
    </p:spTree>
    <p:extLst>
      <p:ext uri="{BB962C8B-B14F-4D97-AF65-F5344CB8AC3E}">
        <p14:creationId xmlns:p14="http://schemas.microsoft.com/office/powerpoint/2010/main" val="18793476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04">
            <a:extLst xmlns:a="http://schemas.openxmlformats.org/drawingml/2006/main">
              <a:ext uri="{FF2B5EF4-FFF2-40B4-BE49-F238E27FC236}">
                <a16:creationId xmlns:a16="http://schemas.microsoft.com/office/drawing/2014/main" id="{B0B869FA-2DCD-4EBE-AF2C-4480410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DRAKE APRESENTA: SEMÂNTICA HTTP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FC2CCF8A-F369-45F3-BAD2-F732CF75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POST tem mais de um emprego.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33de9abca4e38"/>
          <a:stretch xmlns:a="http://schemas.openxmlformats.org/drawingml/2006/main"/>
        </p:blipFill>
        <p:spPr>
          <a:xfrm xmlns:a="http://schemas.openxmlformats.org/drawingml/2006/main">
            <a:off x="533400" y="1771650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2581C9A8-FAD9-4E92-AFA9-B6A5BCA6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POST só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cria coisas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7B53A54E-0257-4754-91EF-C644E19E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24375"/>
            <a:ext cx="1952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POST processa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 operação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do recurso</a:t>
            </a:r>
          </a:p>
        </p:txBody>
      </p:sp>
      <p:sp>
        <p:nvSpPr>
          <p:cNvPr id="8" name="panel-110">
            <a:extLst xmlns:a="http://schemas.openxmlformats.org/drawingml/2006/main">
              <a:ext uri="{FF2B5EF4-FFF2-40B4-BE49-F238E27FC236}">
                <a16:creationId xmlns:a16="http://schemas.microsoft.com/office/drawing/2014/main" id="{23AE646B-4632-4A0E-8A09-9554925E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09800"/>
            <a:ext cx="617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BD376FB5-5D34-417B-9CA2-A316C41B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POST /pedidos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POST /calcular-frete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POST /checkout</a:t>
            </a:r>
          </a:p>
        </p:txBody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F4BAD5C0-3E03-425F-96CA-835EFBC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6250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Repetiu o checkout?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cartão sentiu.</a:t>
            </a:r>
          </a:p>
        </p:txBody>
      </p:sp>
      <p:sp>
        <p:nvSpPr>
          <p:cNvPr id="13" name="history-spec-126">
            <a:extLst xmlns:a="http://schemas.openxmlformats.org/drawingml/2006/main">
              <a:ext uri="{FF2B5EF4-FFF2-40B4-BE49-F238E27FC236}">
                <a16:creationId xmlns:a16="http://schemas.microsoft.com/office/drawing/2014/main" id="{7B4162B4-1057-484B-AACE-906278DD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4" name="history-spec-127">
            <a:extLst xmlns:a="http://schemas.openxmlformats.org/drawingml/2006/main">
              <a:ext uri="{FF2B5EF4-FFF2-40B4-BE49-F238E27FC236}">
                <a16:creationId xmlns:a16="http://schemas.microsoft.com/office/drawing/2014/main" id="{AA0A5193-CE4C-41D8-A937-CD2D0FA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24 / 63</a:t>
            </a:r>
          </a:p>
        </p:txBody>
      </p:sp>
    </p:spTree>
    <p:extLst>
      <p:ext uri="{BB962C8B-B14F-4D97-AF65-F5344CB8AC3E}">
        <p14:creationId xmlns:p14="http://schemas.microsoft.com/office/powerpoint/2010/main" val="1518739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C48D0483-AD25-46EB-91C6-CD9F7D74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 RESULTADO DA REQUISIÇÃO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E47ACBCB-ECCE-435F-9CA5-F1BA8ED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Status HTTP: os gatos explicam.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f88799a034c8e"/>
          <a:stretch xmlns:a="http://schemas.openxmlformats.org/drawingml/2006/main"/>
        </p:blipFill>
        <p:spPr>
          <a:xfrm xmlns:a="http://schemas.openxmlformats.org/drawingml/2006/main">
            <a:off x="535781" y="1971675"/>
            <a:ext cx="3548063" cy="28384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d04e4d97e48fb"/>
          <a:stretch xmlns:a="http://schemas.openxmlformats.org/drawingml/2006/main"/>
        </p:blipFill>
        <p:spPr>
          <a:xfrm xmlns:a="http://schemas.openxmlformats.org/drawingml/2006/main">
            <a:off x="4326731" y="1971675"/>
            <a:ext cx="3548063" cy="28384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0f789ddaa4be5"/>
          <a:stretch xmlns:a="http://schemas.openxmlformats.org/drawingml/2006/main"/>
        </p:blipFill>
        <p:spPr>
          <a:xfrm xmlns:a="http://schemas.openxmlformats.org/drawingml/2006/main">
            <a:off x="8108156" y="1971675"/>
            <a:ext cx="3548063" cy="2838450"/>
          </a:xfrm>
          <a:prstGeom xmlns:a="http://schemas.openxmlformats.org/drawingml/2006/main" prst="rect">
            <a:avLst/>
          </a:prstGeom>
        </p:spPr>
      </p:pic>
      <p:sp>
        <p:nvSpPr>
          <p:cNvPr id="8" name="text-117">
            <a:extLst xmlns:a="http://schemas.openxmlformats.org/drawingml/2006/main">
              <a:ext uri="{FF2B5EF4-FFF2-40B4-BE49-F238E27FC236}">
                <a16:creationId xmlns:a16="http://schemas.microsoft.com/office/drawing/2014/main" id="{0545EA84-CB39-4C8B-B24A-FF161DC6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3552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2xx · Sucesso</a:t>
            </a:r>
          </a:p>
        </p:txBody>
      </p:sp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095B76DF-C388-4D51-B6F2-37951C6F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33975"/>
            <a:ext cx="3552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4xx · Problema na requisição</a:t>
            </a:r>
          </a:p>
        </p:txBody>
      </p:sp>
      <p:sp>
        <p:nvSpPr>
          <p:cNvPr id="10" name="text-119">
            <a:extLst xmlns:a="http://schemas.openxmlformats.org/drawingml/2006/main">
              <a:ext uri="{FF2B5EF4-FFF2-40B4-BE49-F238E27FC236}">
                <a16:creationId xmlns:a16="http://schemas.microsoft.com/office/drawing/2014/main" id="{B3E60B28-81A5-4DC8-BC75-8C98B350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33975"/>
            <a:ext cx="3552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5xx · Falha no servidor</a:t>
            </a:r>
          </a:p>
        </p:txBody>
      </p:sp>
      <p:sp>
        <p:nvSpPr>
          <p:cNvPr id="15" name="history-spec-128">
            <a:extLst xmlns:a="http://schemas.openxmlformats.org/drawingml/2006/main">
              <a:ext uri="{FF2B5EF4-FFF2-40B4-BE49-F238E27FC236}">
                <a16:creationId xmlns:a16="http://schemas.microsoft.com/office/drawing/2014/main" id="{B810920E-D07F-4780-A4D6-FD741F2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6" name="history-spec-129">
            <a:extLst xmlns:a="http://schemas.openxmlformats.org/drawingml/2006/main">
              <a:ext uri="{FF2B5EF4-FFF2-40B4-BE49-F238E27FC236}">
                <a16:creationId xmlns:a16="http://schemas.microsoft.com/office/drawing/2014/main" id="{6684529E-5BCA-4336-80EF-718F78B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25 / 63</a:t>
            </a:r>
          </a:p>
        </p:txBody>
      </p:sp>
    </p:spTree>
    <p:extLst>
      <p:ext uri="{BB962C8B-B14F-4D97-AF65-F5344CB8AC3E}">
        <p14:creationId xmlns:p14="http://schemas.microsoft.com/office/powerpoint/2010/main" val="1057628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FCB24833-F62F-4DB0-8C78-FD524343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PAZ, AMOR E JSON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1646BFE7-5299-4558-AA3F-79208EDB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Tier list totalmente imparcial™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6572250" cy="397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1666875"/>
                <a:gridCol w="4095750"/>
              </a:tblGrid>
              <a:tr h="661988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Tradução livre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61988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200 / 201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Tudo certo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61988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204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Feito. Sem textão.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61988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404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Não encontrei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61988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429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Calma, jovem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61988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 cozinha parou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66e8878ca4802"/>
          <a:stretch xmlns:a="http://schemas.openxmlformats.org/drawingml/2006/main"/>
        </p:blipFill>
        <p:spPr>
          <a:xfrm xmlns:a="http://schemas.openxmlformats.org/drawingml/2006/main">
            <a:off x="7525941" y="2257425"/>
            <a:ext cx="4131469" cy="3305175"/>
          </a:xfrm>
          <a:prstGeom xmlns:a="http://schemas.openxmlformats.org/drawingml/2006/main" prst="rect">
            <a:avLst/>
          </a:prstGeom>
        </p:spPr>
      </p:pic>
      <p:sp>
        <p:nvSpPr>
          <p:cNvPr id="10" name="history-spec-130">
            <a:extLst xmlns:a="http://schemas.openxmlformats.org/drawingml/2006/main">
              <a:ext uri="{FF2B5EF4-FFF2-40B4-BE49-F238E27FC236}">
                <a16:creationId xmlns:a16="http://schemas.microsoft.com/office/drawing/2014/main" id="{0DB134A4-4994-40BD-8F32-4C97C66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31">
            <a:extLst xmlns:a="http://schemas.openxmlformats.org/drawingml/2006/main">
              <a:ext uri="{FF2B5EF4-FFF2-40B4-BE49-F238E27FC236}">
                <a16:creationId xmlns:a16="http://schemas.microsoft.com/office/drawing/2014/main" id="{8DE5624E-F985-4FF9-BB43-D7A11FA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26 / 63</a:t>
            </a:r>
          </a:p>
        </p:txBody>
      </p:sp>
    </p:spTree>
    <p:extLst>
      <p:ext uri="{BB962C8B-B14F-4D97-AF65-F5344CB8AC3E}">
        <p14:creationId xmlns:p14="http://schemas.microsoft.com/office/powerpoint/2010/main" val="13151993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24">
            <a:extLst xmlns:a="http://schemas.openxmlformats.org/drawingml/2006/main">
              <a:ext uri="{FF2B5EF4-FFF2-40B4-BE49-F238E27FC236}">
                <a16:creationId xmlns:a16="http://schemas.microsoft.com/office/drawing/2014/main" id="{88132DAE-230B-4D5E-9719-76B56594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REQUISIÇÃO → PROCESSAMENTO → RESPOSTA</a:t>
            </a:r>
          </a:p>
        </p:txBody>
      </p:sp>
      <p:sp>
        <p:nvSpPr>
          <p:cNvPr id="2" name="text-125">
            <a:extLst xmlns:a="http://schemas.openxmlformats.org/drawingml/2006/main">
              <a:ext uri="{FF2B5EF4-FFF2-40B4-BE49-F238E27FC236}">
                <a16:creationId xmlns:a16="http://schemas.microsoft.com/office/drawing/2014/main" id="{807D5EE1-BFCC-49A9-9B4C-B87A5562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Uma conversa, duas direções.</a:t>
            </a:r>
          </a:p>
        </p:txBody>
      </p:sp>
      <p:sp>
        <p:nvSpPr>
          <p:cNvPr id="5" name="panel-128">
            <a:extLst xmlns:a="http://schemas.openxmlformats.org/drawingml/2006/main">
              <a:ext uri="{FF2B5EF4-FFF2-40B4-BE49-F238E27FC236}">
                <a16:creationId xmlns:a16="http://schemas.microsoft.com/office/drawing/2014/main" id="{621951E2-72DD-4529-BE9A-1E69C665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6" name="text-129">
            <a:extLst xmlns:a="http://schemas.openxmlformats.org/drawingml/2006/main">
              <a:ext uri="{FF2B5EF4-FFF2-40B4-BE49-F238E27FC236}">
                <a16:creationId xmlns:a16="http://schemas.microsoft.com/office/drawing/2014/main" id="{D1E0E055-E6A4-401A-B92C-8177D14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7" name="panel-130">
            <a:extLst xmlns:a="http://schemas.openxmlformats.org/drawingml/2006/main">
              <a:ext uri="{FF2B5EF4-FFF2-40B4-BE49-F238E27FC236}">
                <a16:creationId xmlns:a16="http://schemas.microsoft.com/office/drawing/2014/main" id="{06219AFD-A0C0-4BAC-8233-1D7479C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8" name="text-131">
            <a:extLst xmlns:a="http://schemas.openxmlformats.org/drawingml/2006/main">
              <a:ext uri="{FF2B5EF4-FFF2-40B4-BE49-F238E27FC236}">
                <a16:creationId xmlns:a16="http://schemas.microsoft.com/office/drawing/2014/main" id="{CC54FED8-FE4D-46C4-8825-4E737FF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API / SERVIDOR</a:t>
            </a:r>
          </a:p>
        </p:txBody>
      </p:sp>
      <p:sp>
        <p:nvSpPr>
          <p:cNvPr id="9" name="line-132">
            <a:extLst xmlns:a="http://schemas.openxmlformats.org/drawingml/2006/main">
              <a:ext uri="{FF2B5EF4-FFF2-40B4-BE49-F238E27FC236}">
                <a16:creationId xmlns:a16="http://schemas.microsoft.com/office/drawing/2014/main" id="{7FAA9812-7B82-4220-BFD6-C3E3F3A9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1462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9BCB"/>
            </a:solidFill>
            <a:prstDash val="solid"/>
          </a:ln>
        </p:spPr>
      </p:sp>
      <p:sp>
        <p:nvSpPr>
          <p:cNvPr id="10" name="line-133">
            <a:extLst xmlns:a="http://schemas.openxmlformats.org/drawingml/2006/main">
              <a:ext uri="{FF2B5EF4-FFF2-40B4-BE49-F238E27FC236}">
                <a16:creationId xmlns:a16="http://schemas.microsoft.com/office/drawing/2014/main" id="{3EE7DC91-6DB6-4A8B-A06E-9187AC6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1462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9BCB"/>
            </a:solidFill>
            <a:prstDash val="solid"/>
          </a:ln>
        </p:spPr>
      </p:sp>
      <p:sp>
        <p:nvSpPr>
          <p:cNvPr id="11" name="line-134">
            <a:extLst xmlns:a="http://schemas.openxmlformats.org/drawingml/2006/main">
              <a:ext uri="{FF2B5EF4-FFF2-40B4-BE49-F238E27FC236}">
                <a16:creationId xmlns:a16="http://schemas.microsoft.com/office/drawing/2014/main" id="{AC7DAC7C-1408-4B3E-B084-F301F4AA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4805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2" name="text-135">
            <a:extLst xmlns:a="http://schemas.openxmlformats.org/drawingml/2006/main">
              <a:ext uri="{FF2B5EF4-FFF2-40B4-BE49-F238E27FC236}">
                <a16:creationId xmlns:a16="http://schemas.microsoft.com/office/drawing/2014/main" id="{2F1BD5C4-F5E5-4963-8F3F-1AE9D18C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194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GET /usuarios/42  →</a:t>
            </a:r>
          </a:p>
        </p:txBody>
      </p:sp>
      <p:sp>
        <p:nvSpPr>
          <p:cNvPr id="13" name="line-136">
            <a:extLst xmlns:a="http://schemas.openxmlformats.org/drawingml/2006/main">
              <a:ext uri="{FF2B5EF4-FFF2-40B4-BE49-F238E27FC236}">
                <a16:creationId xmlns:a16="http://schemas.microsoft.com/office/drawing/2014/main" id="{AB66E03B-644E-4D55-8F7A-604B3CC5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43375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2D2"/>
            </a:solidFill>
            <a:prstDash val="solid"/>
          </a:ln>
        </p:spPr>
      </p:sp>
      <p:sp>
        <p:nvSpPr>
          <p:cNvPr id="14" name="text-137">
            <a:extLst xmlns:a="http://schemas.openxmlformats.org/drawingml/2006/main">
              <a:ext uri="{FF2B5EF4-FFF2-40B4-BE49-F238E27FC236}">
                <a16:creationId xmlns:a16="http://schemas.microsoft.com/office/drawing/2014/main" id="{67B25538-D12E-4762-83C0-5503188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14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←  200 OK · { "nome": "Maria" }</a:t>
            </a:r>
          </a:p>
        </p:txBody>
      </p:sp>
      <p:sp>
        <p:nvSpPr>
          <p:cNvPr id="15" name="line-138">
            <a:extLst xmlns:a="http://schemas.openxmlformats.org/drawingml/2006/main">
              <a:ext uri="{FF2B5EF4-FFF2-40B4-BE49-F238E27FC236}">
                <a16:creationId xmlns:a16="http://schemas.microsoft.com/office/drawing/2014/main" id="{DF659FCA-3106-4B7E-B3E6-E3DD191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6" name="text-139">
            <a:extLst xmlns:a="http://schemas.openxmlformats.org/drawingml/2006/main">
              <a:ext uri="{FF2B5EF4-FFF2-40B4-BE49-F238E27FC236}">
                <a16:creationId xmlns:a16="http://schemas.microsoft.com/office/drawing/2014/main" id="{8DBB1813-DEF9-4A2F-9FE0-707475CB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624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GET /usuarios/999  →</a:t>
            </a:r>
          </a:p>
        </p:txBody>
      </p:sp>
      <p:sp>
        <p:nvSpPr>
          <p:cNvPr id="17" name="line-140">
            <a:extLst xmlns:a="http://schemas.openxmlformats.org/drawingml/2006/main">
              <a:ext uri="{FF2B5EF4-FFF2-40B4-BE49-F238E27FC236}">
                <a16:creationId xmlns:a16="http://schemas.microsoft.com/office/drawing/2014/main" id="{8F179374-3815-45B1-B2F3-0E99EBE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48325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2D2"/>
            </a:solidFill>
            <a:prstDash val="solid"/>
          </a:ln>
        </p:spPr>
      </p:sp>
      <p:sp>
        <p:nvSpPr>
          <p:cNvPr id="18" name="text-141">
            <a:extLst xmlns:a="http://schemas.openxmlformats.org/drawingml/2006/main">
              <a:ext uri="{FF2B5EF4-FFF2-40B4-BE49-F238E27FC236}">
                <a16:creationId xmlns:a16="http://schemas.microsoft.com/office/drawing/2014/main" id="{6419FB7D-B43D-44B6-832A-F291DF1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197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←  404 Not Found</a:t>
            </a:r>
          </a:p>
        </p:txBody>
      </p:sp>
      <p:sp>
        <p:nvSpPr>
          <p:cNvPr id="20" name="history-spec-132">
            <a:extLst xmlns:a="http://schemas.openxmlformats.org/drawingml/2006/main">
              <a:ext uri="{FF2B5EF4-FFF2-40B4-BE49-F238E27FC236}">
                <a16:creationId xmlns:a16="http://schemas.microsoft.com/office/drawing/2014/main" id="{E411F2E4-0874-406B-BE65-CAF0E1D5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21" name="history-spec-133">
            <a:extLst xmlns:a="http://schemas.openxmlformats.org/drawingml/2006/main">
              <a:ext uri="{FF2B5EF4-FFF2-40B4-BE49-F238E27FC236}">
                <a16:creationId xmlns:a16="http://schemas.microsoft.com/office/drawing/2014/main" id="{E2EAF9FD-779C-4340-B448-A413DB3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27 / 63</a:t>
            </a:r>
          </a:p>
        </p:txBody>
      </p:sp>
    </p:spTree>
    <p:extLst>
      <p:ext uri="{BB962C8B-B14F-4D97-AF65-F5344CB8AC3E}">
        <p14:creationId xmlns:p14="http://schemas.microsoft.com/office/powerpoint/2010/main" val="1020041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7A4F1873-8D3D-4048-96D4-092C131D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 PROTEÇÃO DA CONEXÃO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A72AB6-9A4A-47CD-B1B6-27C3D1E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HTTPS: o 'S' usa TLS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6BB663E-48D7-41EB-824A-93D214F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B18C119-6E5F-4A0A-84B7-5CA2B921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28 / 63</a:t>
            </a:r>
          </a:p>
        </p:txBody>
      </p:sp>
      <p:sp>
        <p:nvSpPr>
          <p:cNvPr id="5" name="tls-protocol">
            <a:extLst xmlns:a="http://schemas.openxmlformats.org/drawingml/2006/main">
              <a:ext uri="{FF2B5EF4-FFF2-40B4-BE49-F238E27FC236}">
                <a16:creationId xmlns:a16="http://schemas.microsoft.com/office/drawing/2014/main" id="{6ACB661C-0BC4-4AFA-B496-D4CC284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2402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HTTP + TLS = HTTPS</a:t>
            </a:r>
          </a:p>
        </p:txBody>
      </p:sp>
      <p:sp>
        <p:nvSpPr>
          <p:cNvPr id="6" name="tls-conf">
            <a:extLst xmlns:a="http://schemas.openxmlformats.org/drawingml/2006/main">
              <a:ext uri="{FF2B5EF4-FFF2-40B4-BE49-F238E27FC236}">
                <a16:creationId xmlns:a16="http://schemas.microsoft.com/office/drawing/2014/main" id="{91D30C02-0CA5-4009-A6D5-5C763F6A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Sigilo: terceiros não leem o tráfego em trânsito.</a:t>
            </a:r>
          </a:p>
        </p:txBody>
      </p:sp>
      <p:sp>
        <p:nvSpPr>
          <p:cNvPr id="7" name="tls-integrity">
            <a:extLst xmlns:a="http://schemas.openxmlformats.org/drawingml/2006/main">
              <a:ext uri="{FF2B5EF4-FFF2-40B4-BE49-F238E27FC236}">
                <a16:creationId xmlns:a16="http://schemas.microsoft.com/office/drawing/2014/main" id="{647C1C04-7135-45B7-BA2D-0F0D1865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Integridade: alterações no caminho são detectadas.</a:t>
            </a:r>
          </a:p>
        </p:txBody>
      </p:sp>
      <p:sp>
        <p:nvSpPr>
          <p:cNvPr id="8" name="tls-auth">
            <a:extLst xmlns:a="http://schemas.openxmlformats.org/drawingml/2006/main">
              <a:ext uri="{FF2B5EF4-FFF2-40B4-BE49-F238E27FC236}">
                <a16:creationId xmlns:a16="http://schemas.microsoft.com/office/drawing/2014/main" id="{BDD9598B-9483-485A-BE34-828E4A78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91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Certificado: ajuda o cliente a autenticar o servidor.</a:t>
            </a:r>
          </a:p>
        </p:txBody>
      </p:sp>
      <p:sp>
        <p:nvSpPr>
          <p:cNvPr id="9" name="tls-old">
            <a:extLst xmlns:a="http://schemas.openxmlformats.org/drawingml/2006/main">
              <a:ext uri="{FF2B5EF4-FFF2-40B4-BE49-F238E27FC236}">
                <a16:creationId xmlns:a16="http://schemas.microsoft.com/office/drawing/2014/main" id="{B3AA00EB-2BB3-4336-8691-3122DA8F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“SSL” é o nome antigo; o protocolo atual é TLS.</a:t>
            </a:r>
          </a:p>
        </p:txBody>
      </p:sp>
    </p:spTree>
    <p:extLst>
      <p:ext uri="{BB962C8B-B14F-4D97-AF65-F5344CB8AC3E}">
        <p14:creationId xmlns:p14="http://schemas.microsoft.com/office/powerpoint/2010/main" val="1202589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2027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80FE32A6-9402-48B0-8175-1D5C653B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 CREDENCIAL DA REQUISIÇÃO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E0695B-E763-4B4E-8997-EC96881B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Token: mostre que você pode entrar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368670-1362-4F44-B40B-F06F1909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B9AA996-65F6-46E4-A68C-C393D062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29 / 63</a:t>
            </a:r>
          </a:p>
        </p:txBody>
      </p:sp>
      <p:sp>
        <p:nvSpPr>
          <p:cNvPr id="5" name="token-code">
            <a:extLst xmlns:a="http://schemas.openxmlformats.org/drawingml/2006/main">
              <a:ext uri="{FF2B5EF4-FFF2-40B4-BE49-F238E27FC236}">
                <a16:creationId xmlns:a16="http://schemas.microsoft.com/office/drawing/2014/main" id="{6DD69A05-1483-4823-BBA9-1F8A146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3832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2775" b="1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Authorization:</a:t>
            </a:r>
          </a:p>
          <a:p xmlns:a="http://schemas.openxmlformats.org/drawingml/2006/main">
            <a:pPr algn="l">
              <a:defRPr sz="2775" b="1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2775" b="1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Bearer &lt;token&gt;</a:t>
            </a:r>
          </a:p>
        </p:txBody>
      </p:sp>
      <p:sp>
        <p:nvSpPr>
          <p:cNvPr id="6" name="token-body">
            <a:extLst xmlns:a="http://schemas.openxmlformats.org/drawingml/2006/main">
              <a:ext uri="{FF2B5EF4-FFF2-40B4-BE49-F238E27FC236}">
                <a16:creationId xmlns:a16="http://schemas.microsoft.com/office/drawing/2014/main" id="{C15B6731-DB12-4FA6-B952-EEBA2038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43300"/>
            <a:ext cx="58769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O servidor confere validade, escopo e permissão para o recurso.</a:t>
            </a:r>
          </a:p>
        </p:txBody>
      </p:sp>
      <p:sp>
        <p:nvSpPr>
          <p:cNvPr id="7" name="token-warning">
            <a:extLst xmlns:a="http://schemas.openxmlformats.org/drawingml/2006/main">
              <a:ext uri="{FF2B5EF4-FFF2-40B4-BE49-F238E27FC236}">
                <a16:creationId xmlns:a16="http://schemas.microsoft.com/office/drawing/2014/main" id="{B49C03ED-8671-49D9-9795-F0F7AEF4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267325"/>
            <a:ext cx="58769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HTTPS protege o token enquanto ele viaja.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a47ce3f144f4c"/>
          <a:stretch xmlns:a="http://schemas.openxmlformats.org/drawingml/2006/main"/>
        </p:blipFill>
        <p:spPr>
          <a:xfrm xmlns:a="http://schemas.openxmlformats.org/drawingml/2006/main">
            <a:off x="7334250" y="1771650"/>
            <a:ext cx="4143375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912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42">
            <a:extLst xmlns:a="http://schemas.openxmlformats.org/drawingml/2006/main">
              <a:ext uri="{FF2B5EF4-FFF2-40B4-BE49-F238E27FC236}">
                <a16:creationId xmlns:a16="http://schemas.microsoft.com/office/drawing/2014/main" id="{BECE110B-BDF5-4BDF-B35D-BCEA6172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UMA DEMONSTRAÇÃO DE 30 SEGUNDOS</a:t>
            </a:r>
          </a:p>
        </p:txBody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1E20BE56-5216-4FDB-BB15-BE5B9E88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F12: descobrindo a conversa escondida.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C75B7ABC-1A8D-4028-AE08-C14813C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147">
            <a:extLst xmlns:a="http://schemas.openxmlformats.org/drawingml/2006/main">
              <a:ext uri="{FF2B5EF4-FFF2-40B4-BE49-F238E27FC236}">
                <a16:creationId xmlns:a16="http://schemas.microsoft.com/office/drawing/2014/main" id="{F2EC8BBA-673E-4CE7-852E-881A976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7875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Abra o DevTools</a:t>
            </a:r>
          </a:p>
        </p:txBody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01580ED2-F997-4C0A-A18F-4EF1D5E0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2283E1B5-C0DF-46D0-B50A-CC72CB0D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Rede / Network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8E095AA5-46BE-4236-BB88-0424FA4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BB6640EB-A3E0-4527-8B55-8D0706DB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Filtre Fetch/XHR</a:t>
            </a:r>
          </a:p>
        </p:txBody>
      </p:sp>
      <p:sp>
        <p:nvSpPr>
          <p:cNvPr id="11" name="text-152">
            <a:extLst xmlns:a="http://schemas.openxmlformats.org/drawingml/2006/main">
              <a:ext uri="{FF2B5EF4-FFF2-40B4-BE49-F238E27FC236}">
                <a16:creationId xmlns:a16="http://schemas.microsoft.com/office/drawing/2014/main" id="{DE21846F-11B6-4990-96D7-8E40EA6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0C5D5253-6430-48CB-A8E4-6B6662AA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4695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Veja pedido e resposta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510426b464ef9"/>
          <a:srcRect xmlns:a="http://schemas.openxmlformats.org/drawingml/2006/main" l="0" t="405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8425" y="2361580"/>
            <a:ext cx="5143500" cy="3058766"/>
          </a:xfrm>
          <a:prstGeom xmlns:a="http://schemas.openxmlformats.org/drawingml/2006/main" prst="rect">
            <a:avLst/>
          </a:prstGeom>
        </p:spPr>
      </p:pic>
      <p:sp>
        <p:nvSpPr>
          <p:cNvPr id="14" name="panel-154">
            <a:extLst xmlns:a="http://schemas.openxmlformats.org/drawingml/2006/main">
              <a:ext uri="{FF2B5EF4-FFF2-40B4-BE49-F238E27FC236}">
                <a16:creationId xmlns:a16="http://schemas.microsoft.com/office/drawing/2014/main" id="{F4D14B83-D743-45CB-823C-4EB38F2B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7150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15" name="text-155">
            <a:extLst xmlns:a="http://schemas.openxmlformats.org/drawingml/2006/main">
              <a:ext uri="{FF2B5EF4-FFF2-40B4-BE49-F238E27FC236}">
                <a16:creationId xmlns:a16="http://schemas.microsoft.com/office/drawing/2014/main" id="{2326A6FA-479C-4EA5-B5E2-0785F2A6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76262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“O site chama tudo isso?”</a:t>
            </a:r>
          </a:p>
        </p:txBody>
      </p:sp>
      <p:sp>
        <p:nvSpPr>
          <p:cNvPr id="18" name="history-spec-134">
            <a:extLst xmlns:a="http://schemas.openxmlformats.org/drawingml/2006/main">
              <a:ext uri="{FF2B5EF4-FFF2-40B4-BE49-F238E27FC236}">
                <a16:creationId xmlns:a16="http://schemas.microsoft.com/office/drawing/2014/main" id="{A47F2445-B538-49E6-B5AB-468C721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9" name="history-spec-135">
            <a:extLst xmlns:a="http://schemas.openxmlformats.org/drawingml/2006/main">
              <a:ext uri="{FF2B5EF4-FFF2-40B4-BE49-F238E27FC236}">
                <a16:creationId xmlns:a16="http://schemas.microsoft.com/office/drawing/2014/main" id="{7F3EE70C-2B9E-408C-B9D7-E2636E1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30 / 63</a:t>
            </a:r>
          </a:p>
        </p:txBody>
      </p:sp>
    </p:spTree>
    <p:extLst>
      <p:ext uri="{BB962C8B-B14F-4D97-AF65-F5344CB8AC3E}">
        <p14:creationId xmlns:p14="http://schemas.microsoft.com/office/powerpoint/2010/main" val="13224806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istory-spec-53">
            <a:extLst xmlns:a="http://schemas.openxmlformats.org/drawingml/2006/main">
              <a:ext uri="{FF2B5EF4-FFF2-40B4-BE49-F238E27FC236}">
                <a16:creationId xmlns:a16="http://schemas.microsoft.com/office/drawing/2014/main" id="{6ACB8FFE-D7B8-4125-893A-AAE284E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 REAL • CONSULTA DE UM REPOSITÓRIO</a:t>
            </a:r>
          </a:p>
        </p:txBody>
      </p:sp>
      <p:sp>
        <p:nvSpPr>
          <p:cNvPr id="2" name="history-spec-54">
            <a:extLst xmlns:a="http://schemas.openxmlformats.org/drawingml/2006/main">
              <a:ext uri="{FF2B5EF4-FFF2-40B4-BE49-F238E27FC236}">
                <a16:creationId xmlns:a16="http://schemas.microsoft.com/office/drawing/2014/main" id="{3C39BD53-6173-4BDB-84AC-CF19BCD7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GitHub: lendo a resposta de uma API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7449fd5474ab3"/>
          <a:stretch xmlns:a="http://schemas.openxmlformats.org/drawingml/2006/main"/>
        </p:blipFill>
        <p:spPr>
          <a:xfrm xmlns:a="http://schemas.openxmlformats.org/drawingml/2006/main">
            <a:off x="533400" y="1842222"/>
            <a:ext cx="7715250" cy="3506932"/>
          </a:xfrm>
          <a:prstGeom xmlns:a="http://schemas.openxmlformats.org/drawingml/2006/main" prst="rect">
            <a:avLst/>
          </a:prstGeom>
        </p:spPr>
      </p:pic>
      <p:sp>
        <p:nvSpPr>
          <p:cNvPr id="4" name="history-spec-55">
            <a:extLst xmlns:a="http://schemas.openxmlformats.org/drawingml/2006/main">
              <a:ext uri="{FF2B5EF4-FFF2-40B4-BE49-F238E27FC236}">
                <a16:creationId xmlns:a16="http://schemas.microsoft.com/office/drawing/2014/main" id="{244EFE31-202C-4D6D-A3A2-7334748D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47850"/>
            <a:ext cx="3009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5" name="history-spec-56">
            <a:extLst xmlns:a="http://schemas.openxmlformats.org/drawingml/2006/main">
              <a:ext uri="{FF2B5EF4-FFF2-40B4-BE49-F238E27FC236}">
                <a16:creationId xmlns:a16="http://schemas.microsoft.com/office/drawing/2014/main" id="{4911386E-6103-46BD-825C-BE81409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14575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GET consulta o repositório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octocat/Hello-World.</a:t>
            </a:r>
          </a:p>
        </p:txBody>
      </p:sp>
      <p:sp>
        <p:nvSpPr>
          <p:cNvPr id="6" name="history-spec-57">
            <a:extLst xmlns:a="http://schemas.openxmlformats.org/drawingml/2006/main">
              <a:ext uri="{FF2B5EF4-FFF2-40B4-BE49-F238E27FC236}">
                <a16:creationId xmlns:a16="http://schemas.microsoft.com/office/drawing/2014/main" id="{EE9C2A7C-106D-41EC-9FB3-5D012EF4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43275"/>
            <a:ext cx="3009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sp>
        <p:nvSpPr>
          <p:cNvPr id="7" name="history-spec-58">
            <a:extLst xmlns:a="http://schemas.openxmlformats.org/drawingml/2006/main">
              <a:ext uri="{FF2B5EF4-FFF2-40B4-BE49-F238E27FC236}">
                <a16:creationId xmlns:a16="http://schemas.microsoft.com/office/drawing/2014/main" id="{9FBBC31E-29E1-46DC-B6B0-5F0B1C9B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00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200 indica sucesso.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corpo contém JSON.</a:t>
            </a:r>
          </a:p>
        </p:txBody>
      </p:sp>
      <p:sp>
        <p:nvSpPr>
          <p:cNvPr id="8" name="history-spec-59">
            <a:extLst xmlns:a="http://schemas.openxmlformats.org/drawingml/2006/main">
              <a:ext uri="{FF2B5EF4-FFF2-40B4-BE49-F238E27FC236}">
                <a16:creationId xmlns:a16="http://schemas.microsoft.com/office/drawing/2014/main" id="{C31C4548-921F-4299-9A30-25E30E2D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57750"/>
            <a:ext cx="3009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Uso no app</a:t>
            </a:r>
          </a:p>
        </p:txBody>
      </p:sp>
      <p:sp>
        <p:nvSpPr>
          <p:cNvPr id="9" name="history-spec-60">
            <a:extLst xmlns:a="http://schemas.openxmlformats.org/drawingml/2006/main">
              <a:ext uri="{FF2B5EF4-FFF2-40B4-BE49-F238E27FC236}">
                <a16:creationId xmlns:a16="http://schemas.microsoft.com/office/drawing/2014/main" id="{52758E62-214F-4B3A-8914-7BE1B55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24475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Ler name e description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para preencher uma tela.</a:t>
            </a:r>
          </a:p>
        </p:txBody>
      </p:sp>
      <p:sp>
        <p:nvSpPr>
          <p:cNvPr id="10" name="history-spec-61">
            <a:extLst xmlns:a="http://schemas.openxmlformats.org/drawingml/2006/main">
              <a:ext uri="{FF2B5EF4-FFF2-40B4-BE49-F238E27FC236}">
                <a16:creationId xmlns:a16="http://schemas.microsoft.com/office/drawing/2014/main" id="{F645370C-2C71-43A1-A43C-B78ADC5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 imagem mostra os dados devolvidos pela API.</a:t>
            </a:r>
          </a:p>
        </p:txBody>
      </p:sp>
      <p:sp>
        <p:nvSpPr>
          <p:cNvPr id="11" name="history-spec-62">
            <a:extLst xmlns:a="http://schemas.openxmlformats.org/drawingml/2006/main">
              <a:ext uri="{FF2B5EF4-FFF2-40B4-BE49-F238E27FC236}">
                <a16:creationId xmlns:a16="http://schemas.microsoft.com/office/drawing/2014/main" id="{8A089E78-03A5-4409-AB17-70F6223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771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Campos selecionados de uma consulta real · 25/09/2026</a:t>
            </a:r>
          </a:p>
        </p:txBody>
      </p:sp>
      <p:sp>
        <p:nvSpPr>
          <p:cNvPr id="12" name="history-spec-136">
            <a:extLst xmlns:a="http://schemas.openxmlformats.org/drawingml/2006/main">
              <a:ext uri="{FF2B5EF4-FFF2-40B4-BE49-F238E27FC236}">
                <a16:creationId xmlns:a16="http://schemas.microsoft.com/office/drawing/2014/main" id="{1D5A64FE-89B8-4FB1-B598-9C5C6E73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3" name="history-spec-137">
            <a:extLst xmlns:a="http://schemas.openxmlformats.org/drawingml/2006/main">
              <a:ext uri="{FF2B5EF4-FFF2-40B4-BE49-F238E27FC236}">
                <a16:creationId xmlns:a16="http://schemas.microsoft.com/office/drawing/2014/main" id="{51DD859F-A867-4555-A2C7-CBAE1A51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31 / 63</a:t>
            </a:r>
          </a:p>
        </p:txBody>
      </p:sp>
    </p:spTree>
    <p:extLst>
      <p:ext uri="{BB962C8B-B14F-4D97-AF65-F5344CB8AC3E}">
        <p14:creationId xmlns:p14="http://schemas.microsoft.com/office/powerpoint/2010/main" val="13863657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istory-spec-63">
            <a:extLst xmlns:a="http://schemas.openxmlformats.org/drawingml/2006/main">
              <a:ext uri="{FF2B5EF4-FFF2-40B4-BE49-F238E27FC236}">
                <a16:creationId xmlns:a16="http://schemas.microsoft.com/office/drawing/2014/main" id="{2C6ABF9C-D5B4-4420-8D91-A70F95A0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 REAL BRASILEIRA • CONSULTA HTTP</a:t>
            </a:r>
          </a:p>
        </p:txBody>
      </p:sp>
      <p:sp>
        <p:nvSpPr>
          <p:cNvPr id="2" name="history-spec-64">
            <a:extLst xmlns:a="http://schemas.openxmlformats.org/drawingml/2006/main">
              <a:ext uri="{FF2B5EF4-FFF2-40B4-BE49-F238E27FC236}">
                <a16:creationId xmlns:a16="http://schemas.microsoft.com/office/drawing/2014/main" id="{384D2BD8-B851-4D79-B242-47EC02B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ViaCEP: um CEP entra, um endereço sai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bbaab68c24acc"/>
          <a:srcRect xmlns:a="http://schemas.openxmlformats.org/drawingml/2006/main" l="7352" t="52669" r="66561" b="8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28800"/>
            <a:ext cx="5095875" cy="4238625"/>
          </a:xfrm>
          <a:prstGeom xmlns:a="http://schemas.openxmlformats.org/drawingml/2006/main" prst="rect">
            <a:avLst/>
          </a:prstGeom>
        </p:spPr>
      </p:pic>
      <p:sp>
        <p:nvSpPr>
          <p:cNvPr id="4" name="history-spec-65">
            <a:extLst xmlns:a="http://schemas.openxmlformats.org/drawingml/2006/main">
              <a:ext uri="{FF2B5EF4-FFF2-40B4-BE49-F238E27FC236}">
                <a16:creationId xmlns:a16="http://schemas.microsoft.com/office/drawing/2014/main" id="{5D7D187A-0A9A-4A24-BA13-AEA7AA7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58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1 · Entrada</a:t>
            </a:r>
          </a:p>
        </p:txBody>
      </p:sp>
      <p:sp>
        <p:nvSpPr>
          <p:cNvPr id="5" name="history-spec-66">
            <a:extLst xmlns:a="http://schemas.openxmlformats.org/drawingml/2006/main">
              <a:ext uri="{FF2B5EF4-FFF2-40B4-BE49-F238E27FC236}">
                <a16:creationId xmlns:a16="http://schemas.microsoft.com/office/drawing/2014/main" id="{7F9D6799-CA3E-4B36-9C2D-D0E2A4D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76475"/>
            <a:ext cx="558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GET /ws/01001000/json/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caminho informa o CEP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 o formato esperado.</a:t>
            </a:r>
          </a:p>
        </p:txBody>
      </p:sp>
      <p:sp>
        <p:nvSpPr>
          <p:cNvPr id="6" name="history-spec-67">
            <a:extLst xmlns:a="http://schemas.openxmlformats.org/drawingml/2006/main">
              <a:ext uri="{FF2B5EF4-FFF2-40B4-BE49-F238E27FC236}">
                <a16:creationId xmlns:a16="http://schemas.microsoft.com/office/drawing/2014/main" id="{A5B77A57-AA3D-40D7-95CA-459029B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558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2 · Saída</a:t>
            </a:r>
          </a:p>
        </p:txBody>
      </p:sp>
      <p:sp>
        <p:nvSpPr>
          <p:cNvPr id="7" name="history-spec-68">
            <a:extLst xmlns:a="http://schemas.openxmlformats.org/drawingml/2006/main">
              <a:ext uri="{FF2B5EF4-FFF2-40B4-BE49-F238E27FC236}">
                <a16:creationId xmlns:a16="http://schemas.microsoft.com/office/drawing/2014/main" id="{782897D0-5476-4B53-8786-A8A0A18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00475"/>
            <a:ext cx="558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JSON traz logradouro, bairro,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cidade e UF para o programa ler.</a:t>
            </a:r>
          </a:p>
        </p:txBody>
      </p:sp>
      <p:sp>
        <p:nvSpPr>
          <p:cNvPr id="8" name="history-spec-69">
            <a:extLst xmlns:a="http://schemas.openxmlformats.org/drawingml/2006/main">
              <a:ext uri="{FF2B5EF4-FFF2-40B4-BE49-F238E27FC236}">
                <a16:creationId xmlns:a16="http://schemas.microsoft.com/office/drawing/2014/main" id="{5D8B450D-ACE7-4E41-97AD-00D43234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33925"/>
            <a:ext cx="558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3 · Uso prático</a:t>
            </a:r>
          </a:p>
        </p:txBody>
      </p:sp>
      <p:sp>
        <p:nvSpPr>
          <p:cNvPr id="9" name="history-spec-70">
            <a:extLst xmlns:a="http://schemas.openxmlformats.org/drawingml/2006/main">
              <a:ext uri="{FF2B5EF4-FFF2-40B4-BE49-F238E27FC236}">
                <a16:creationId xmlns:a16="http://schemas.microsoft.com/office/drawing/2014/main" id="{F8E11C8F-34D8-4B24-9E7F-EA5596AA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00650"/>
            <a:ext cx="558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Um formulário pode preencher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endereço depois de ler o CEP.</a:t>
            </a:r>
          </a:p>
        </p:txBody>
      </p:sp>
      <p:sp>
        <p:nvSpPr>
          <p:cNvPr id="10" name="history-spec-71">
            <a:extLst xmlns:a="http://schemas.openxmlformats.org/drawingml/2006/main">
              <a:ext uri="{FF2B5EF4-FFF2-40B4-BE49-F238E27FC236}">
                <a16:creationId xmlns:a16="http://schemas.microsoft.com/office/drawing/2014/main" id="{6C5BE96D-A04A-4F81-BE14-74A3B0FA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C542"/>
                </a:solidFill>
                <a:latin typeface="Arial"/>
                <a:ea typeface="Arial"/>
                <a:cs typeface="Arial"/>
              </a:rPr>
              <a:t>Captura da documentação oficial · viacep.com.br</a:t>
            </a:r>
          </a:p>
        </p:txBody>
      </p:sp>
      <p:sp>
        <p:nvSpPr>
          <p:cNvPr id="11" name="history-spec-138">
            <a:extLst xmlns:a="http://schemas.openxmlformats.org/drawingml/2006/main">
              <a:ext uri="{FF2B5EF4-FFF2-40B4-BE49-F238E27FC236}">
                <a16:creationId xmlns:a16="http://schemas.microsoft.com/office/drawing/2014/main" id="{3218A181-EE11-4D0D-9FE0-C926BE1F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139">
            <a:extLst xmlns:a="http://schemas.openxmlformats.org/drawingml/2006/main">
              <a:ext uri="{FF2B5EF4-FFF2-40B4-BE49-F238E27FC236}">
                <a16:creationId xmlns:a16="http://schemas.microsoft.com/office/drawing/2014/main" id="{CCFB4348-3D37-442C-AFC5-19B32B5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32 / 63</a:t>
            </a:r>
          </a:p>
        </p:txBody>
      </p:sp>
    </p:spTree>
    <p:extLst>
      <p:ext uri="{BB962C8B-B14F-4D97-AF65-F5344CB8AC3E}">
        <p14:creationId xmlns:p14="http://schemas.microsoft.com/office/powerpoint/2010/main" val="9287921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162">
            <a:extLst xmlns:a="http://schemas.openxmlformats.org/drawingml/2006/main">
              <a:ext uri="{FF2B5EF4-FFF2-40B4-BE49-F238E27FC236}">
                <a16:creationId xmlns:a16="http://schemas.microsoft.com/office/drawing/2014/main" id="{004C5067-FD2E-4E91-AA8D-A4A686E0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163">
            <a:extLst xmlns:a="http://schemas.openxmlformats.org/drawingml/2006/main">
              <a:ext uri="{FF2B5EF4-FFF2-40B4-BE49-F238E27FC236}">
                <a16:creationId xmlns:a16="http://schemas.microsoft.com/office/drawing/2014/main" id="{6888FB9A-8DD0-49AC-AEA0-90C0A248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Mapa das</a:t>
            </a:r>
          </a:p>
          <a:p xmlns:a="http://schemas.openxmlformats.org/drawingml/2006/main">
            <a:pPr algn="l">
              <a:buNone/>
              <a:defRPr sz="4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tecnologias</a:t>
            </a:r>
          </a:p>
        </p:txBody>
      </p:sp>
      <p:sp>
        <p:nvSpPr>
          <p:cNvPr id="5" name="text-164">
            <a:extLst xmlns:a="http://schemas.openxmlformats.org/drawingml/2006/main">
              <a:ext uri="{FF2B5EF4-FFF2-40B4-BE49-F238E27FC236}">
                <a16:creationId xmlns:a16="http://schemas.microsoft.com/office/drawing/2014/main" id="{5435A9FA-67E1-451F-8BFB-94FBF4C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Nomes parecidos.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Papéis diferentes.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b136897e7405a"/>
          <a:stretch xmlns:a="http://schemas.openxmlformats.org/drawingml/2006/main"/>
        </p:blipFill>
        <p:spPr>
          <a:xfrm xmlns:a="http://schemas.openxmlformats.org/drawingml/2006/main">
            <a:off x="6238875" y="1346987"/>
            <a:ext cx="5419725" cy="4726000"/>
          </a:xfrm>
          <a:prstGeom xmlns:a="http://schemas.openxmlformats.org/drawingml/2006/main" prst="rect">
            <a:avLst/>
          </a:prstGeom>
        </p:spPr>
      </p:pic>
      <p:sp>
        <p:nvSpPr>
          <p:cNvPr id="7" name="panel-165">
            <a:extLst xmlns:a="http://schemas.openxmlformats.org/drawingml/2006/main">
              <a:ext uri="{FF2B5EF4-FFF2-40B4-BE49-F238E27FC236}">
                <a16:creationId xmlns:a16="http://schemas.microsoft.com/office/drawing/2014/main" id="{D9E7E356-6093-401C-A40B-EF2A08C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6197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8" name="text-166">
            <a:extLst xmlns:a="http://schemas.openxmlformats.org/drawingml/2006/main">
              <a:ext uri="{FF2B5EF4-FFF2-40B4-BE49-F238E27FC236}">
                <a16:creationId xmlns:a16="http://schemas.microsoft.com/office/drawing/2014/main" id="{FFBF71C6-FF04-4771-B881-BFEC42D3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667375"/>
            <a:ext cx="462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“Tudo isso é REST?”</a:t>
            </a:r>
          </a:p>
        </p:txBody>
      </p:sp>
      <p:sp>
        <p:nvSpPr>
          <p:cNvPr id="11" name="history-spec-140">
            <a:extLst xmlns:a="http://schemas.openxmlformats.org/drawingml/2006/main">
              <a:ext uri="{FF2B5EF4-FFF2-40B4-BE49-F238E27FC236}">
                <a16:creationId xmlns:a16="http://schemas.microsoft.com/office/drawing/2014/main" id="{14FCB6C2-5A7D-4993-A343-72D9FAAF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141">
            <a:extLst xmlns:a="http://schemas.openxmlformats.org/drawingml/2006/main">
              <a:ext uri="{FF2B5EF4-FFF2-40B4-BE49-F238E27FC236}">
                <a16:creationId xmlns:a16="http://schemas.microsoft.com/office/drawing/2014/main" id="{3C5A6927-FBBB-4D2D-B01F-6C985E62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33 / 63</a:t>
            </a:r>
          </a:p>
        </p:txBody>
      </p:sp>
    </p:spTree>
    <p:extLst>
      <p:ext uri="{BB962C8B-B14F-4D97-AF65-F5344CB8AC3E}">
        <p14:creationId xmlns:p14="http://schemas.microsoft.com/office/powerpoint/2010/main" val="14154860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7BCB0AB2-BBCC-4ED6-8D9B-3E23C88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UMA ESCOLHA NÃO ELIMINA A OUTRA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7EF5551E-E619-4F57-9D6F-1A3E04A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Seis nomes. Categorias diferentes.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4257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33875"/>
                <a:gridCol w="4505325"/>
              </a:tblGrid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Nome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O que é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Ideia central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Estilo arquitetural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Recursos + restrições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SOAP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Protocolo de mensagens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Envelope XML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gRPC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Framework de RPC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Chamar funções remotas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GraphQL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Linguagem + execução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Consultar um schema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WebSocket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Protocolo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Canal bidirecional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08239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Webhook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Padrão de eventos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Provedor chama sua URL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</a:tbl>
          </a:graphicData>
        </a:graphic>
      </p:graphicFrame>
      <p:sp>
        <p:nvSpPr>
          <p:cNvPr id="8" name="history-spec-142">
            <a:extLst xmlns:a="http://schemas.openxmlformats.org/drawingml/2006/main">
              <a:ext uri="{FF2B5EF4-FFF2-40B4-BE49-F238E27FC236}">
                <a16:creationId xmlns:a16="http://schemas.microsoft.com/office/drawing/2014/main" id="{7A23CCB8-4D34-47DF-BB72-F3DA9F43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9" name="history-spec-143">
            <a:extLst xmlns:a="http://schemas.openxmlformats.org/drawingml/2006/main">
              <a:ext uri="{FF2B5EF4-FFF2-40B4-BE49-F238E27FC236}">
                <a16:creationId xmlns:a16="http://schemas.microsoft.com/office/drawing/2014/main" id="{EB585153-107E-431D-91D1-377B8BDF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34 / 63</a:t>
            </a:r>
          </a:p>
        </p:txBody>
      </p:sp>
    </p:spTree>
    <p:extLst>
      <p:ext uri="{BB962C8B-B14F-4D97-AF65-F5344CB8AC3E}">
        <p14:creationId xmlns:p14="http://schemas.microsoft.com/office/powerpoint/2010/main" val="6340005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13939C8-D15E-4868-B1BB-CBDEC0E8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TECNOLOGIA DE INTEGRAÇÃO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067CD0-8192-4A29-BFA8-243C9AF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SOAP: mensagens com estrutura XML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97DF20-3C09-43BB-A8A4-CB8EA3E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636B4A-6A09-4918-8D4E-588562EA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35 / 63</a:t>
            </a:r>
          </a:p>
        </p:txBody>
      </p:sp>
      <p:sp>
        <p:nvSpPr>
          <p:cNvPr id="5" name="soap-def">
            <a:extLst xmlns:a="http://schemas.openxmlformats.org/drawingml/2006/main">
              <a:ext uri="{FF2B5EF4-FFF2-40B4-BE49-F238E27FC236}">
                <a16:creationId xmlns:a16="http://schemas.microsoft.com/office/drawing/2014/main" id="{94B4ACC7-936F-49F9-A9BE-4E494F15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SOAP organiza a troca de mensagens entre sistemas.</a:t>
            </a:r>
          </a:p>
        </p:txBody>
      </p:sp>
      <p:sp>
        <p:nvSpPr>
          <p:cNvPr id="6" name="soap-envelope">
            <a:extLst xmlns:a="http://schemas.openxmlformats.org/drawingml/2006/main">
              <a:ext uri="{FF2B5EF4-FFF2-40B4-BE49-F238E27FC236}">
                <a16:creationId xmlns:a16="http://schemas.microsoft.com/office/drawing/2014/main" id="{F6F05BBF-C214-4552-8B3E-DD1BC2A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Envelope</a:t>
            </a:r>
          </a:p>
        </p:txBody>
      </p:sp>
      <p:sp>
        <p:nvSpPr>
          <p:cNvPr id="7" name="soap-envelope-desc">
            <a:extLst xmlns:a="http://schemas.openxmlformats.org/drawingml/2006/main">
              <a:ext uri="{FF2B5EF4-FFF2-40B4-BE49-F238E27FC236}">
                <a16:creationId xmlns:a16="http://schemas.microsoft.com/office/drawing/2014/main" id="{F3CC8152-4F18-41A1-9560-7CED0FD0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90825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 embalagem da mensagem.</a:t>
            </a:r>
          </a:p>
        </p:txBody>
      </p:sp>
      <p:sp>
        <p:nvSpPr>
          <p:cNvPr id="8" name="soap-header">
            <a:extLst xmlns:a="http://schemas.openxmlformats.org/drawingml/2006/main">
              <a:ext uri="{FF2B5EF4-FFF2-40B4-BE49-F238E27FC236}">
                <a16:creationId xmlns:a16="http://schemas.microsoft.com/office/drawing/2014/main" id="{9011600C-5D2F-4171-9262-E7BF02AF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Header</a:t>
            </a:r>
          </a:p>
        </p:txBody>
      </p:sp>
      <p:sp>
        <p:nvSpPr>
          <p:cNvPr id="9" name="soap-header-desc">
            <a:extLst xmlns:a="http://schemas.openxmlformats.org/drawingml/2006/main">
              <a:ext uri="{FF2B5EF4-FFF2-40B4-BE49-F238E27FC236}">
                <a16:creationId xmlns:a16="http://schemas.microsoft.com/office/drawing/2014/main" id="{BD0B3184-693C-4981-8E9D-F86D4459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14750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Metadados opcionais, como segurança.</a:t>
            </a:r>
          </a:p>
        </p:txBody>
      </p:sp>
      <p:sp>
        <p:nvSpPr>
          <p:cNvPr id="10" name="soap-body">
            <a:extLst xmlns:a="http://schemas.openxmlformats.org/drawingml/2006/main">
              <a:ext uri="{FF2B5EF4-FFF2-40B4-BE49-F238E27FC236}">
                <a16:creationId xmlns:a16="http://schemas.microsoft.com/office/drawing/2014/main" id="{70DD883E-36ED-4899-BF61-8B73003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  <p:sp>
        <p:nvSpPr>
          <p:cNvPr id="11" name="soap-body-desc">
            <a:extLst xmlns:a="http://schemas.openxmlformats.org/drawingml/2006/main">
              <a:ext uri="{FF2B5EF4-FFF2-40B4-BE49-F238E27FC236}">
                <a16:creationId xmlns:a16="http://schemas.microsoft.com/office/drawing/2014/main" id="{C0263056-34AA-41FB-9EB5-195FB20B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38675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 operação ou resposta enviada.</a:t>
            </a:r>
          </a:p>
        </p:txBody>
      </p:sp>
      <p:sp>
        <p:nvSpPr>
          <p:cNvPr id="12" name="soap-context">
            <a:extLst xmlns:a="http://schemas.openxmlformats.org/drawingml/2006/main">
              <a:ext uri="{FF2B5EF4-FFF2-40B4-BE49-F238E27FC236}">
                <a16:creationId xmlns:a16="http://schemas.microsoft.com/office/drawing/2014/main" id="{E5E035B9-7819-419B-B812-513A92DB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Exemplo: integração entre sistemas corporativos com contrato bem definido.</a:t>
            </a:r>
          </a:p>
        </p:txBody>
      </p:sp>
    </p:spTree>
    <p:extLst>
      <p:ext uri="{BB962C8B-B14F-4D97-AF65-F5344CB8AC3E}">
        <p14:creationId xmlns:p14="http://schemas.microsoft.com/office/powerpoint/2010/main" val="19633158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2027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122D4299-FD45-473E-8B16-9EC7CFA9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MEME + EXEMPLO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1D6F05-8EE0-45CE-A0FD-DFCFB30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9E6"/>
                </a:solidFill>
                <a:latin typeface="Arial"/>
                <a:ea typeface="Arial"/>
                <a:cs typeface="Arial"/>
              </a:rPr>
              <a:t>SOAP chegou de terno para a integração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873087A-6887-4B0C-BA14-6D15A2E3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3961033-3E18-498E-AEFF-35F87E38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36 / 63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746cdaa754842"/>
          <a:stretch xmlns:a="http://schemas.openxmlformats.org/drawingml/2006/main"/>
        </p:blipFill>
        <p:spPr>
          <a:xfrm xmlns:a="http://schemas.openxmlformats.org/drawingml/2006/main">
            <a:off x="533400" y="1657350"/>
            <a:ext cx="4524375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soap-meme-setup">
            <a:extLst xmlns:a="http://schemas.openxmlformats.org/drawingml/2006/main">
              <a:ext uri="{FF2B5EF4-FFF2-40B4-BE49-F238E27FC236}">
                <a16:creationId xmlns:a16="http://schemas.microsoft.com/office/drawing/2014/main" id="{F72A734E-6356-4A7F-AF47-4EDD493F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752600"/>
            <a:ext cx="575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 pedido é formal:</a:t>
            </a:r>
          </a:p>
        </p:txBody>
      </p:sp>
      <p:sp>
        <p:nvSpPr>
          <p:cNvPr id="7" name="soap-code-bg">
            <a:extLst xmlns:a="http://schemas.openxmlformats.org/drawingml/2006/main">
              <a:ext uri="{FF2B5EF4-FFF2-40B4-BE49-F238E27FC236}">
                <a16:creationId xmlns:a16="http://schemas.microsoft.com/office/drawing/2014/main" id="{E2AEBDF3-5CC7-4DFB-87B0-34D15F4C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05075"/>
            <a:ext cx="6076950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  <a:ln xmlns:a="http://schemas.openxmlformats.org/drawingml/2006/main" w="0">
            <a:noFill/>
          </a:ln>
        </p:spPr>
      </p:sp>
      <p:sp>
        <p:nvSpPr>
          <p:cNvPr id="8" name="soap-code">
            <a:extLst xmlns:a="http://schemas.openxmlformats.org/drawingml/2006/main">
              <a:ext uri="{FF2B5EF4-FFF2-40B4-BE49-F238E27FC236}">
                <a16:creationId xmlns:a16="http://schemas.microsoft.com/office/drawing/2014/main" id="{61CBAE94-A6E1-4B7D-867F-C634CA8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95575"/>
            <a:ext cx="5667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&lt;env:Envelope&gt;</a:t>
            </a:r>
          </a:p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&lt;env:Header&gt;...&lt;/env:Header&gt;</a:t>
            </a:r>
          </a:p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&lt;env:Body&gt;</a:t>
            </a:r>
          </a:p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  &lt;consultarPedido/&gt;</a:t>
            </a:r>
          </a:p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  &lt;/env:Body&gt;</a:t>
            </a:r>
          </a:p>
          <a:p xmlns:a="http://schemas.openxmlformats.org/drawingml/2006/main">
            <a:pPr algn="l">
              <a:defRPr sz="1875" b="0">
                <a:solidFill>
                  <a:srgbClr val="20276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0276B"/>
                </a:solidFill>
                <a:latin typeface="Consolas"/>
                <a:ea typeface="Consolas"/>
                <a:cs typeface="Consolas"/>
              </a:rPr>
              <a:t>&lt;/env:Envelope&gt;</a:t>
            </a:r>
          </a:p>
        </p:txBody>
      </p:sp>
      <p:sp>
        <p:nvSpPr>
          <p:cNvPr id="9" name="soap-meme-end">
            <a:extLst xmlns:a="http://schemas.openxmlformats.org/drawingml/2006/main">
              <a:ext uri="{FF2B5EF4-FFF2-40B4-BE49-F238E27FC236}">
                <a16:creationId xmlns:a16="http://schemas.microsoft.com/office/drawing/2014/main" id="{AC7ADE86-ABCD-4087-84DD-4315D4C5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2578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9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6"/>
                </a:solidFill>
                <a:latin typeface="Arial"/>
                <a:ea typeface="Arial"/>
                <a:cs typeface="Arial"/>
              </a:rPr>
              <a:t>A resposta também segue um envelope XML.</a:t>
            </a:r>
          </a:p>
        </p:txBody>
      </p:sp>
    </p:spTree>
    <p:extLst>
      <p:ext uri="{BB962C8B-B14F-4D97-AF65-F5344CB8AC3E}">
        <p14:creationId xmlns:p14="http://schemas.microsoft.com/office/powerpoint/2010/main" val="6184854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00">
            <a:extLst xmlns:a="http://schemas.openxmlformats.org/drawingml/2006/main">
              <a:ext uri="{FF2B5EF4-FFF2-40B4-BE49-F238E27FC236}">
                <a16:creationId xmlns:a16="http://schemas.microsoft.com/office/drawing/2014/main" id="{B4758124-00E5-4225-BE94-7F3E7EFD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NO DELIVERY, CADA TECNOLOGIA TEM SEU PAPEL</a:t>
            </a:r>
          </a:p>
        </p:txBody>
      </p:sp>
      <p:sp>
        <p:nvSpPr>
          <p:cNvPr id="2" name="text-201">
            <a:extLst xmlns:a="http://schemas.openxmlformats.org/drawingml/2006/main">
              <a:ext uri="{FF2B5EF4-FFF2-40B4-BE49-F238E27FC236}">
                <a16:creationId xmlns:a16="http://schemas.microsoft.com/office/drawing/2014/main" id="{7F1810CE-CF78-4521-A22A-15360153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Um app. Várias conversas.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62a4f55734c5c"/>
          <a:srcRect xmlns:a="http://schemas.openxmlformats.org/drawingml/2006/main" l="0" t="1196" r="0" b="1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90700"/>
            <a:ext cx="6572250" cy="4276725"/>
          </a:xfrm>
          <a:prstGeom xmlns:a="http://schemas.openxmlformats.org/drawingml/2006/main" prst="rect">
            <a:avLst/>
          </a:prstGeom>
        </p:spPr>
      </p:pic>
      <p:sp>
        <p:nvSpPr>
          <p:cNvPr id="6" name="text-204">
            <a:extLst xmlns:a="http://schemas.openxmlformats.org/drawingml/2006/main">
              <a:ext uri="{FF2B5EF4-FFF2-40B4-BE49-F238E27FC236}">
                <a16:creationId xmlns:a16="http://schemas.microsoft.com/office/drawing/2014/main" id="{14D8FCC1-2D3A-41B5-9104-FC76D0F7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7" name="text-205">
            <a:extLst xmlns:a="http://schemas.openxmlformats.org/drawingml/2006/main">
              <a:ext uri="{FF2B5EF4-FFF2-40B4-BE49-F238E27FC236}">
                <a16:creationId xmlns:a16="http://schemas.microsoft.com/office/drawing/2014/main" id="{FB61FC44-89C9-4166-B83A-91EE918D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cardápio e pedidos</a:t>
            </a:r>
          </a:p>
        </p:txBody>
      </p:sp>
      <p:sp>
        <p:nvSpPr>
          <p:cNvPr id="8" name="text-206">
            <a:extLst xmlns:a="http://schemas.openxmlformats.org/drawingml/2006/main">
              <a:ext uri="{FF2B5EF4-FFF2-40B4-BE49-F238E27FC236}">
                <a16:creationId xmlns:a16="http://schemas.microsoft.com/office/drawing/2014/main" id="{921C81FD-9198-4C70-BC75-3B93DE6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GraphQL</a:t>
            </a:r>
          </a:p>
        </p:txBody>
      </p:sp>
      <p:sp>
        <p:nvSpPr>
          <p:cNvPr id="9" name="text-207">
            <a:extLst xmlns:a="http://schemas.openxmlformats.org/drawingml/2006/main">
              <a:ext uri="{FF2B5EF4-FFF2-40B4-BE49-F238E27FC236}">
                <a16:creationId xmlns:a16="http://schemas.microsoft.com/office/drawing/2014/main" id="{E45934F3-59E8-492C-8B40-F5D53D76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28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dados para uma tela</a:t>
            </a:r>
          </a:p>
        </p:txBody>
      </p:sp>
      <p:sp>
        <p:nvSpPr>
          <p:cNvPr id="10" name="text-208">
            <a:extLst xmlns:a="http://schemas.openxmlformats.org/drawingml/2006/main">
              <a:ext uri="{FF2B5EF4-FFF2-40B4-BE49-F238E27FC236}">
                <a16:creationId xmlns:a16="http://schemas.microsoft.com/office/drawing/2014/main" id="{C28B681D-BEB3-4D7C-8D55-D8199D8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0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SOAP</a:t>
            </a:r>
          </a:p>
        </p:txBody>
      </p:sp>
      <p:sp>
        <p:nvSpPr>
          <p:cNvPr id="11" name="text-209">
            <a:extLst xmlns:a="http://schemas.openxmlformats.org/drawingml/2006/main">
              <a:ext uri="{FF2B5EF4-FFF2-40B4-BE49-F238E27FC236}">
                <a16:creationId xmlns:a16="http://schemas.microsoft.com/office/drawing/2014/main" id="{23E45595-F63A-4F86-8CDB-E9582AC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24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integração fiscal</a:t>
            </a:r>
          </a:p>
        </p:txBody>
      </p:sp>
      <p:sp>
        <p:nvSpPr>
          <p:cNvPr id="12" name="text-210">
            <a:extLst xmlns:a="http://schemas.openxmlformats.org/drawingml/2006/main">
              <a:ext uri="{FF2B5EF4-FFF2-40B4-BE49-F238E27FC236}">
                <a16:creationId xmlns:a16="http://schemas.microsoft.com/office/drawing/2014/main" id="{2DFAAB46-196B-4950-8EC4-F0764B74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957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gRPC</a:t>
            </a:r>
          </a:p>
        </p:txBody>
      </p:sp>
      <p:sp>
        <p:nvSpPr>
          <p:cNvPr id="13" name="text-211">
            <a:extLst xmlns:a="http://schemas.openxmlformats.org/drawingml/2006/main">
              <a:ext uri="{FF2B5EF4-FFF2-40B4-BE49-F238E27FC236}">
                <a16:creationId xmlns:a16="http://schemas.microsoft.com/office/drawing/2014/main" id="{3C2E0F3F-AF5D-45C9-B54B-ECD02D8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95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serviços internos</a:t>
            </a:r>
          </a:p>
        </p:txBody>
      </p:sp>
      <p:sp>
        <p:nvSpPr>
          <p:cNvPr id="14" name="text-212">
            <a:extLst xmlns:a="http://schemas.openxmlformats.org/drawingml/2006/main">
              <a:ext uri="{FF2B5EF4-FFF2-40B4-BE49-F238E27FC236}">
                <a16:creationId xmlns:a16="http://schemas.microsoft.com/office/drawing/2014/main" id="{5BD49E93-087D-4154-85C3-CD83F8E5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91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15" name="text-213">
            <a:extLst xmlns:a="http://schemas.openxmlformats.org/drawingml/2006/main">
              <a:ext uri="{FF2B5EF4-FFF2-40B4-BE49-F238E27FC236}">
                <a16:creationId xmlns:a16="http://schemas.microsoft.com/office/drawing/2014/main" id="{CDEC3E21-5832-4425-A7DB-39BA2983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14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mapa ao vivo</a:t>
            </a:r>
          </a:p>
        </p:txBody>
      </p:sp>
      <p:sp>
        <p:nvSpPr>
          <p:cNvPr id="16" name="text-214">
            <a:extLst xmlns:a="http://schemas.openxmlformats.org/drawingml/2006/main">
              <a:ext uri="{FF2B5EF4-FFF2-40B4-BE49-F238E27FC236}">
                <a16:creationId xmlns:a16="http://schemas.microsoft.com/office/drawing/2014/main" id="{B99AD1F0-988D-4F7D-88F4-71C2D07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86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Webhook</a:t>
            </a:r>
          </a:p>
        </p:txBody>
      </p:sp>
      <p:sp>
        <p:nvSpPr>
          <p:cNvPr id="17" name="text-215">
            <a:extLst xmlns:a="http://schemas.openxmlformats.org/drawingml/2006/main">
              <a:ext uri="{FF2B5EF4-FFF2-40B4-BE49-F238E27FC236}">
                <a16:creationId xmlns:a16="http://schemas.microsoft.com/office/drawing/2014/main" id="{12119556-F5F8-4BCB-BFF5-FA027AB8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10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pagamento aprovado</a:t>
            </a:r>
          </a:p>
        </p:txBody>
      </p:sp>
      <p:sp>
        <p:nvSpPr>
          <p:cNvPr id="20" name="history-spec-144">
            <a:extLst xmlns:a="http://schemas.openxmlformats.org/drawingml/2006/main">
              <a:ext uri="{FF2B5EF4-FFF2-40B4-BE49-F238E27FC236}">
                <a16:creationId xmlns:a16="http://schemas.microsoft.com/office/drawing/2014/main" id="{48925796-0328-40C2-8651-7B16984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21" name="history-spec-145">
            <a:extLst xmlns:a="http://schemas.openxmlformats.org/drawingml/2006/main">
              <a:ext uri="{FF2B5EF4-FFF2-40B4-BE49-F238E27FC236}">
                <a16:creationId xmlns:a16="http://schemas.microsoft.com/office/drawing/2014/main" id="{88C4BA9E-DC92-4620-A6C0-2D008A19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37 / 63</a:t>
            </a:r>
          </a:p>
        </p:txBody>
      </p:sp>
    </p:spTree>
    <p:extLst>
      <p:ext uri="{BB962C8B-B14F-4D97-AF65-F5344CB8AC3E}">
        <p14:creationId xmlns:p14="http://schemas.microsoft.com/office/powerpoint/2010/main" val="7139701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DC14FC3C-797A-4310-BB3D-3CD1BB6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 FREQUÊNCIA MUDA A ESCOLHA</a:t>
            </a:r>
          </a:p>
        </p:txBody>
      </p:sp>
      <p:sp>
        <p:nvSpPr>
          <p:cNvPr id="2" name="text-217">
            <a:extLst xmlns:a="http://schemas.openxmlformats.org/drawingml/2006/main">
              <a:ext uri="{FF2B5EF4-FFF2-40B4-BE49-F238E27FC236}">
                <a16:creationId xmlns:a16="http://schemas.microsoft.com/office/drawing/2014/main" id="{809508A5-71A3-4E01-A31C-3E446AC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“Já ficou pronto?”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aa75e9f914921"/>
          <a:stretch xmlns:a="http://schemas.openxmlformats.org/drawingml/2006/main"/>
        </p:blipFill>
        <p:spPr>
          <a:xfrm xmlns:a="http://schemas.openxmlformats.org/drawingml/2006/main">
            <a:off x="533400" y="1828800"/>
            <a:ext cx="4162425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panel-220">
            <a:extLst xmlns:a="http://schemas.openxmlformats.org/drawingml/2006/main">
              <a:ext uri="{FF2B5EF4-FFF2-40B4-BE49-F238E27FC236}">
                <a16:creationId xmlns:a16="http://schemas.microsoft.com/office/drawing/2014/main" id="{CFDABB82-92F8-4B87-9F86-5B4C577F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416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221">
            <a:extLst xmlns:a="http://schemas.openxmlformats.org/drawingml/2006/main">
              <a:ext uri="{FF2B5EF4-FFF2-40B4-BE49-F238E27FC236}">
                <a16:creationId xmlns:a16="http://schemas.microsoft.com/office/drawing/2014/main" id="{51E43478-1E08-451B-8D4B-AA25991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3933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Mais um GET, por favor.</a:t>
            </a:r>
          </a:p>
        </p:txBody>
      </p:sp>
      <p:sp>
        <p:nvSpPr>
          <p:cNvPr id="8" name="text-222">
            <a:extLst xmlns:a="http://schemas.openxmlformats.org/drawingml/2006/main">
              <a:ext uri="{FF2B5EF4-FFF2-40B4-BE49-F238E27FC236}">
                <a16:creationId xmlns:a16="http://schemas.microsoft.com/office/drawing/2014/main" id="{A29B1D7B-8776-4462-9BC9-02CA26D2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8954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POLLING</a:t>
            </a:r>
          </a:p>
        </p:txBody>
      </p:sp>
      <p:sp>
        <p:nvSpPr>
          <p:cNvPr id="9" name="text-223">
            <a:extLst xmlns:a="http://schemas.openxmlformats.org/drawingml/2006/main">
              <a:ext uri="{FF2B5EF4-FFF2-40B4-BE49-F238E27FC236}">
                <a16:creationId xmlns:a16="http://schemas.microsoft.com/office/drawing/2014/main" id="{A4ECB74A-2697-47CD-A71D-FAEC4B1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33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Perguntas em intervalos.</a:t>
            </a:r>
          </a:p>
        </p:txBody>
      </p:sp>
      <p:sp>
        <p:nvSpPr>
          <p:cNvPr id="10" name="text-224">
            <a:extLst xmlns:a="http://schemas.openxmlformats.org/drawingml/2006/main">
              <a:ext uri="{FF2B5EF4-FFF2-40B4-BE49-F238E27FC236}">
                <a16:creationId xmlns:a16="http://schemas.microsoft.com/office/drawing/2014/main" id="{1A946E1E-57C4-4627-869A-1E2D261B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004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11" name="text-225">
            <a:extLst xmlns:a="http://schemas.openxmlformats.org/drawingml/2006/main">
              <a:ext uri="{FF2B5EF4-FFF2-40B4-BE49-F238E27FC236}">
                <a16:creationId xmlns:a16="http://schemas.microsoft.com/office/drawing/2014/main" id="{427417D8-6A50-457A-AA48-3E775BA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6385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Canal aberto, nos dois sentidos.</a:t>
            </a:r>
          </a:p>
        </p:txBody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7C1A772E-A3CF-417B-8219-D3CC7412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6958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WEBHOOK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C58B97C6-F5B4-4755-AE6C-A253EE09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13397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O evento chama o seu servidor.</a:t>
            </a:r>
          </a:p>
        </p:txBody>
      </p:sp>
      <p:sp>
        <p:nvSpPr>
          <p:cNvPr id="16" name="history-spec-146">
            <a:extLst xmlns:a="http://schemas.openxmlformats.org/drawingml/2006/main">
              <a:ext uri="{FF2B5EF4-FFF2-40B4-BE49-F238E27FC236}">
                <a16:creationId xmlns:a16="http://schemas.microsoft.com/office/drawing/2014/main" id="{CD37E01A-570F-4045-86B0-3B4524B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7" name="history-spec-147">
            <a:extLst xmlns:a="http://schemas.openxmlformats.org/drawingml/2006/main">
              <a:ext uri="{FF2B5EF4-FFF2-40B4-BE49-F238E27FC236}">
                <a16:creationId xmlns:a16="http://schemas.microsoft.com/office/drawing/2014/main" id="{770C4FAF-F6BF-46FB-B203-3BCCE62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38 / 63</a:t>
            </a:r>
          </a:p>
        </p:txBody>
      </p:sp>
    </p:spTree>
    <p:extLst>
      <p:ext uri="{BB962C8B-B14F-4D97-AF65-F5344CB8AC3E}">
        <p14:creationId xmlns:p14="http://schemas.microsoft.com/office/powerpoint/2010/main" val="81373606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28">
            <a:extLst xmlns:a="http://schemas.openxmlformats.org/drawingml/2006/main">
              <a:ext uri="{FF2B5EF4-FFF2-40B4-BE49-F238E27FC236}">
                <a16:creationId xmlns:a16="http://schemas.microsoft.com/office/drawing/2014/main" id="{36E5D4EF-8355-4EFD-B153-BA7E687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ATUALIZAÇÃO FREQUENTE? AVALIE O CANAL.</a:t>
            </a:r>
          </a:p>
        </p:txBody>
      </p:sp>
      <p:sp>
        <p:nvSpPr>
          <p:cNvPr id="2" name="text-229">
            <a:extLst xmlns:a="http://schemas.openxmlformats.org/drawingml/2006/main">
              <a:ext uri="{FF2B5EF4-FFF2-40B4-BE49-F238E27FC236}">
                <a16:creationId xmlns:a16="http://schemas.microsoft.com/office/drawing/2014/main" id="{D094D1C0-5871-41FB-973E-0B7CD4AA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dilema do dev com pressa.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dce58771d4250"/>
          <a:stretch xmlns:a="http://schemas.openxmlformats.org/drawingml/2006/main"/>
        </p:blipFill>
        <p:spPr>
          <a:xfrm xmlns:a="http://schemas.openxmlformats.org/drawingml/2006/main">
            <a:off x="657225" y="1771523"/>
            <a:ext cx="2876550" cy="4353179"/>
          </a:xfrm>
          <a:prstGeom xmlns:a="http://schemas.openxmlformats.org/drawingml/2006/main" prst="rect">
            <a:avLst/>
          </a:prstGeom>
        </p:spPr>
      </p:pic>
      <p:sp>
        <p:nvSpPr>
          <p:cNvPr id="6" name="text-232">
            <a:extLst xmlns:a="http://schemas.openxmlformats.org/drawingml/2006/main">
              <a:ext uri="{FF2B5EF4-FFF2-40B4-BE49-F238E27FC236}">
                <a16:creationId xmlns:a16="http://schemas.microsoft.com/office/drawing/2014/main" id="{D618EDF5-C649-4A29-B373-3D6A4988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128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GET A CADA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200 MS</a:t>
            </a:r>
          </a:p>
        </p:txBody>
      </p:sp>
      <p:sp>
        <p:nvSpPr>
          <p:cNvPr id="7" name="text-233">
            <a:extLst xmlns:a="http://schemas.openxmlformats.org/drawingml/2006/main">
              <a:ext uri="{FF2B5EF4-FFF2-40B4-BE49-F238E27FC236}">
                <a16:creationId xmlns:a16="http://schemas.microsoft.com/office/drawing/2014/main" id="{9DF44F7C-E0A3-4E8B-B73E-2F0E4DAF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71675"/>
            <a:ext cx="1200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USAR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8" name="text-234">
            <a:extLst xmlns:a="http://schemas.openxmlformats.org/drawingml/2006/main">
              <a:ext uri="{FF2B5EF4-FFF2-40B4-BE49-F238E27FC236}">
                <a16:creationId xmlns:a16="http://schemas.microsoft.com/office/drawing/2014/main" id="{4E22DB9B-2644-4913-B7A3-E26B4FF8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76450"/>
            <a:ext cx="7334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App: “já tá pronto?”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Servidor: “não.”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App: “e agora?”</a:t>
            </a:r>
          </a:p>
        </p:txBody>
      </p:sp>
      <p:sp>
        <p:nvSpPr>
          <p:cNvPr id="9" name="panel-235">
            <a:extLst xmlns:a="http://schemas.openxmlformats.org/drawingml/2006/main">
              <a:ext uri="{FF2B5EF4-FFF2-40B4-BE49-F238E27FC236}">
                <a16:creationId xmlns:a16="http://schemas.microsoft.com/office/drawing/2014/main" id="{DABFC7AC-0605-4BBC-BD3E-B228C03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62500"/>
            <a:ext cx="75342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10" name="text-236">
            <a:extLst xmlns:a="http://schemas.openxmlformats.org/drawingml/2006/main">
              <a:ext uri="{FF2B5EF4-FFF2-40B4-BE49-F238E27FC236}">
                <a16:creationId xmlns:a16="http://schemas.microsoft.com/office/drawing/2014/main" id="{7048ED3D-8769-4E40-B7B9-EE41A785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972050"/>
            <a:ext cx="7077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429 Too Many Requests</a:t>
            </a:r>
          </a:p>
        </p:txBody>
      </p:sp>
      <p:sp>
        <p:nvSpPr>
          <p:cNvPr id="13" name="history-spec-148">
            <a:extLst xmlns:a="http://schemas.openxmlformats.org/drawingml/2006/main">
              <a:ext uri="{FF2B5EF4-FFF2-40B4-BE49-F238E27FC236}">
                <a16:creationId xmlns:a16="http://schemas.microsoft.com/office/drawing/2014/main" id="{87241415-F974-45DF-9FAD-2805ECF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4" name="history-spec-149">
            <a:extLst xmlns:a="http://schemas.openxmlformats.org/drawingml/2006/main">
              <a:ext uri="{FF2B5EF4-FFF2-40B4-BE49-F238E27FC236}">
                <a16:creationId xmlns:a16="http://schemas.microsoft.com/office/drawing/2014/main" id="{C92AC4BB-938D-42D5-9B74-3FF3ADB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39 / 63</a:t>
            </a:r>
          </a:p>
        </p:txBody>
      </p:sp>
    </p:spTree>
    <p:extLst>
      <p:ext uri="{BB962C8B-B14F-4D97-AF65-F5344CB8AC3E}">
        <p14:creationId xmlns:p14="http://schemas.microsoft.com/office/powerpoint/2010/main" val="2117624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37">
            <a:extLst xmlns:a="http://schemas.openxmlformats.org/drawingml/2006/main">
              <a:ext uri="{FF2B5EF4-FFF2-40B4-BE49-F238E27FC236}">
                <a16:creationId xmlns:a16="http://schemas.microsoft.com/office/drawing/2014/main" id="{966C8089-A0E0-49FF-BAC9-A233CEB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UM CANAL. MENSAGENS NOS DOIS SENTIDOS.</a:t>
            </a:r>
          </a:p>
        </p:txBody>
      </p:sp>
      <p:sp>
        <p:nvSpPr>
          <p:cNvPr id="2" name="text-238">
            <a:extLst xmlns:a="http://schemas.openxmlformats.org/drawingml/2006/main">
              <a:ext uri="{FF2B5EF4-FFF2-40B4-BE49-F238E27FC236}">
                <a16:creationId xmlns:a16="http://schemas.microsoft.com/office/drawing/2014/main" id="{183C2850-2DBE-45B2-9417-2FE8AA10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WebSocket: a linha fica aberta.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5c7c7aa5f4813"/>
          <a:stretch xmlns:a="http://schemas.openxmlformats.org/drawingml/2006/main"/>
        </p:blipFill>
        <p:spPr>
          <a:xfrm xmlns:a="http://schemas.openxmlformats.org/drawingml/2006/main">
            <a:off x="626213" y="1838325"/>
            <a:ext cx="5967523" cy="4276725"/>
          </a:xfrm>
          <a:prstGeom xmlns:a="http://schemas.openxmlformats.org/drawingml/2006/main" prst="rect">
            <a:avLst/>
          </a:prstGeom>
        </p:spPr>
      </p:pic>
      <p:sp>
        <p:nvSpPr>
          <p:cNvPr id="6" name="panel-241">
            <a:extLst xmlns:a="http://schemas.openxmlformats.org/drawingml/2006/main">
              <a:ext uri="{FF2B5EF4-FFF2-40B4-BE49-F238E27FC236}">
                <a16:creationId xmlns:a16="http://schemas.microsoft.com/office/drawing/2014/main" id="{826593DD-BC0A-4F48-AB2D-31420AC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9072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242">
            <a:extLst xmlns:a="http://schemas.openxmlformats.org/drawingml/2006/main">
              <a:ext uri="{FF2B5EF4-FFF2-40B4-BE49-F238E27FC236}">
                <a16:creationId xmlns:a16="http://schemas.microsoft.com/office/drawing/2014/main" id="{FE012582-D404-4321-A300-2EE4CE3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383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8" name="panel-243">
            <a:extLst xmlns:a="http://schemas.openxmlformats.org/drawingml/2006/main">
              <a:ext uri="{FF2B5EF4-FFF2-40B4-BE49-F238E27FC236}">
                <a16:creationId xmlns:a16="http://schemas.microsoft.com/office/drawing/2014/main" id="{6656A221-2752-4AC8-AD67-3E759DB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90725"/>
            <a:ext cx="2314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9" name="text-244">
            <a:extLst xmlns:a="http://schemas.openxmlformats.org/drawingml/2006/main">
              <a:ext uri="{FF2B5EF4-FFF2-40B4-BE49-F238E27FC236}">
                <a16:creationId xmlns:a16="http://schemas.microsoft.com/office/drawing/2014/main" id="{B10145BF-6B1D-4D74-97DF-14E1E31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2085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SERVIDOR</a:t>
            </a:r>
          </a:p>
        </p:txBody>
      </p:sp>
      <p:sp>
        <p:nvSpPr>
          <p:cNvPr id="10" name="text-245">
            <a:extLst xmlns:a="http://schemas.openxmlformats.org/drawingml/2006/main">
              <a:ext uri="{FF2B5EF4-FFF2-40B4-BE49-F238E27FC236}">
                <a16:creationId xmlns:a16="http://schemas.microsoft.com/office/drawing/2014/main" id="{D8F6842C-66A5-401C-923B-65A21074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-246">
            <a:extLst xmlns:a="http://schemas.openxmlformats.org/drawingml/2006/main">
              <a:ext uri="{FF2B5EF4-FFF2-40B4-BE49-F238E27FC236}">
                <a16:creationId xmlns:a16="http://schemas.microsoft.com/office/drawing/2014/main" id="{99E02A5F-4F17-4587-BFB7-F1560EBC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171700"/>
            <a:ext cx="3857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Chat, jogos, mapa ao vivo</a:t>
            </a:r>
          </a:p>
        </p:txBody>
      </p:sp>
      <p:sp>
        <p:nvSpPr>
          <p:cNvPr id="12" name="text-247">
            <a:extLst xmlns:a="http://schemas.openxmlformats.org/drawingml/2006/main">
              <a:ext uri="{FF2B5EF4-FFF2-40B4-BE49-F238E27FC236}">
                <a16:creationId xmlns:a16="http://schemas.microsoft.com/office/drawing/2014/main" id="{0FA71EC2-904E-412D-9CA9-73B90707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004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248">
            <a:extLst xmlns:a="http://schemas.openxmlformats.org/drawingml/2006/main">
              <a:ext uri="{FF2B5EF4-FFF2-40B4-BE49-F238E27FC236}">
                <a16:creationId xmlns:a16="http://schemas.microsoft.com/office/drawing/2014/main" id="{487F045D-8D85-422A-9AE3-D9AA401A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00425"/>
            <a:ext cx="3857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Autenticar e reconectar</a:t>
            </a:r>
          </a:p>
        </p:txBody>
      </p:sp>
      <p:sp>
        <p:nvSpPr>
          <p:cNvPr id="14" name="text-249">
            <a:extLst xmlns:a="http://schemas.openxmlformats.org/drawingml/2006/main">
              <a:ext uri="{FF2B5EF4-FFF2-40B4-BE49-F238E27FC236}">
                <a16:creationId xmlns:a16="http://schemas.microsoft.com/office/drawing/2014/main" id="{CABE7149-16EA-49E8-BEFA-AD6A822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29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-250">
            <a:extLst xmlns:a="http://schemas.openxmlformats.org/drawingml/2006/main">
              <a:ext uri="{FF2B5EF4-FFF2-40B4-BE49-F238E27FC236}">
                <a16:creationId xmlns:a16="http://schemas.microsoft.com/office/drawing/2014/main" id="{EBEBC997-29F9-4113-9651-01B4DF3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29150"/>
            <a:ext cx="3857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wss:// para usar TLS</a:t>
            </a:r>
          </a:p>
        </p:txBody>
      </p:sp>
      <p:sp>
        <p:nvSpPr>
          <p:cNvPr id="18" name="history-spec-150">
            <a:extLst xmlns:a="http://schemas.openxmlformats.org/drawingml/2006/main">
              <a:ext uri="{FF2B5EF4-FFF2-40B4-BE49-F238E27FC236}">
                <a16:creationId xmlns:a16="http://schemas.microsoft.com/office/drawing/2014/main" id="{C835C177-C430-4DC8-A79E-D61E90C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9" name="history-spec-151">
            <a:extLst xmlns:a="http://schemas.openxmlformats.org/drawingml/2006/main">
              <a:ext uri="{FF2B5EF4-FFF2-40B4-BE49-F238E27FC236}">
                <a16:creationId xmlns:a16="http://schemas.microsoft.com/office/drawing/2014/main" id="{9D686326-DA13-4B95-9913-3F8E161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40 / 63</a:t>
            </a:r>
          </a:p>
        </p:txBody>
      </p:sp>
    </p:spTree>
    <p:extLst>
      <p:ext uri="{BB962C8B-B14F-4D97-AF65-F5344CB8AC3E}">
        <p14:creationId xmlns:p14="http://schemas.microsoft.com/office/powerpoint/2010/main" val="18847540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51">
            <a:extLst xmlns:a="http://schemas.openxmlformats.org/drawingml/2006/main">
              <a:ext uri="{FF2B5EF4-FFF2-40B4-BE49-F238E27FC236}">
                <a16:creationId xmlns:a16="http://schemas.microsoft.com/office/drawing/2014/main" id="{BABA186B-4FB1-4A2D-98F9-2CD22A01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PROVEDOR CHAMA A SUA URL</a:t>
            </a:r>
          </a:p>
        </p:txBody>
      </p:sp>
      <p:sp>
        <p:nvSpPr>
          <p:cNvPr id="2" name="text-252">
            <a:extLst xmlns:a="http://schemas.openxmlformats.org/drawingml/2006/main">
              <a:ext uri="{FF2B5EF4-FFF2-40B4-BE49-F238E27FC236}">
                <a16:creationId xmlns:a16="http://schemas.microsoft.com/office/drawing/2014/main" id="{FE11CD88-D309-47C4-8B71-32564ED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Webhook: “fica tranquilo, eu te aviso”.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c444903d04bf5"/>
          <a:stretch xmlns:a="http://schemas.openxmlformats.org/drawingml/2006/main"/>
        </p:blipFill>
        <p:spPr>
          <a:xfrm xmlns:a="http://schemas.openxmlformats.org/drawingml/2006/main">
            <a:off x="674762" y="1809750"/>
            <a:ext cx="3127225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panel-255">
            <a:extLst xmlns:a="http://schemas.openxmlformats.org/drawingml/2006/main">
              <a:ext uri="{FF2B5EF4-FFF2-40B4-BE49-F238E27FC236}">
                <a16:creationId xmlns:a16="http://schemas.microsoft.com/office/drawing/2014/main" id="{0ABA1597-4177-45B0-BB8F-09880ED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481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256">
            <a:extLst xmlns:a="http://schemas.openxmlformats.org/drawingml/2006/main">
              <a:ext uri="{FF2B5EF4-FFF2-40B4-BE49-F238E27FC236}">
                <a16:creationId xmlns:a16="http://schemas.microsoft.com/office/drawing/2014/main" id="{D72DDCFF-8035-430B-828E-7287EB71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4581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Esperar ≠ perguntar sem parar</a:t>
            </a:r>
          </a:p>
        </p:txBody>
      </p:sp>
      <p:sp>
        <p:nvSpPr>
          <p:cNvPr id="8" name="text-257">
            <a:extLst xmlns:a="http://schemas.openxmlformats.org/drawingml/2006/main">
              <a:ext uri="{FF2B5EF4-FFF2-40B4-BE49-F238E27FC236}">
                <a16:creationId xmlns:a16="http://schemas.microsoft.com/office/drawing/2014/main" id="{6C22CBC1-1728-40C0-A6F0-E3596921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14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-258">
            <a:extLst xmlns:a="http://schemas.openxmlformats.org/drawingml/2006/main">
              <a:ext uri="{FF2B5EF4-FFF2-40B4-BE49-F238E27FC236}">
                <a16:creationId xmlns:a16="http://schemas.microsoft.com/office/drawing/2014/main" id="{872FA282-EA1F-4B0C-A19A-9AFCDFB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914525"/>
            <a:ext cx="636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Cadastre a URL</a:t>
            </a:r>
          </a:p>
        </p:txBody>
      </p:sp>
      <p:sp>
        <p:nvSpPr>
          <p:cNvPr id="10" name="text-259">
            <a:extLst xmlns:a="http://schemas.openxmlformats.org/drawingml/2006/main">
              <a:ext uri="{FF2B5EF4-FFF2-40B4-BE49-F238E27FC236}">
                <a16:creationId xmlns:a16="http://schemas.microsoft.com/office/drawing/2014/main" id="{43C5827A-0B82-4588-8A61-8D124A07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860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260">
            <a:extLst xmlns:a="http://schemas.openxmlformats.org/drawingml/2006/main">
              <a:ext uri="{FF2B5EF4-FFF2-40B4-BE49-F238E27FC236}">
                <a16:creationId xmlns:a16="http://schemas.microsoft.com/office/drawing/2014/main" id="{B540A6FE-B05C-4405-9B02-F4FCFEAF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86075"/>
            <a:ext cx="636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evento acontece</a:t>
            </a:r>
          </a:p>
        </p:txBody>
      </p:sp>
      <p:sp>
        <p:nvSpPr>
          <p:cNvPr id="12" name="text-261">
            <a:extLst xmlns:a="http://schemas.openxmlformats.org/drawingml/2006/main">
              <a:ext uri="{FF2B5EF4-FFF2-40B4-BE49-F238E27FC236}">
                <a16:creationId xmlns:a16="http://schemas.microsoft.com/office/drawing/2014/main" id="{AE24E7A5-B680-489E-9342-15468F97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57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62">
            <a:extLst xmlns:a="http://schemas.openxmlformats.org/drawingml/2006/main">
              <a:ext uri="{FF2B5EF4-FFF2-40B4-BE49-F238E27FC236}">
                <a16:creationId xmlns:a16="http://schemas.microsoft.com/office/drawing/2014/main" id="{609DDE5D-0499-427C-93A6-C7254255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57625"/>
            <a:ext cx="636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Receba o POST</a:t>
            </a:r>
          </a:p>
        </p:txBody>
      </p:sp>
      <p:sp>
        <p:nvSpPr>
          <p:cNvPr id="14" name="panel-263">
            <a:extLst xmlns:a="http://schemas.openxmlformats.org/drawingml/2006/main">
              <a:ext uri="{FF2B5EF4-FFF2-40B4-BE49-F238E27FC236}">
                <a16:creationId xmlns:a16="http://schemas.microsoft.com/office/drawing/2014/main" id="{1FDDC2D6-827E-4065-A100-345363D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72050"/>
            <a:ext cx="70770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15" name="text-264">
            <a:extLst xmlns:a="http://schemas.openxmlformats.org/drawingml/2006/main">
              <a:ext uri="{FF2B5EF4-FFF2-40B4-BE49-F238E27FC236}">
                <a16:creationId xmlns:a16="http://schemas.microsoft.com/office/drawing/2014/main" id="{A836F536-122F-462A-8AFF-8A7B05E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6619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Assinatura ✓  Duplicatas ✓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2xx rápido → processe na fila</a:t>
            </a:r>
          </a:p>
        </p:txBody>
      </p:sp>
      <p:sp>
        <p:nvSpPr>
          <p:cNvPr id="18" name="history-spec-152">
            <a:extLst xmlns:a="http://schemas.openxmlformats.org/drawingml/2006/main">
              <a:ext uri="{FF2B5EF4-FFF2-40B4-BE49-F238E27FC236}">
                <a16:creationId xmlns:a16="http://schemas.microsoft.com/office/drawing/2014/main" id="{BD059E77-3D55-426D-AD7E-B0B7EBC7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9" name="history-spec-153">
            <a:extLst xmlns:a="http://schemas.openxmlformats.org/drawingml/2006/main">
              <a:ext uri="{FF2B5EF4-FFF2-40B4-BE49-F238E27FC236}">
                <a16:creationId xmlns:a16="http://schemas.microsoft.com/office/drawing/2014/main" id="{07831EDB-B635-4DBA-8E7A-2E2D84BE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41 / 63</a:t>
            </a:r>
          </a:p>
        </p:txBody>
      </p:sp>
    </p:spTree>
    <p:extLst>
      <p:ext uri="{BB962C8B-B14F-4D97-AF65-F5344CB8AC3E}">
        <p14:creationId xmlns:p14="http://schemas.microsoft.com/office/powerpoint/2010/main" val="85202959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65">
            <a:extLst xmlns:a="http://schemas.openxmlformats.org/drawingml/2006/main">
              <a:ext uri="{FF2B5EF4-FFF2-40B4-BE49-F238E27FC236}">
                <a16:creationId xmlns:a16="http://schemas.microsoft.com/office/drawing/2014/main" id="{54725245-75EE-4129-B89B-4D5791A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SÓ O NOME É PARECIDO</a:t>
            </a:r>
          </a:p>
        </p:txBody>
      </p:sp>
      <p:sp>
        <p:nvSpPr>
          <p:cNvPr id="2" name="text-266">
            <a:extLst xmlns:a="http://schemas.openxmlformats.org/drawingml/2006/main">
              <a:ext uri="{FF2B5EF4-FFF2-40B4-BE49-F238E27FC236}">
                <a16:creationId xmlns:a16="http://schemas.microsoft.com/office/drawing/2014/main" id="{8C7041F9-68C6-4D7A-8E4D-BEEC475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WebSocket × Webhook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828800"/>
          <a:ext xmlns:a="http://schemas.openxmlformats.org/drawingml/2006/main" cx="111252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343400"/>
                <a:gridCol w="4438650"/>
              </a:tblGrid>
              <a:tr h="6254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WebSocket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Webhook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254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Conexão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Persistente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Requisições por evento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254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Direção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Bidirecional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Provedor → receptor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254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Uso comum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App ↔ servidor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Servidor ↔ servidor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254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Exemplo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Chat / mapa ao vivo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Pagamento aprovado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25475">
                <a:tc>
                  <a:txBody>
                    <a:bodyPr lIns="142875" tIns="85725" rIns="95250" bIns="5715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Falhas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Reconectar o canal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Retries conforme provedor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6" name="panel-269">
            <a:extLst xmlns:a="http://schemas.openxmlformats.org/drawingml/2006/main">
              <a:ext uri="{FF2B5EF4-FFF2-40B4-BE49-F238E27FC236}">
                <a16:creationId xmlns:a16="http://schemas.microsoft.com/office/drawing/2014/main" id="{D7B984FD-53AE-4EC3-AB80-E83BB3E5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270">
            <a:extLst xmlns:a="http://schemas.openxmlformats.org/drawingml/2006/main">
              <a:ext uri="{FF2B5EF4-FFF2-40B4-BE49-F238E27FC236}">
                <a16:creationId xmlns:a16="http://schemas.microsoft.com/office/drawing/2014/main" id="{9AED6429-697D-41A7-9494-C4B8172B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Rádio ligado × telefonema quando o pedido fica pronto.</a:t>
            </a:r>
          </a:p>
        </p:txBody>
      </p:sp>
      <p:sp>
        <p:nvSpPr>
          <p:cNvPr id="10" name="history-spec-154">
            <a:extLst xmlns:a="http://schemas.openxmlformats.org/drawingml/2006/main">
              <a:ext uri="{FF2B5EF4-FFF2-40B4-BE49-F238E27FC236}">
                <a16:creationId xmlns:a16="http://schemas.microsoft.com/office/drawing/2014/main" id="{20FAEC52-3E08-4B50-8A3E-F7452855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55">
            <a:extLst xmlns:a="http://schemas.openxmlformats.org/drawingml/2006/main">
              <a:ext uri="{FF2B5EF4-FFF2-40B4-BE49-F238E27FC236}">
                <a16:creationId xmlns:a16="http://schemas.microsoft.com/office/drawing/2014/main" id="{C3F2FF91-2A3A-4B19-B80E-43C6B2C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42 / 63</a:t>
            </a:r>
          </a:p>
        </p:txBody>
      </p:sp>
    </p:spTree>
    <p:extLst>
      <p:ext uri="{BB962C8B-B14F-4D97-AF65-F5344CB8AC3E}">
        <p14:creationId xmlns:p14="http://schemas.microsoft.com/office/powerpoint/2010/main" val="15314529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273">
            <a:extLst xmlns:a="http://schemas.openxmlformats.org/drawingml/2006/main">
              <a:ext uri="{FF2B5EF4-FFF2-40B4-BE49-F238E27FC236}">
                <a16:creationId xmlns:a16="http://schemas.microsoft.com/office/drawing/2014/main" id="{B007DD0F-7F4F-4FBD-B457-044E4E2C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274">
            <a:extLst xmlns:a="http://schemas.openxmlformats.org/drawingml/2006/main">
              <a:ext uri="{FF2B5EF4-FFF2-40B4-BE49-F238E27FC236}">
                <a16:creationId xmlns:a16="http://schemas.microsoft.com/office/drawing/2014/main" id="{7A94D9B8-427B-497A-8F0D-27ABB62E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857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REST ×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GraphQL</a:t>
            </a:r>
          </a:p>
        </p:txBody>
      </p:sp>
      <p:sp>
        <p:nvSpPr>
          <p:cNvPr id="5" name="text-275">
            <a:extLst xmlns:a="http://schemas.openxmlformats.org/drawingml/2006/main">
              <a:ext uri="{FF2B5EF4-FFF2-40B4-BE49-F238E27FC236}">
                <a16:creationId xmlns:a16="http://schemas.microsoft.com/office/drawing/2014/main" id="{9CB284EF-11DE-417C-89B3-E9F54E5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“Qual é melhor?”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O sênior: depende.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7b5e2f5d2450b"/>
          <a:stretch xmlns:a="http://schemas.openxmlformats.org/drawingml/2006/main"/>
        </p:blipFill>
        <p:spPr>
          <a:xfrm xmlns:a="http://schemas.openxmlformats.org/drawingml/2006/main">
            <a:off x="7448550" y="1246823"/>
            <a:ext cx="3886200" cy="4469130"/>
          </a:xfrm>
          <a:prstGeom xmlns:a="http://schemas.openxmlformats.org/drawingml/2006/main" prst="rect">
            <a:avLst/>
          </a:prstGeom>
        </p:spPr>
      </p:pic>
      <p:sp>
        <p:nvSpPr>
          <p:cNvPr id="9" name="history-spec-156">
            <a:extLst xmlns:a="http://schemas.openxmlformats.org/drawingml/2006/main">
              <a:ext uri="{FF2B5EF4-FFF2-40B4-BE49-F238E27FC236}">
                <a16:creationId xmlns:a16="http://schemas.microsoft.com/office/drawing/2014/main" id="{D71659F1-29CA-4E50-94B8-3167D901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0" name="history-spec-157">
            <a:extLst xmlns:a="http://schemas.openxmlformats.org/drawingml/2006/main">
              <a:ext uri="{FF2B5EF4-FFF2-40B4-BE49-F238E27FC236}">
                <a16:creationId xmlns:a16="http://schemas.microsoft.com/office/drawing/2014/main" id="{A0BCBF84-3AC4-4EAD-8AD4-5ADEDCF6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43 / 63</a:t>
            </a:r>
          </a:p>
        </p:txBody>
      </p:sp>
    </p:spTree>
    <p:extLst>
      <p:ext uri="{BB962C8B-B14F-4D97-AF65-F5344CB8AC3E}">
        <p14:creationId xmlns:p14="http://schemas.microsoft.com/office/powerpoint/2010/main" val="11716092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76">
            <a:extLst xmlns:a="http://schemas.openxmlformats.org/drawingml/2006/main">
              <a:ext uri="{FF2B5EF4-FFF2-40B4-BE49-F238E27FC236}">
                <a16:creationId xmlns:a16="http://schemas.microsoft.com/office/drawing/2014/main" id="{AF010D6F-B588-49B7-93B8-DA6A40C2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REST É UM ESTILO ARQUITETURAL</a:t>
            </a:r>
          </a:p>
        </p:txBody>
      </p:sp>
      <p:sp>
        <p:nvSpPr>
          <p:cNvPr id="2" name="text-277">
            <a:extLst xmlns:a="http://schemas.openxmlformats.org/drawingml/2006/main">
              <a:ext uri="{FF2B5EF4-FFF2-40B4-BE49-F238E27FC236}">
                <a16:creationId xmlns:a16="http://schemas.microsoft.com/office/drawing/2014/main" id="{AB598459-F26B-47AF-A031-8694867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HTTP + JSON ≠ REST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bad6c3d594675"/>
          <a:stretch xmlns:a="http://schemas.openxmlformats.org/drawingml/2006/main"/>
        </p:blipFill>
        <p:spPr>
          <a:xfrm xmlns:a="http://schemas.openxmlformats.org/drawingml/2006/main">
            <a:off x="533400" y="2305524"/>
            <a:ext cx="5505450" cy="4123376"/>
          </a:xfrm>
          <a:prstGeom xmlns:a="http://schemas.openxmlformats.org/drawingml/2006/main" prst="rect">
            <a:avLst/>
          </a:prstGeom>
        </p:spPr>
      </p:pic>
      <p:sp>
        <p:nvSpPr>
          <p:cNvPr id="6" name="panel-280">
            <a:extLst xmlns:a="http://schemas.openxmlformats.org/drawingml/2006/main">
              <a:ext uri="{FF2B5EF4-FFF2-40B4-BE49-F238E27FC236}">
                <a16:creationId xmlns:a16="http://schemas.microsoft.com/office/drawing/2014/main" id="{5E08247B-C642-41D4-978D-E6F77456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50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281">
            <a:extLst xmlns:a="http://schemas.openxmlformats.org/drawingml/2006/main">
              <a:ext uri="{FF2B5EF4-FFF2-40B4-BE49-F238E27FC236}">
                <a16:creationId xmlns:a16="http://schemas.microsoft.com/office/drawing/2014/main" id="{A3581FD2-6993-4AA8-9551-924F9213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Mude minha ideia.</a:t>
            </a:r>
          </a:p>
        </p:txBody>
      </p:sp>
      <p:sp>
        <p:nvSpPr>
          <p:cNvPr id="17" name="content-addition-16">
            <a:extLst xmlns:a="http://schemas.openxmlformats.org/drawingml/2006/main">
              <a:ext uri="{FF2B5EF4-FFF2-40B4-BE49-F238E27FC236}">
                <a16:creationId xmlns:a16="http://schemas.microsoft.com/office/drawing/2014/main" id="{A198D355-DC44-46DC-B893-C717E5A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743075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Cliente–servidor</a:t>
            </a:r>
          </a:p>
        </p:txBody>
      </p:sp>
      <p:sp>
        <p:nvSpPr>
          <p:cNvPr id="18" name="content-addition-17">
            <a:extLst xmlns:a="http://schemas.openxmlformats.org/drawingml/2006/main">
              <a:ext uri="{FF2B5EF4-FFF2-40B4-BE49-F238E27FC236}">
                <a16:creationId xmlns:a16="http://schemas.microsoft.com/office/drawing/2014/main" id="{71158A95-4321-4B28-B6E1-06BFEB0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14550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Interface e execução têm papéis separados.</a:t>
            </a:r>
          </a:p>
        </p:txBody>
      </p:sp>
      <p:sp>
        <p:nvSpPr>
          <p:cNvPr id="19" name="content-addition-18">
            <a:extLst xmlns:a="http://schemas.openxmlformats.org/drawingml/2006/main">
              <a:ext uri="{FF2B5EF4-FFF2-40B4-BE49-F238E27FC236}">
                <a16:creationId xmlns:a16="http://schemas.microsoft.com/office/drawing/2014/main" id="{3AF7510F-64F8-4491-8FB7-F61ECCF6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7650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Stateless</a:t>
            </a:r>
          </a:p>
        </p:txBody>
      </p:sp>
      <p:sp>
        <p:nvSpPr>
          <p:cNvPr id="20" name="content-addition-19">
            <a:extLst xmlns:a="http://schemas.openxmlformats.org/drawingml/2006/main">
              <a:ext uri="{FF2B5EF4-FFF2-40B4-BE49-F238E27FC236}">
                <a16:creationId xmlns:a16="http://schemas.microsoft.com/office/drawing/2014/main" id="{FE4A07A7-1B63-4847-A25B-FC6FFAE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47975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Cada pedido traz o contexto necessário.</a:t>
            </a:r>
          </a:p>
        </p:txBody>
      </p:sp>
      <p:sp>
        <p:nvSpPr>
          <p:cNvPr id="21" name="content-addition-20">
            <a:extLst xmlns:a="http://schemas.openxmlformats.org/drawingml/2006/main">
              <a:ext uri="{FF2B5EF4-FFF2-40B4-BE49-F238E27FC236}">
                <a16:creationId xmlns:a16="http://schemas.microsoft.com/office/drawing/2014/main" id="{2BDFF560-A67E-4688-B3EC-27D2554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09925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Cache</a:t>
            </a:r>
          </a:p>
        </p:txBody>
      </p:sp>
      <p:sp>
        <p:nvSpPr>
          <p:cNvPr id="22" name="content-addition-21">
            <a:extLst xmlns:a="http://schemas.openxmlformats.org/drawingml/2006/main">
              <a:ext uri="{FF2B5EF4-FFF2-40B4-BE49-F238E27FC236}">
                <a16:creationId xmlns:a16="http://schemas.microsoft.com/office/drawing/2014/main" id="{26949AD3-E7A8-4F5A-A6F3-462C13F4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81400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A resposta indica se pode ser reutilizada.</a:t>
            </a:r>
          </a:p>
        </p:txBody>
      </p:sp>
      <p:sp>
        <p:nvSpPr>
          <p:cNvPr id="23" name="content-addition-22">
            <a:extLst xmlns:a="http://schemas.openxmlformats.org/drawingml/2006/main">
              <a:ext uri="{FF2B5EF4-FFF2-40B4-BE49-F238E27FC236}">
                <a16:creationId xmlns:a16="http://schemas.microsoft.com/office/drawing/2014/main" id="{8CFC188F-57BA-4F71-BDE2-D530D12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4335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Interface uniforme</a:t>
            </a:r>
          </a:p>
        </p:txBody>
      </p:sp>
      <p:sp>
        <p:nvSpPr>
          <p:cNvPr id="24" name="content-addition-23">
            <a:extLst xmlns:a="http://schemas.openxmlformats.org/drawingml/2006/main">
              <a:ext uri="{FF2B5EF4-FFF2-40B4-BE49-F238E27FC236}">
                <a16:creationId xmlns:a16="http://schemas.microsoft.com/office/drawing/2014/main" id="{19A18A7C-C5B0-4CC2-9506-AE51E1BC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314825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Recursos, mensagens autodescritivas e links.</a:t>
            </a:r>
          </a:p>
        </p:txBody>
      </p:sp>
      <p:sp>
        <p:nvSpPr>
          <p:cNvPr id="25" name="content-addition-24">
            <a:extLst xmlns:a="http://schemas.openxmlformats.org/drawingml/2006/main">
              <a:ext uri="{FF2B5EF4-FFF2-40B4-BE49-F238E27FC236}">
                <a16:creationId xmlns:a16="http://schemas.microsoft.com/office/drawing/2014/main" id="{AD3B3054-B991-4FC6-8319-0869AD4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676775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Camadas</a:t>
            </a:r>
          </a:p>
        </p:txBody>
      </p:sp>
      <p:sp>
        <p:nvSpPr>
          <p:cNvPr id="26" name="content-addition-25">
            <a:extLst xmlns:a="http://schemas.openxmlformats.org/drawingml/2006/main">
              <a:ext uri="{FF2B5EF4-FFF2-40B4-BE49-F238E27FC236}">
                <a16:creationId xmlns:a16="http://schemas.microsoft.com/office/drawing/2014/main" id="{9E9B2005-9203-4A2C-87CA-7E72D63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250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Proxies e gateways podem intermediar.</a:t>
            </a:r>
          </a:p>
        </p:txBody>
      </p:sp>
      <p:sp>
        <p:nvSpPr>
          <p:cNvPr id="27" name="content-addition-26">
            <a:extLst xmlns:a="http://schemas.openxmlformats.org/drawingml/2006/main">
              <a:ext uri="{FF2B5EF4-FFF2-40B4-BE49-F238E27FC236}">
                <a16:creationId xmlns:a16="http://schemas.microsoft.com/office/drawing/2014/main" id="{E3AE2D59-BE42-463E-8938-DA7AB31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41020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Código sob demanda (opcional)</a:t>
            </a:r>
          </a:p>
        </p:txBody>
      </p:sp>
      <p:sp>
        <p:nvSpPr>
          <p:cNvPr id="28" name="content-addition-27">
            <a:extLst xmlns:a="http://schemas.openxmlformats.org/drawingml/2006/main">
              <a:ext uri="{FF2B5EF4-FFF2-40B4-BE49-F238E27FC236}">
                <a16:creationId xmlns:a16="http://schemas.microsoft.com/office/drawing/2014/main" id="{314D7E8A-E921-4CAB-943B-A6E4011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781675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servidor pode enviar código executável.</a:t>
            </a:r>
          </a:p>
        </p:txBody>
      </p:sp>
      <p:sp>
        <p:nvSpPr>
          <p:cNvPr id="30" name="history-spec-158">
            <a:extLst xmlns:a="http://schemas.openxmlformats.org/drawingml/2006/main">
              <a:ext uri="{FF2B5EF4-FFF2-40B4-BE49-F238E27FC236}">
                <a16:creationId xmlns:a16="http://schemas.microsoft.com/office/drawing/2014/main" id="{3BD6BCA1-E403-41A6-BF43-5162E262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31" name="history-spec-159">
            <a:extLst xmlns:a="http://schemas.openxmlformats.org/drawingml/2006/main">
              <a:ext uri="{FF2B5EF4-FFF2-40B4-BE49-F238E27FC236}">
                <a16:creationId xmlns:a16="http://schemas.microsoft.com/office/drawing/2014/main" id="{665D1EDB-E3E2-49A0-90BB-89B6E0BA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44 / 63</a:t>
            </a:r>
          </a:p>
        </p:txBody>
      </p:sp>
    </p:spTree>
    <p:extLst>
      <p:ext uri="{BB962C8B-B14F-4D97-AF65-F5344CB8AC3E}">
        <p14:creationId xmlns:p14="http://schemas.microsoft.com/office/powerpoint/2010/main" val="92759240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89">
            <a:extLst xmlns:a="http://schemas.openxmlformats.org/drawingml/2006/main">
              <a:ext uri="{FF2B5EF4-FFF2-40B4-BE49-F238E27FC236}">
                <a16:creationId xmlns:a16="http://schemas.microsoft.com/office/drawing/2014/main" id="{8BE5DCE6-5E53-43D5-97CC-05B8B57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REST NA PRÁTICA</a:t>
            </a:r>
          </a:p>
        </p:txBody>
      </p:sp>
      <p:sp>
        <p:nvSpPr>
          <p:cNvPr id="2" name="text-290">
            <a:extLst xmlns:a="http://schemas.openxmlformats.org/drawingml/2006/main">
              <a:ext uri="{FF2B5EF4-FFF2-40B4-BE49-F238E27FC236}">
                <a16:creationId xmlns:a16="http://schemas.microsoft.com/office/drawing/2014/main" id="{FBB83DD9-B822-40FD-AE31-6BA3942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Um recurso. Um endereço. Um contrato.</a:t>
            </a:r>
          </a:p>
        </p:txBody>
      </p:sp>
      <p:sp>
        <p:nvSpPr>
          <p:cNvPr id="5" name="panel-293">
            <a:extLst xmlns:a="http://schemas.openxmlformats.org/drawingml/2006/main">
              <a:ext uri="{FF2B5EF4-FFF2-40B4-BE49-F238E27FC236}">
                <a16:creationId xmlns:a16="http://schemas.microsoft.com/office/drawing/2014/main" id="{7807E8FC-0631-4C45-878B-0C9CE1A7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71247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6" name="text-294">
            <a:extLst xmlns:a="http://schemas.openxmlformats.org/drawingml/2006/main">
              <a:ext uri="{FF2B5EF4-FFF2-40B4-BE49-F238E27FC236}">
                <a16:creationId xmlns:a16="http://schemas.microsoft.com/office/drawing/2014/main" id="{0CD0D4EE-2D75-4899-9060-781CC935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GET /usuarios/42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Accept: application/json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Authorization: Bearer &lt;token&gt;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200 OK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Cache-Control: private, max-age=60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{ "id": 42, "nome": "Maria" }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22be28bc4484a"/>
          <a:stretch xmlns:a="http://schemas.openxmlformats.org/drawingml/2006/main"/>
        </p:blipFill>
        <p:spPr>
          <a:xfrm xmlns:a="http://schemas.openxmlformats.org/drawingml/2006/main">
            <a:off x="8086761" y="2686050"/>
            <a:ext cx="3571803" cy="2009775"/>
          </a:xfrm>
          <a:prstGeom xmlns:a="http://schemas.openxmlformats.org/drawingml/2006/main" prst="rect">
            <a:avLst/>
          </a:prstGeom>
        </p:spPr>
      </p:pic>
      <p:sp>
        <p:nvSpPr>
          <p:cNvPr id="8" name="text-295">
            <a:extLst xmlns:a="http://schemas.openxmlformats.org/drawingml/2006/main">
              <a:ext uri="{FF2B5EF4-FFF2-40B4-BE49-F238E27FC236}">
                <a16:creationId xmlns:a16="http://schemas.microsoft.com/office/drawing/2014/main" id="{E830D5A5-7368-4B66-B8A3-0517438E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24425"/>
            <a:ext cx="3571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Cada pedido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 explica sozinho.</a:t>
            </a:r>
          </a:p>
        </p:txBody>
      </p:sp>
      <p:sp>
        <p:nvSpPr>
          <p:cNvPr id="11" name="history-spec-160">
            <a:extLst xmlns:a="http://schemas.openxmlformats.org/drawingml/2006/main">
              <a:ext uri="{FF2B5EF4-FFF2-40B4-BE49-F238E27FC236}">
                <a16:creationId xmlns:a16="http://schemas.microsoft.com/office/drawing/2014/main" id="{8032306A-0F99-4E7B-AC31-EECE349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161">
            <a:extLst xmlns:a="http://schemas.openxmlformats.org/drawingml/2006/main">
              <a:ext uri="{FF2B5EF4-FFF2-40B4-BE49-F238E27FC236}">
                <a16:creationId xmlns:a16="http://schemas.microsoft.com/office/drawing/2014/main" id="{21B85021-FE75-4437-B854-17EC327A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45 / 63</a:t>
            </a:r>
          </a:p>
        </p:txBody>
      </p:sp>
    </p:spTree>
    <p:extLst>
      <p:ext uri="{BB962C8B-B14F-4D97-AF65-F5344CB8AC3E}">
        <p14:creationId xmlns:p14="http://schemas.microsoft.com/office/powerpoint/2010/main" val="211900099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96">
            <a:extLst xmlns:a="http://schemas.openxmlformats.org/drawingml/2006/main">
              <a:ext uri="{FF2B5EF4-FFF2-40B4-BE49-F238E27FC236}">
                <a16:creationId xmlns:a16="http://schemas.microsoft.com/office/drawing/2014/main" id="{5EC8C194-BAAE-4C5F-AD2B-F13E75C8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 SCHEMA CONTINUA MANDANDO</a:t>
            </a:r>
          </a:p>
        </p:txBody>
      </p:sp>
      <p:sp>
        <p:nvSpPr>
          <p:cNvPr id="2" name="text-297">
            <a:extLst xmlns:a="http://schemas.openxmlformats.org/drawingml/2006/main">
              <a:ext uri="{FF2B5EF4-FFF2-40B4-BE49-F238E27FC236}">
                <a16:creationId xmlns:a16="http://schemas.microsoft.com/office/drawing/2014/main" id="{56AAE2C2-C827-4161-B7EA-1380E2E1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GraphQL: peça os campos que precisa.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8700bc8d34100"/>
          <a:stretch xmlns:a="http://schemas.openxmlformats.org/drawingml/2006/main"/>
        </p:blipFill>
        <p:spPr>
          <a:xfrm xmlns:a="http://schemas.openxmlformats.org/drawingml/2006/main">
            <a:off x="533400" y="1870075"/>
            <a:ext cx="6362700" cy="4241800"/>
          </a:xfrm>
          <a:prstGeom xmlns:a="http://schemas.openxmlformats.org/drawingml/2006/main" prst="rect">
            <a:avLst/>
          </a:prstGeom>
        </p:spPr>
      </p:pic>
      <p:sp>
        <p:nvSpPr>
          <p:cNvPr id="6" name="panel-300">
            <a:extLst xmlns:a="http://schemas.openxmlformats.org/drawingml/2006/main">
              <a:ext uri="{FF2B5EF4-FFF2-40B4-BE49-F238E27FC236}">
                <a16:creationId xmlns:a16="http://schemas.microsoft.com/office/drawing/2014/main" id="{A51DEE4A-9C7A-47AC-BDA5-0D587AC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613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301">
            <a:extLst xmlns:a="http://schemas.openxmlformats.org/drawingml/2006/main">
              <a:ext uri="{FF2B5EF4-FFF2-40B4-BE49-F238E27FC236}">
                <a16:creationId xmlns:a16="http://schemas.microsoft.com/office/drawing/2014/main" id="{FB159FD7-323D-4E0C-BE13-F8B07FAB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Eu só precisava do nome…</a:t>
            </a:r>
          </a:p>
        </p:txBody>
      </p:sp>
      <p:sp>
        <p:nvSpPr>
          <p:cNvPr id="8" name="panel-302">
            <a:extLst xmlns:a="http://schemas.openxmlformats.org/drawingml/2006/main">
              <a:ext uri="{FF2B5EF4-FFF2-40B4-BE49-F238E27FC236}">
                <a16:creationId xmlns:a16="http://schemas.microsoft.com/office/drawing/2014/main" id="{27AC0657-E91B-4078-9037-0F2CBB1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57375"/>
            <a:ext cx="43529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9" name="text-303">
            <a:extLst xmlns:a="http://schemas.openxmlformats.org/drawingml/2006/main">
              <a:ext uri="{FF2B5EF4-FFF2-40B4-BE49-F238E27FC236}">
                <a16:creationId xmlns:a16="http://schemas.microsoft.com/office/drawing/2014/main" id="{32B5E35F-631F-46AA-9490-B1DB9F39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66925"/>
            <a:ext cx="38957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query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usuario(id: 42)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  nome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  pedidos { total 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content-addition-28">
            <a:extLst xmlns:a="http://schemas.openxmlformats.org/drawingml/2006/main">
              <a:ext uri="{FF2B5EF4-FFF2-40B4-BE49-F238E27FC236}">
                <a16:creationId xmlns:a16="http://schemas.microsoft.com/office/drawing/2014/main" id="{8BA3DC1A-F08D-417B-BF13-58F6AC44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29125"/>
            <a:ext cx="4352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 escolha tem limites</a:t>
            </a:r>
          </a:p>
        </p:txBody>
      </p:sp>
      <p:sp>
        <p:nvSpPr>
          <p:cNvPr id="14" name="content-addition-29">
            <a:extLst xmlns:a="http://schemas.openxmlformats.org/drawingml/2006/main">
              <a:ext uri="{FF2B5EF4-FFF2-40B4-BE49-F238E27FC236}">
                <a16:creationId xmlns:a16="http://schemas.microsoft.com/office/drawing/2014/main" id="{202493B9-07CC-43CA-8C2F-4318693D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57750"/>
            <a:ext cx="43529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Campos definidos pelo schema.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Permissão validada no servidor.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Profundidade e custo controlados.</a:t>
            </a:r>
          </a:p>
        </p:txBody>
      </p:sp>
      <p:sp>
        <p:nvSpPr>
          <p:cNvPr id="15" name="content-addition-30">
            <a:extLst xmlns:a="http://schemas.openxmlformats.org/drawingml/2006/main">
              <a:ext uri="{FF2B5EF4-FFF2-40B4-BE49-F238E27FC236}">
                <a16:creationId xmlns:a16="http://schemas.microsoft.com/office/drawing/2014/main" id="{3A23A937-31F0-45B5-A056-8E5C904D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924550"/>
            <a:ext cx="4352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Pode reunir dados em uma consulta.</a:t>
            </a:r>
          </a:p>
        </p:txBody>
      </p:sp>
      <p:sp>
        <p:nvSpPr>
          <p:cNvPr id="17" name="history-spec-162">
            <a:extLst xmlns:a="http://schemas.openxmlformats.org/drawingml/2006/main">
              <a:ext uri="{FF2B5EF4-FFF2-40B4-BE49-F238E27FC236}">
                <a16:creationId xmlns:a16="http://schemas.microsoft.com/office/drawing/2014/main" id="{97F4E895-CF9F-4987-B393-B5FC7FC9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8" name="history-spec-163">
            <a:extLst xmlns:a="http://schemas.openxmlformats.org/drawingml/2006/main">
              <a:ext uri="{FF2B5EF4-FFF2-40B4-BE49-F238E27FC236}">
                <a16:creationId xmlns:a16="http://schemas.microsoft.com/office/drawing/2014/main" id="{665AA344-F499-4C0E-97AD-FAE417C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46 / 63</a:t>
            </a:r>
          </a:p>
        </p:txBody>
      </p:sp>
    </p:spTree>
    <p:extLst>
      <p:ext uri="{BB962C8B-B14F-4D97-AF65-F5344CB8AC3E}">
        <p14:creationId xmlns:p14="http://schemas.microsoft.com/office/powerpoint/2010/main" val="85186021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05">
            <a:extLst xmlns:a="http://schemas.openxmlformats.org/drawingml/2006/main">
              <a:ext uri="{FF2B5EF4-FFF2-40B4-BE49-F238E27FC236}">
                <a16:creationId xmlns:a16="http://schemas.microsoft.com/office/drawing/2014/main" id="{6E242A00-E1A0-40E2-9E2D-EAC9753B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SEM TORCIDA ORGANIZADA</a:t>
            </a:r>
          </a:p>
        </p:txBody>
      </p:sp>
      <p:sp>
        <p:nvSpPr>
          <p:cNvPr id="2" name="text-306">
            <a:extLst xmlns:a="http://schemas.openxmlformats.org/drawingml/2006/main">
              <a:ext uri="{FF2B5EF4-FFF2-40B4-BE49-F238E27FC236}">
                <a16:creationId xmlns:a16="http://schemas.microsoft.com/office/drawing/2014/main" id="{ECDD4131-2CBE-4801-9608-7687E2E8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REST × GraphQL: escolha pelo problema.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838325"/>
          <a:ext xmlns:a="http://schemas.openxmlformats.org/drawingml/2006/main" cx="111252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219575"/>
                <a:gridCol w="4762500"/>
              </a:tblGrid>
              <a:tr h="631825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Critério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GraphQL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631825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Resposta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Definida pelo endpoint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Campos escolhidos no schema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31825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Cache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HTTP bem estabelecido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Depende da estratégia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31825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Custo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Por operação / recurso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Custo de consultas e resolvers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631825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Evolução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Compatibilidade e versões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Adicionar / depreciar campos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631825">
                <a:tc>
                  <a:txBody>
                    <a:bodyPr lIns="142875" tIns="85725" rIns="95250" bIns="5715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Uso frequente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Integrações e recursos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42875" tIns="85725" rIns="95250" bIns="5715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Dados relacionados em telas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6" name="panel-309">
            <a:extLst xmlns:a="http://schemas.openxmlformats.org/drawingml/2006/main">
              <a:ext uri="{FF2B5EF4-FFF2-40B4-BE49-F238E27FC236}">
                <a16:creationId xmlns:a16="http://schemas.microsoft.com/office/drawing/2014/main" id="{AC539FDF-5FE3-4AA8-81FA-E4CDA46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310">
            <a:extLst xmlns:a="http://schemas.openxmlformats.org/drawingml/2006/main">
              <a:ext uri="{FF2B5EF4-FFF2-40B4-BE49-F238E27FC236}">
                <a16:creationId xmlns:a16="http://schemas.microsoft.com/office/drawing/2014/main" id="{A9171154-5F92-4A01-ABB8-F71361FE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Podem coexistir. “Depende” continua sendo uma resposta válida.</a:t>
            </a:r>
          </a:p>
        </p:txBody>
      </p:sp>
      <p:sp>
        <p:nvSpPr>
          <p:cNvPr id="10" name="history-spec-164">
            <a:extLst xmlns:a="http://schemas.openxmlformats.org/drawingml/2006/main">
              <a:ext uri="{FF2B5EF4-FFF2-40B4-BE49-F238E27FC236}">
                <a16:creationId xmlns:a16="http://schemas.microsoft.com/office/drawing/2014/main" id="{7456BCEA-511C-4962-B2FC-6E3CBC7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65">
            <a:extLst xmlns:a="http://schemas.openxmlformats.org/drawingml/2006/main">
              <a:ext uri="{FF2B5EF4-FFF2-40B4-BE49-F238E27FC236}">
                <a16:creationId xmlns:a16="http://schemas.microsoft.com/office/drawing/2014/main" id="{3B9A3491-B956-4E5A-9E98-D37CA347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47 / 63</a:t>
            </a:r>
          </a:p>
        </p:txBody>
      </p:sp>
    </p:spTree>
    <p:extLst>
      <p:ext uri="{BB962C8B-B14F-4D97-AF65-F5344CB8AC3E}">
        <p14:creationId xmlns:p14="http://schemas.microsoft.com/office/powerpoint/2010/main" val="180813857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-313">
            <a:extLst xmlns:a="http://schemas.openxmlformats.org/drawingml/2006/main">
              <a:ext uri="{FF2B5EF4-FFF2-40B4-BE49-F238E27FC236}">
                <a16:creationId xmlns:a16="http://schemas.microsoft.com/office/drawing/2014/main" id="{F72617F8-97F6-46FB-A0DC-9E61106C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314">
            <a:extLst xmlns:a="http://schemas.openxmlformats.org/drawingml/2006/main">
              <a:ext uri="{FF2B5EF4-FFF2-40B4-BE49-F238E27FC236}">
                <a16:creationId xmlns:a16="http://schemas.microsoft.com/office/drawing/2014/main" id="{F88C4FA8-DA6B-47A4-8D65-332C9A1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Engenharia</a:t>
            </a:r>
          </a:p>
          <a:p xmlns:a="http://schemas.openxmlformats.org/drawingml/2006/main">
            <a:pPr algn="l">
              <a:buNone/>
              <a:defRPr sz="4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do contrato</a:t>
            </a:r>
          </a:p>
        </p:txBody>
      </p:sp>
      <p:sp>
        <p:nvSpPr>
          <p:cNvPr id="5" name="text-315">
            <a:extLst xmlns:a="http://schemas.openxmlformats.org/drawingml/2006/main">
              <a:ext uri="{FF2B5EF4-FFF2-40B4-BE49-F238E27FC236}">
                <a16:creationId xmlns:a16="http://schemas.microsoft.com/office/drawing/2014/main" id="{632BCAC5-A098-4FC0-8C1E-DF249D4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6048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“Não basta funcionar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na sua máquina.”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cb5b44e74477e"/>
          <a:stretch xmlns:a="http://schemas.openxmlformats.org/drawingml/2006/main"/>
        </p:blipFill>
        <p:spPr>
          <a:xfrm xmlns:a="http://schemas.openxmlformats.org/drawingml/2006/main">
            <a:off x="6724650" y="1964481"/>
            <a:ext cx="4933950" cy="2909988"/>
          </a:xfrm>
          <a:prstGeom xmlns:a="http://schemas.openxmlformats.org/drawingml/2006/main" prst="rect">
            <a:avLst/>
          </a:prstGeom>
        </p:spPr>
      </p:pic>
      <p:sp>
        <p:nvSpPr>
          <p:cNvPr id="7" name="panel-316">
            <a:extLst xmlns:a="http://schemas.openxmlformats.org/drawingml/2006/main">
              <a:ext uri="{FF2B5EF4-FFF2-40B4-BE49-F238E27FC236}">
                <a16:creationId xmlns:a16="http://schemas.microsoft.com/office/drawing/2014/main" id="{FD3C3707-8AEE-43E4-AA59-41624A2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99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8" name="text-317">
            <a:extLst xmlns:a="http://schemas.openxmlformats.org/drawingml/2006/main">
              <a:ext uri="{FF2B5EF4-FFF2-40B4-BE49-F238E27FC236}">
                <a16:creationId xmlns:a16="http://schemas.microsoft.com/office/drawing/2014/main" id="{2AD0CF98-329D-49D6-8B85-BC82DF55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67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Sem documentação? Não passa.</a:t>
            </a:r>
          </a:p>
        </p:txBody>
      </p:sp>
      <p:sp>
        <p:nvSpPr>
          <p:cNvPr id="11" name="history-spec-166">
            <a:extLst xmlns:a="http://schemas.openxmlformats.org/drawingml/2006/main">
              <a:ext uri="{FF2B5EF4-FFF2-40B4-BE49-F238E27FC236}">
                <a16:creationId xmlns:a16="http://schemas.microsoft.com/office/drawing/2014/main" id="{5266032F-E58B-429F-BB04-09BB6FF3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167">
            <a:extLst xmlns:a="http://schemas.openxmlformats.org/drawingml/2006/main">
              <a:ext uri="{FF2B5EF4-FFF2-40B4-BE49-F238E27FC236}">
                <a16:creationId xmlns:a16="http://schemas.microsoft.com/office/drawing/2014/main" id="{37B018B8-6D57-49F8-B247-88C77358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48 / 63</a:t>
            </a:r>
          </a:p>
        </p:txBody>
      </p:sp>
    </p:spTree>
    <p:extLst>
      <p:ext uri="{BB962C8B-B14F-4D97-AF65-F5344CB8AC3E}">
        <p14:creationId xmlns:p14="http://schemas.microsoft.com/office/powerpoint/2010/main" val="2424516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18">
            <a:extLst xmlns:a="http://schemas.openxmlformats.org/drawingml/2006/main">
              <a:ext uri="{FF2B5EF4-FFF2-40B4-BE49-F238E27FC236}">
                <a16:creationId xmlns:a16="http://schemas.microsoft.com/office/drawing/2014/main" id="{204D4A79-0592-4E1A-8C2C-F444FB9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CAPTURA REAL • SWAGGER UI / PETSTORE</a:t>
            </a:r>
          </a:p>
        </p:txBody>
      </p:sp>
      <p:sp>
        <p:nvSpPr>
          <p:cNvPr id="2" name="text-319">
            <a:extLst xmlns:a="http://schemas.openxmlformats.org/drawingml/2006/main">
              <a:ext uri="{FF2B5EF4-FFF2-40B4-BE49-F238E27FC236}">
                <a16:creationId xmlns:a16="http://schemas.microsoft.com/office/drawing/2014/main" id="{64011642-7EE5-44F6-8471-07251B2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OpenAPI: o contrato ganha ferramentas.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b7cd63b2b425a"/>
          <a:stretch xmlns:a="http://schemas.openxmlformats.org/drawingml/2006/main"/>
        </p:blipFill>
        <p:spPr>
          <a:xfrm xmlns:a="http://schemas.openxmlformats.org/drawingml/2006/main">
            <a:off x="533400" y="2076450"/>
            <a:ext cx="7381875" cy="4152900"/>
          </a:xfrm>
          <a:prstGeom xmlns:a="http://schemas.openxmlformats.org/drawingml/2006/main" prst="rect">
            <a:avLst/>
          </a:prstGeom>
        </p:spPr>
      </p:pic>
      <p:sp>
        <p:nvSpPr>
          <p:cNvPr id="16" name="content-addition-31">
            <a:extLst xmlns:a="http://schemas.openxmlformats.org/drawingml/2006/main">
              <a:ext uri="{FF2B5EF4-FFF2-40B4-BE49-F238E27FC236}">
                <a16:creationId xmlns:a16="http://schemas.microsoft.com/office/drawing/2014/main" id="{D3563A85-146E-4BFF-B172-693C22C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OpenAPI descreve o contrato HTTP. Abaixo: Swagger UI da API de exemplo Petstore.</a:t>
            </a:r>
          </a:p>
        </p:txBody>
      </p:sp>
      <p:sp>
        <p:nvSpPr>
          <p:cNvPr id="17" name="content-addition-32">
            <a:extLst xmlns:a="http://schemas.openxmlformats.org/drawingml/2006/main">
              <a:ext uri="{FF2B5EF4-FFF2-40B4-BE49-F238E27FC236}">
                <a16:creationId xmlns:a16="http://schemas.microsoft.com/office/drawing/2014/main" id="{3A7FBC80-3B3E-4959-BBED-6AB79550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977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Documentação</a:t>
            </a:r>
          </a:p>
        </p:txBody>
      </p:sp>
      <p:sp>
        <p:nvSpPr>
          <p:cNvPr id="18" name="content-addition-33">
            <a:extLst xmlns:a="http://schemas.openxmlformats.org/drawingml/2006/main">
              <a:ext uri="{FF2B5EF4-FFF2-40B4-BE49-F238E27FC236}">
                <a16:creationId xmlns:a16="http://schemas.microsoft.com/office/drawing/2014/main" id="{73C3B253-7327-4027-8E3E-E50A98FD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9825"/>
            <a:ext cx="335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Veja endpoints, parâmetros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 respostas no Swagger UI.</a:t>
            </a:r>
          </a:p>
        </p:txBody>
      </p:sp>
      <p:sp>
        <p:nvSpPr>
          <p:cNvPr id="19" name="content-addition-34">
            <a:extLst xmlns:a="http://schemas.openxmlformats.org/drawingml/2006/main">
              <a:ext uri="{FF2B5EF4-FFF2-40B4-BE49-F238E27FC236}">
                <a16:creationId xmlns:a16="http://schemas.microsoft.com/office/drawing/2014/main" id="{145C9A80-5FA6-49E1-8BE3-42625D61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SDKs</a:t>
            </a:r>
          </a:p>
        </p:txBody>
      </p:sp>
      <p:sp>
        <p:nvSpPr>
          <p:cNvPr id="20" name="content-addition-35">
            <a:extLst xmlns:a="http://schemas.openxmlformats.org/drawingml/2006/main">
              <a:ext uri="{FF2B5EF4-FFF2-40B4-BE49-F238E27FC236}">
                <a16:creationId xmlns:a16="http://schemas.microsoft.com/office/drawing/2014/main" id="{554C7795-D5A7-43B7-B2C9-840FBF2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335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Gere clientes a partir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do contrato publicado.</a:t>
            </a:r>
          </a:p>
        </p:txBody>
      </p:sp>
      <p:sp>
        <p:nvSpPr>
          <p:cNvPr id="21" name="content-addition-36">
            <a:extLst xmlns:a="http://schemas.openxmlformats.org/drawingml/2006/main">
              <a:ext uri="{FF2B5EF4-FFF2-40B4-BE49-F238E27FC236}">
                <a16:creationId xmlns:a16="http://schemas.microsoft.com/office/drawing/2014/main" id="{8512DB55-1379-4B95-8D19-50CD482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2432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Mocks</a:t>
            </a:r>
          </a:p>
        </p:txBody>
      </p:sp>
      <p:sp>
        <p:nvSpPr>
          <p:cNvPr id="22" name="content-addition-37">
            <a:extLst xmlns:a="http://schemas.openxmlformats.org/drawingml/2006/main">
              <a:ext uri="{FF2B5EF4-FFF2-40B4-BE49-F238E27FC236}">
                <a16:creationId xmlns:a16="http://schemas.microsoft.com/office/drawing/2014/main" id="{58A165C9-236D-48DB-914D-216FDB3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24375"/>
            <a:ext cx="335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Simule respostas para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o front começar antes.</a:t>
            </a:r>
          </a:p>
        </p:txBody>
      </p:sp>
      <p:sp>
        <p:nvSpPr>
          <p:cNvPr id="23" name="content-addition-38">
            <a:extLst xmlns:a="http://schemas.openxmlformats.org/drawingml/2006/main">
              <a:ext uri="{FF2B5EF4-FFF2-40B4-BE49-F238E27FC236}">
                <a16:creationId xmlns:a16="http://schemas.microsoft.com/office/drawing/2014/main" id="{3EDBE4E4-7C34-40FC-9143-57ECE732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81600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Testes de contrato</a:t>
            </a:r>
          </a:p>
        </p:txBody>
      </p:sp>
      <p:sp>
        <p:nvSpPr>
          <p:cNvPr id="24" name="content-addition-39">
            <a:extLst xmlns:a="http://schemas.openxmlformats.org/drawingml/2006/main">
              <a:ext uri="{FF2B5EF4-FFF2-40B4-BE49-F238E27FC236}">
                <a16:creationId xmlns:a16="http://schemas.microsoft.com/office/drawing/2014/main" id="{22667199-DA8A-481D-8AE8-C9CD1665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335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Compare implementação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 especificação no CI.</a:t>
            </a:r>
          </a:p>
        </p:txBody>
      </p:sp>
      <p:sp>
        <p:nvSpPr>
          <p:cNvPr id="26" name="history-spec-168">
            <a:extLst xmlns:a="http://schemas.openxmlformats.org/drawingml/2006/main">
              <a:ext uri="{FF2B5EF4-FFF2-40B4-BE49-F238E27FC236}">
                <a16:creationId xmlns:a16="http://schemas.microsoft.com/office/drawing/2014/main" id="{B1BE3272-8AB7-40EF-8FA3-81FB6962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27" name="history-spec-169">
            <a:extLst xmlns:a="http://schemas.openxmlformats.org/drawingml/2006/main">
              <a:ext uri="{FF2B5EF4-FFF2-40B4-BE49-F238E27FC236}">
                <a16:creationId xmlns:a16="http://schemas.microsoft.com/office/drawing/2014/main" id="{D11D46EC-2D7E-410A-B1CA-B1561A1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49 / 63</a:t>
            </a:r>
          </a:p>
        </p:txBody>
      </p:sp>
    </p:spTree>
    <p:extLst>
      <p:ext uri="{BB962C8B-B14F-4D97-AF65-F5344CB8AC3E}">
        <p14:creationId xmlns:p14="http://schemas.microsoft.com/office/powerpoint/2010/main" val="11742357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istory-spec-72">
            <a:extLst xmlns:a="http://schemas.openxmlformats.org/drawingml/2006/main">
              <a:ext uri="{FF2B5EF4-FFF2-40B4-BE49-F238E27FC236}">
                <a16:creationId xmlns:a16="http://schemas.microsoft.com/office/drawing/2014/main" id="{2BD99108-B227-4C4E-8672-9DED8F7C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ESPECIFICAÇÃO HTTP • EXEMPLO DIDÁTICO DO RESTAURANTE</a:t>
            </a:r>
          </a:p>
        </p:txBody>
      </p:sp>
      <p:sp>
        <p:nvSpPr>
          <p:cNvPr id="2" name="history-spec-73">
            <a:extLst xmlns:a="http://schemas.openxmlformats.org/drawingml/2006/main">
              <a:ext uri="{FF2B5EF4-FFF2-40B4-BE49-F238E27FC236}">
                <a16:creationId xmlns:a16="http://schemas.microsoft.com/office/drawing/2014/main" id="{C8AA837E-20B0-4D56-8103-89DB1F58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Contrato: o combinado de um endpoint</a:t>
            </a:r>
          </a:p>
        </p:txBody>
      </p:sp>
      <p:sp>
        <p:nvSpPr>
          <p:cNvPr id="3" name="code-panel-74">
            <a:extLst xmlns:a="http://schemas.openxmlformats.org/drawingml/2006/main">
              <a:ext uri="{FF2B5EF4-FFF2-40B4-BE49-F238E27FC236}">
                <a16:creationId xmlns:a16="http://schemas.microsoft.com/office/drawing/2014/main" id="{8632D96A-8AF6-4B49-A5F0-8907EA0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4" name="history-spec-75">
            <a:extLst xmlns:a="http://schemas.openxmlformats.org/drawingml/2006/main">
              <a:ext uri="{FF2B5EF4-FFF2-40B4-BE49-F238E27FC236}">
                <a16:creationId xmlns:a16="http://schemas.microsoft.com/office/drawing/2014/main" id="{C5F39756-BCA6-43FC-9878-42886E51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POST /api/pedidos?mesa=12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724150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8810625"/>
              </a:tblGrid>
              <a:tr h="571500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Parte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Regra deste exemplo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571500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Entrada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mesa: inteiro positivo; JSON: PedidoEntrada.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571500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Acesso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Authorization: Bearer &lt;token&gt;.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571500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Sucesso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201 Created + Location + JSON com id e status.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571500">
                <a:tc>
                  <a:txBody>
                    <a:bodyPr lIns="152400" tIns="85725" rIns="114300" bIns="76200"/>
                    <a:lstStyle/>
                    <a:p>
                      <a:r>
                        <a:rPr sz="1875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Erros previstos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400: JSON inválido · 401: credencial inválida</a:t>
                      </a:r>
                    </a:p>
                    <a:p>
                      <a:r>
                        <a:rPr sz="1875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403: sem permissão · 422: dados fora das regras.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</a:tbl>
          </a:graphicData>
        </a:graphic>
      </p:graphicFrame>
      <p:sp>
        <p:nvSpPr>
          <p:cNvPr id="6" name="history-spec-76">
            <a:extLst xmlns:a="http://schemas.openxmlformats.org/drawingml/2006/main">
              <a:ext uri="{FF2B5EF4-FFF2-40B4-BE49-F238E27FC236}">
                <a16:creationId xmlns:a16="http://schemas.microsoft.com/office/drawing/2014/main" id="{B2E3CD64-367E-4680-AE4B-9C98E19D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 contrato também define o formato dos erros e os limites de uso.</a:t>
            </a:r>
          </a:p>
        </p:txBody>
      </p:sp>
      <p:sp>
        <p:nvSpPr>
          <p:cNvPr id="7" name="history-spec-170">
            <a:extLst xmlns:a="http://schemas.openxmlformats.org/drawingml/2006/main">
              <a:ext uri="{FF2B5EF4-FFF2-40B4-BE49-F238E27FC236}">
                <a16:creationId xmlns:a16="http://schemas.microsoft.com/office/drawing/2014/main" id="{CA8ED6CF-26EC-4A15-87CB-CFB34EA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8" name="history-spec-171">
            <a:extLst xmlns:a="http://schemas.openxmlformats.org/drawingml/2006/main">
              <a:ext uri="{FF2B5EF4-FFF2-40B4-BE49-F238E27FC236}">
                <a16:creationId xmlns:a16="http://schemas.microsoft.com/office/drawing/2014/main" id="{9B17D4C0-A5EA-4BCB-B814-D5041B9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50 / 63</a:t>
            </a:r>
          </a:p>
        </p:txBody>
      </p:sp>
    </p:spTree>
    <p:extLst>
      <p:ext uri="{BB962C8B-B14F-4D97-AF65-F5344CB8AC3E}">
        <p14:creationId xmlns:p14="http://schemas.microsoft.com/office/powerpoint/2010/main" val="18363000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istory-spec-77">
            <a:extLst xmlns:a="http://schemas.openxmlformats.org/drawingml/2006/main">
              <a:ext uri="{FF2B5EF4-FFF2-40B4-BE49-F238E27FC236}">
                <a16:creationId xmlns:a16="http://schemas.microsoft.com/office/drawing/2014/main" id="{2BD23A2E-B282-46D2-B6E2-AE129B00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ESPECIFICAÇÃO DE DADOS • PEDIDOENTRADA</a:t>
            </a:r>
          </a:p>
        </p:txBody>
      </p:sp>
      <p:sp>
        <p:nvSpPr>
          <p:cNvPr id="2" name="history-spec-78">
            <a:extLst xmlns:a="http://schemas.openxmlformats.org/drawingml/2006/main">
              <a:ext uri="{FF2B5EF4-FFF2-40B4-BE49-F238E27FC236}">
                <a16:creationId xmlns:a16="http://schemas.microsoft.com/office/drawing/2014/main" id="{07FBD7F5-43FA-4CD8-8D60-A30226DB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Schema: o JSON tem regras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743075"/>
          <a:ext xmlns:a="http://schemas.openxmlformats.org/drawingml/2006/main" cx="111252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648700"/>
              </a:tblGrid>
              <a:tr h="557213">
                <a:tc>
                  <a:txBody>
                    <a:bodyPr lIns="152400" tIns="85725" rIns="114300" bIns="7620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Campo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Tipo e regra</a:t>
                      </a:r>
                    </a:p>
                  </a:txBody>
                  <a:tcPr marL="91440" marR="91440" marT="45720" marB="45720" anchor="ctr">
                    <a:solidFill>
                      <a:srgbClr val="F4C542"/>
                    </a:solidFill>
                  </a:tcPr>
                </a:tc>
              </a:tr>
              <a:tr h="557213">
                <a:tc>
                  <a:txBody>
                    <a:bodyPr lIns="152400" tIns="85725" rIns="114300" bIns="7620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prato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Texto obrigatório · 1 a 60 caracteres.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  <a:tr h="557213">
                <a:tc>
                  <a:txBody>
                    <a:bodyPr lIns="152400" tIns="85725" rIns="114300" bIns="7620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quantidade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Inteiro de 1 a 10 · opcional; o serviço assume 1.</a:t>
                      </a:r>
                    </a:p>
                  </a:txBody>
                  <a:tcPr marL="91440" marR="91440" marT="45720" marB="45720" anchor="ctr">
                    <a:solidFill>
                      <a:srgbClr val="DEDFF7"/>
                    </a:solidFill>
                  </a:tcPr>
                </a:tc>
              </a:tr>
              <a:tr h="557213">
                <a:tc>
                  <a:txBody>
                    <a:bodyPr lIns="152400" tIns="85725" rIns="114300" bIns="76200"/>
                    <a:lstStyle/>
                    <a:p>
                      <a:r>
                        <a:rPr sz="1950" b="1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obs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  <a:tc>
                  <a:txBody>
                    <a:bodyPr lIns="152400" tIns="85725" rIns="114300" bIns="76200"/>
                    <a:lstStyle/>
                    <a:p>
                      <a:r>
                        <a:rPr sz="1950" b="0">
                          <a:solidFill>
                            <a:srgbClr val="1F2562"/>
                          </a:solidFill>
                          <a:latin typeface="Arial"/>
                          <a:ea typeface="Arial"/>
                          <a:cs typeface="Arial"/>
                        </a:rPr>
                        <a:t>Texto opcional · até 120 caracteres.</a:t>
                      </a:r>
                    </a:p>
                  </a:txBody>
                  <a:tcPr marL="91440" marR="91440" marT="45720" marB="45720" anchor="ctr">
                    <a:solidFill>
                      <a:srgbClr val="FFF2D2"/>
                    </a:solidFill>
                  </a:tcPr>
                </a:tc>
              </a:tr>
            </a:tbl>
          </a:graphicData>
        </a:graphic>
      </p:graphicFrame>
      <p:sp>
        <p:nvSpPr>
          <p:cNvPr id="4" name="history-spec-79">
            <a:extLst xmlns:a="http://schemas.openxmlformats.org/drawingml/2006/main">
              <a:ext uri="{FF2B5EF4-FFF2-40B4-BE49-F238E27FC236}">
                <a16:creationId xmlns:a16="http://schemas.microsoft.com/office/drawing/2014/main" id="{AD9FA2B5-1EF4-47E6-AA72-4CFEB463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76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6D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D50"/>
                </a:solidFill>
                <a:latin typeface="Arial"/>
                <a:ea typeface="Arial"/>
                <a:cs typeface="Arial"/>
              </a:rPr>
              <a:t>VÁLIDO</a:t>
            </a:r>
          </a:p>
        </p:txBody>
      </p:sp>
      <p:sp>
        <p:nvSpPr>
          <p:cNvPr id="5" name="code-panel-80">
            <a:extLst xmlns:a="http://schemas.openxmlformats.org/drawingml/2006/main">
              <a:ext uri="{FF2B5EF4-FFF2-40B4-BE49-F238E27FC236}">
                <a16:creationId xmlns:a16="http://schemas.microsoft.com/office/drawing/2014/main" id="{87645C26-1D09-452B-8E66-124BCEE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5248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6" name="history-spec-81">
            <a:extLst xmlns:a="http://schemas.openxmlformats.org/drawingml/2006/main">
              <a:ext uri="{FF2B5EF4-FFF2-40B4-BE49-F238E27FC236}">
                <a16:creationId xmlns:a16="http://schemas.microsoft.com/office/drawing/2014/main" id="{FF28F9A7-AE8D-42DF-9A4E-1EF60C4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4829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{ "prato": "risoto",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"quantidade": 2 }</a:t>
            </a:r>
          </a:p>
        </p:txBody>
      </p:sp>
      <p:sp>
        <p:nvSpPr>
          <p:cNvPr id="7" name="history-spec-82">
            <a:extLst xmlns:a="http://schemas.openxmlformats.org/drawingml/2006/main">
              <a:ext uri="{FF2B5EF4-FFF2-40B4-BE49-F238E27FC236}">
                <a16:creationId xmlns:a16="http://schemas.microsoft.com/office/drawing/2014/main" id="{DC896A3B-240D-4311-94BA-0AFB265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0050"/>
            <a:ext cx="541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E34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E343F"/>
                </a:solidFill>
                <a:latin typeface="Arial"/>
                <a:ea typeface="Arial"/>
                <a:cs typeface="Arial"/>
              </a:rPr>
              <a:t>INVÁLIDO</a:t>
            </a:r>
          </a:p>
        </p:txBody>
      </p:sp>
      <p:sp>
        <p:nvSpPr>
          <p:cNvPr id="8" name="code-panel-83">
            <a:extLst xmlns:a="http://schemas.openxmlformats.org/drawingml/2006/main">
              <a:ext uri="{FF2B5EF4-FFF2-40B4-BE49-F238E27FC236}">
                <a16:creationId xmlns:a16="http://schemas.microsoft.com/office/drawing/2014/main" id="{E58D5483-BBFB-4D65-87E2-6EB1C0C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57725"/>
            <a:ext cx="54197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9" name="history-spec-84">
            <a:extLst xmlns:a="http://schemas.openxmlformats.org/drawingml/2006/main">
              <a:ext uri="{FF2B5EF4-FFF2-40B4-BE49-F238E27FC236}">
                <a16:creationId xmlns:a16="http://schemas.microsoft.com/office/drawing/2014/main" id="{88F76737-0F3F-48FD-A380-18E0694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3870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{ "prato": "",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"quantidade": "duas" }</a:t>
            </a:r>
          </a:p>
        </p:txBody>
      </p:sp>
      <p:sp>
        <p:nvSpPr>
          <p:cNvPr id="10" name="history-spec-85">
            <a:extLst xmlns:a="http://schemas.openxmlformats.org/drawingml/2006/main">
              <a:ext uri="{FF2B5EF4-FFF2-40B4-BE49-F238E27FC236}">
                <a16:creationId xmlns:a16="http://schemas.microsoft.com/office/drawing/2014/main" id="{C99D81A8-6678-487B-9500-2DE2188E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servidor valida. JSON válido ainda pode pedir um prato esgotado.</a:t>
            </a:r>
          </a:p>
        </p:txBody>
      </p:sp>
      <p:sp>
        <p:nvSpPr>
          <p:cNvPr id="11" name="history-spec-172">
            <a:extLst xmlns:a="http://schemas.openxmlformats.org/drawingml/2006/main">
              <a:ext uri="{FF2B5EF4-FFF2-40B4-BE49-F238E27FC236}">
                <a16:creationId xmlns:a16="http://schemas.microsoft.com/office/drawing/2014/main" id="{FFAC1DDB-2A89-40BC-A739-4756EA8E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173">
            <a:extLst xmlns:a="http://schemas.openxmlformats.org/drawingml/2006/main">
              <a:ext uri="{FF2B5EF4-FFF2-40B4-BE49-F238E27FC236}">
                <a16:creationId xmlns:a16="http://schemas.microsoft.com/office/drawing/2014/main" id="{B842D769-1072-4DFA-81BF-EA25B145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51 / 63</a:t>
            </a:r>
          </a:p>
        </p:txBody>
      </p:sp>
    </p:spTree>
    <p:extLst>
      <p:ext uri="{BB962C8B-B14F-4D97-AF65-F5344CB8AC3E}">
        <p14:creationId xmlns:p14="http://schemas.microsoft.com/office/powerpoint/2010/main" val="62573188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30">
            <a:extLst xmlns:a="http://schemas.openxmlformats.org/drawingml/2006/main">
              <a:ext uri="{FF2B5EF4-FFF2-40B4-BE49-F238E27FC236}">
                <a16:creationId xmlns:a16="http://schemas.microsoft.com/office/drawing/2014/main" id="{DD0EFA26-0F7F-437E-9C9C-86859FF3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HAROLD CONHECE ESSA DOR</a:t>
            </a:r>
          </a:p>
        </p:txBody>
      </p:sp>
      <p:sp>
        <p:nvSpPr>
          <p:cNvPr id="2" name="text-331">
            <a:extLst xmlns:a="http://schemas.openxmlformats.org/drawingml/2006/main">
              <a:ext uri="{FF2B5EF4-FFF2-40B4-BE49-F238E27FC236}">
                <a16:creationId xmlns:a16="http://schemas.microsoft.com/office/drawing/2014/main" id="{51DC882E-5549-455A-AD24-B0CE2BC6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 documentação × a produção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7582b6e904910"/>
          <a:stretch xmlns:a="http://schemas.openxmlformats.org/drawingml/2006/main"/>
        </p:blipFill>
        <p:spPr>
          <a:xfrm xmlns:a="http://schemas.openxmlformats.org/drawingml/2006/main">
            <a:off x="609600" y="1882537"/>
            <a:ext cx="3276600" cy="4102576"/>
          </a:xfrm>
          <a:prstGeom xmlns:a="http://schemas.openxmlformats.org/drawingml/2006/main" prst="rect">
            <a:avLst/>
          </a:prstGeom>
        </p:spPr>
      </p:pic>
      <p:sp>
        <p:nvSpPr>
          <p:cNvPr id="6" name="text-334">
            <a:extLst xmlns:a="http://schemas.openxmlformats.org/drawingml/2006/main">
              <a:ext uri="{FF2B5EF4-FFF2-40B4-BE49-F238E27FC236}">
                <a16:creationId xmlns:a16="http://schemas.microsoft.com/office/drawing/2014/main" id="{FA5E7430-ED20-47A9-901F-E235DCBA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PROMESSA</a:t>
            </a:r>
          </a:p>
        </p:txBody>
      </p:sp>
      <p:sp>
        <p:nvSpPr>
          <p:cNvPr id="7" name="panel-335">
            <a:extLst xmlns:a="http://schemas.openxmlformats.org/drawingml/2006/main">
              <a:ext uri="{FF2B5EF4-FFF2-40B4-BE49-F238E27FC236}">
                <a16:creationId xmlns:a16="http://schemas.microsoft.com/office/drawing/2014/main" id="{BD653DCD-95B3-419E-98CB-F5ABD49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14575"/>
            <a:ext cx="7086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8" name="text-336">
            <a:extLst xmlns:a="http://schemas.openxmlformats.org/drawingml/2006/main">
              <a:ext uri="{FF2B5EF4-FFF2-40B4-BE49-F238E27FC236}">
                <a16:creationId xmlns:a16="http://schemas.microsoft.com/office/drawing/2014/main" id="{2B2A90C7-BE16-47C2-8A26-7619DBC5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24125"/>
            <a:ext cx="6629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Pedido inexistente → 404</a:t>
            </a:r>
          </a:p>
        </p:txBody>
      </p:sp>
      <p:sp>
        <p:nvSpPr>
          <p:cNvPr id="9" name="text-337">
            <a:extLst xmlns:a="http://schemas.openxmlformats.org/drawingml/2006/main">
              <a:ext uri="{FF2B5EF4-FFF2-40B4-BE49-F238E27FC236}">
                <a16:creationId xmlns:a16="http://schemas.microsoft.com/office/drawing/2014/main" id="{1E36CBBA-4FDA-466E-947A-B280BCCF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REALIDADE</a:t>
            </a:r>
          </a:p>
        </p:txBody>
      </p:sp>
      <p:sp>
        <p:nvSpPr>
          <p:cNvPr id="10" name="panel-338">
            <a:extLst xmlns:a="http://schemas.openxmlformats.org/drawingml/2006/main">
              <a:ext uri="{FF2B5EF4-FFF2-40B4-BE49-F238E27FC236}">
                <a16:creationId xmlns:a16="http://schemas.microsoft.com/office/drawing/2014/main" id="{77F70F88-45AC-4C31-B086-2E13E732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86225"/>
            <a:ext cx="7086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11" name="text-339">
            <a:extLst xmlns:a="http://schemas.openxmlformats.org/drawingml/2006/main">
              <a:ext uri="{FF2B5EF4-FFF2-40B4-BE49-F238E27FC236}">
                <a16:creationId xmlns:a16="http://schemas.microsoft.com/office/drawing/2014/main" id="{70F2651C-67F1-49A7-B92D-F30869BF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95775"/>
            <a:ext cx="662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200 OK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{ "sucesso": false,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  "erro": "deu ruim" }</a:t>
            </a:r>
          </a:p>
        </p:txBody>
      </p:sp>
      <p:sp>
        <p:nvSpPr>
          <p:cNvPr id="14" name="history-spec-174">
            <a:extLst xmlns:a="http://schemas.openxmlformats.org/drawingml/2006/main">
              <a:ext uri="{FF2B5EF4-FFF2-40B4-BE49-F238E27FC236}">
                <a16:creationId xmlns:a16="http://schemas.microsoft.com/office/drawing/2014/main" id="{CF1D4781-76D4-4786-A1BE-BA1545D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5" name="history-spec-175">
            <a:extLst xmlns:a="http://schemas.openxmlformats.org/drawingml/2006/main">
              <a:ext uri="{FF2B5EF4-FFF2-40B4-BE49-F238E27FC236}">
                <a16:creationId xmlns:a16="http://schemas.microsoft.com/office/drawing/2014/main" id="{1C747632-2664-41AC-9976-0E24736F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52 / 63</a:t>
            </a:r>
          </a:p>
        </p:txBody>
      </p:sp>
    </p:spTree>
    <p:extLst>
      <p:ext uri="{BB962C8B-B14F-4D97-AF65-F5344CB8AC3E}">
        <p14:creationId xmlns:p14="http://schemas.microsoft.com/office/powerpoint/2010/main" val="59399009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40">
            <a:extLst xmlns:a="http://schemas.openxmlformats.org/drawingml/2006/main">
              <a:ext uri="{FF2B5EF4-FFF2-40B4-BE49-F238E27FC236}">
                <a16:creationId xmlns:a16="http://schemas.microsoft.com/office/drawing/2014/main" id="{A5058102-E999-4A58-A9EA-470AB5F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EVOLUÇÃO DO CONTRATO</a:t>
            </a:r>
          </a:p>
        </p:txBody>
      </p:sp>
      <p:sp>
        <p:nvSpPr>
          <p:cNvPr id="2" name="text-341">
            <a:extLst xmlns:a="http://schemas.openxmlformats.org/drawingml/2006/main">
              <a:ext uri="{FF2B5EF4-FFF2-40B4-BE49-F238E27FC236}">
                <a16:creationId xmlns:a16="http://schemas.microsoft.com/office/drawing/2014/main" id="{1F82BA83-56A4-4B5E-BFBC-4F9B9DC0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O plano infalível para quebrar clientes.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052afe2c44f3f"/>
          <a:stretch xmlns:a="http://schemas.openxmlformats.org/drawingml/2006/main"/>
        </p:blipFill>
        <p:spPr>
          <a:xfrm xmlns:a="http://schemas.openxmlformats.org/drawingml/2006/main">
            <a:off x="536328" y="1952625"/>
            <a:ext cx="6890245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text-344">
            <a:extLst xmlns:a="http://schemas.openxmlformats.org/drawingml/2006/main">
              <a:ext uri="{FF2B5EF4-FFF2-40B4-BE49-F238E27FC236}">
                <a16:creationId xmlns:a16="http://schemas.microsoft.com/office/drawing/2014/main" id="{B074B5B0-DF24-49EE-B23B-CBD2F404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81250"/>
            <a:ext cx="12096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Publicar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 API</a:t>
            </a:r>
          </a:p>
        </p:txBody>
      </p:sp>
      <p:sp>
        <p:nvSpPr>
          <p:cNvPr id="7" name="text-345">
            <a:extLst xmlns:a="http://schemas.openxmlformats.org/drawingml/2006/main">
              <a:ext uri="{FF2B5EF4-FFF2-40B4-BE49-F238E27FC236}">
                <a16:creationId xmlns:a16="http://schemas.microsoft.com/office/drawing/2014/main" id="{6FC30CB9-743F-4B4B-8CB9-80757FE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12096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Renomear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um campo</a:t>
            </a:r>
          </a:p>
        </p:txBody>
      </p:sp>
      <p:sp>
        <p:nvSpPr>
          <p:cNvPr id="8" name="text-346">
            <a:extLst xmlns:a="http://schemas.openxmlformats.org/drawingml/2006/main">
              <a:ext uri="{FF2B5EF4-FFF2-40B4-BE49-F238E27FC236}">
                <a16:creationId xmlns:a16="http://schemas.microsoft.com/office/drawing/2014/main" id="{F814AADB-3DD2-49ED-8EFD-43BF9087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43450"/>
            <a:ext cx="12096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Quebrar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12 apps</a:t>
            </a:r>
          </a:p>
        </p:txBody>
      </p:sp>
      <p:sp>
        <p:nvSpPr>
          <p:cNvPr id="9" name="text-347">
            <a:extLst xmlns:a="http://schemas.openxmlformats.org/drawingml/2006/main">
              <a:ext uri="{FF2B5EF4-FFF2-40B4-BE49-F238E27FC236}">
                <a16:creationId xmlns:a16="http://schemas.microsoft.com/office/drawing/2014/main" id="{86603EA7-6870-4E34-A8C3-842A3EA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743450"/>
            <a:ext cx="12096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Quebrar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12 apps?</a:t>
            </a:r>
          </a:p>
        </p:txBody>
      </p:sp>
      <p:sp>
        <p:nvSpPr>
          <p:cNvPr id="10" name="text-348">
            <a:extLst xmlns:a="http://schemas.openxmlformats.org/drawingml/2006/main">
              <a:ext uri="{FF2B5EF4-FFF2-40B4-BE49-F238E27FC236}">
                <a16:creationId xmlns:a16="http://schemas.microsoft.com/office/drawing/2014/main" id="{63F35E67-50D1-4874-B007-8F93FA9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-349">
            <a:extLst xmlns:a="http://schemas.openxmlformats.org/drawingml/2006/main">
              <a:ext uri="{FF2B5EF4-FFF2-40B4-BE49-F238E27FC236}">
                <a16:creationId xmlns:a16="http://schemas.microsoft.com/office/drawing/2014/main" id="{7D2FDC27-4807-410C-8419-4E664B35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Preserve compatibilidade</a:t>
            </a:r>
          </a:p>
        </p:txBody>
      </p:sp>
      <p:sp>
        <p:nvSpPr>
          <p:cNvPr id="12" name="text-350">
            <a:extLst xmlns:a="http://schemas.openxmlformats.org/drawingml/2006/main">
              <a:ext uri="{FF2B5EF4-FFF2-40B4-BE49-F238E27FC236}">
                <a16:creationId xmlns:a16="http://schemas.microsoft.com/office/drawing/2014/main" id="{9974B153-6193-411C-A608-60E403CD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351">
            <a:extLst xmlns:a="http://schemas.openxmlformats.org/drawingml/2006/main">
              <a:ext uri="{FF2B5EF4-FFF2-40B4-BE49-F238E27FC236}">
                <a16:creationId xmlns:a16="http://schemas.microsoft.com/office/drawing/2014/main" id="{7245EFC4-1894-4956-AC5E-751C6279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81375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Avise e dê prazo</a:t>
            </a:r>
          </a:p>
        </p:txBody>
      </p:sp>
      <p:sp>
        <p:nvSpPr>
          <p:cNvPr id="14" name="text-352">
            <a:extLst xmlns:a="http://schemas.openxmlformats.org/drawingml/2006/main">
              <a:ext uri="{FF2B5EF4-FFF2-40B4-BE49-F238E27FC236}">
                <a16:creationId xmlns:a16="http://schemas.microsoft.com/office/drawing/2014/main" id="{F40E4520-2F0A-4448-8AA4-F26EEA2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-353">
            <a:extLst xmlns:a="http://schemas.openxmlformats.org/drawingml/2006/main">
              <a:ext uri="{FF2B5EF4-FFF2-40B4-BE49-F238E27FC236}">
                <a16:creationId xmlns:a16="http://schemas.microsoft.com/office/drawing/2014/main" id="{E2CC9A60-59D4-4BFE-853F-97065C56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9625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Versione quando preciso</a:t>
            </a:r>
          </a:p>
        </p:txBody>
      </p:sp>
      <p:sp>
        <p:nvSpPr>
          <p:cNvPr id="18" name="history-spec-176">
            <a:extLst xmlns:a="http://schemas.openxmlformats.org/drawingml/2006/main">
              <a:ext uri="{FF2B5EF4-FFF2-40B4-BE49-F238E27FC236}">
                <a16:creationId xmlns:a16="http://schemas.microsoft.com/office/drawing/2014/main" id="{D7D20785-1EA3-4BB8-8836-79104E9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9" name="history-spec-177">
            <a:extLst xmlns:a="http://schemas.openxmlformats.org/drawingml/2006/main">
              <a:ext uri="{FF2B5EF4-FFF2-40B4-BE49-F238E27FC236}">
                <a16:creationId xmlns:a16="http://schemas.microsoft.com/office/drawing/2014/main" id="{0DD807B1-C181-4330-8334-ECB792A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53 / 63</a:t>
            </a:r>
          </a:p>
        </p:txBody>
      </p:sp>
    </p:spTree>
    <p:extLst>
      <p:ext uri="{BB962C8B-B14F-4D97-AF65-F5344CB8AC3E}">
        <p14:creationId xmlns:p14="http://schemas.microsoft.com/office/powerpoint/2010/main" val="122686063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54">
            <a:extLst xmlns:a="http://schemas.openxmlformats.org/drawingml/2006/main">
              <a:ext uri="{FF2B5EF4-FFF2-40B4-BE49-F238E27FC236}">
                <a16:creationId xmlns:a16="http://schemas.microsoft.com/office/drawing/2014/main" id="{94E62614-9050-47EC-8BA1-1EC395E6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DEPLOY COM EMOÇÃO</a:t>
            </a:r>
          </a:p>
        </p:txBody>
      </p:sp>
      <p:sp>
        <p:nvSpPr>
          <p:cNvPr id="2" name="text-355">
            <a:extLst xmlns:a="http://schemas.openxmlformats.org/drawingml/2006/main">
              <a:ext uri="{FF2B5EF4-FFF2-40B4-BE49-F238E27FC236}">
                <a16:creationId xmlns:a16="http://schemas.microsoft.com/office/drawing/2014/main" id="{07AC438C-6274-4426-80B6-6371ABE7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Sexta, 18h03: “só renomeei um campo”.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d0983ade34476"/>
          <a:stretch xmlns:a="http://schemas.openxmlformats.org/drawingml/2006/main"/>
        </p:blipFill>
        <p:spPr>
          <a:xfrm xmlns:a="http://schemas.openxmlformats.org/drawingml/2006/main">
            <a:off x="537926" y="2238375"/>
            <a:ext cx="7268048" cy="3533775"/>
          </a:xfrm>
          <a:prstGeom xmlns:a="http://schemas.openxmlformats.org/drawingml/2006/main" prst="rect">
            <a:avLst/>
          </a:prstGeom>
        </p:spPr>
      </p:pic>
      <p:sp>
        <p:nvSpPr>
          <p:cNvPr id="6" name="text-358">
            <a:extLst xmlns:a="http://schemas.openxmlformats.org/drawingml/2006/main">
              <a:ext uri="{FF2B5EF4-FFF2-40B4-BE49-F238E27FC236}">
                <a16:creationId xmlns:a16="http://schemas.microsoft.com/office/drawing/2014/main" id="{9A76F69D-BCD6-4461-8F5F-6FD46E15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952625"/>
            <a:ext cx="33623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Consolas"/>
                <a:ea typeface="Consolas"/>
                <a:cs typeface="Consolas"/>
              </a:defRPr>
            </a:pPr>
            <a:r>
              <a:rPr sz="2475" b="1">
                <a:solidFill>
                  <a:srgbClr val="1F2562"/>
                </a:solidFill>
                <a:latin typeface="Consolas"/>
                <a:ea typeface="Consolas"/>
                <a:cs typeface="Consolas"/>
              </a:rPr>
              <a:t>nomeUsuario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Consolas"/>
                <a:ea typeface="Consolas"/>
                <a:cs typeface="Consolas"/>
              </a:defRPr>
            </a:pPr>
            <a:r>
              <a:rPr sz="2475" b="1">
                <a:solidFill>
                  <a:srgbClr val="1F2562"/>
                </a:solidFill>
                <a:latin typeface="Consolas"/>
                <a:ea typeface="Consolas"/>
                <a:cs typeface="Consolas"/>
              </a:rPr>
              <a:t>↓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F2562"/>
                </a:solidFill>
                <a:latin typeface="Consolas"/>
                <a:ea typeface="Consolas"/>
                <a:cs typeface="Consolas"/>
              </a:defRPr>
            </a:pPr>
            <a:r>
              <a:rPr sz="2475" b="1">
                <a:solidFill>
                  <a:srgbClr val="1F2562"/>
                </a:solidFill>
                <a:latin typeface="Consolas"/>
                <a:ea typeface="Consolas"/>
                <a:cs typeface="Consolas"/>
              </a:rPr>
              <a:t>userName</a:t>
            </a:r>
          </a:p>
        </p:txBody>
      </p:sp>
      <p:sp>
        <p:nvSpPr>
          <p:cNvPr id="7" name="text-359">
            <a:extLst xmlns:a="http://schemas.openxmlformats.org/drawingml/2006/main">
              <a:ext uri="{FF2B5EF4-FFF2-40B4-BE49-F238E27FC236}">
                <a16:creationId xmlns:a16="http://schemas.microsoft.com/office/drawing/2014/main" id="{270E30E9-F426-441D-97A4-139CBC46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24375"/>
            <a:ext cx="33623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18h04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TypeError</a:t>
            </a:r>
          </a:p>
        </p:txBody>
      </p:sp>
      <p:sp>
        <p:nvSpPr>
          <p:cNvPr id="10" name="history-spec-178">
            <a:extLst xmlns:a="http://schemas.openxmlformats.org/drawingml/2006/main">
              <a:ext uri="{FF2B5EF4-FFF2-40B4-BE49-F238E27FC236}">
                <a16:creationId xmlns:a16="http://schemas.microsoft.com/office/drawing/2014/main" id="{52EA57DA-92F8-4FBE-AEEB-C628FB9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1" name="history-spec-179">
            <a:extLst xmlns:a="http://schemas.openxmlformats.org/drawingml/2006/main">
              <a:ext uri="{FF2B5EF4-FFF2-40B4-BE49-F238E27FC236}">
                <a16:creationId xmlns:a16="http://schemas.microsoft.com/office/drawing/2014/main" id="{C743CA97-7FE2-456C-9B15-CEE09EF7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54 / 63</a:t>
            </a:r>
          </a:p>
        </p:txBody>
      </p:sp>
    </p:spTree>
    <p:extLst>
      <p:ext uri="{BB962C8B-B14F-4D97-AF65-F5344CB8AC3E}">
        <p14:creationId xmlns:p14="http://schemas.microsoft.com/office/powerpoint/2010/main" val="161227649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60">
            <a:extLst xmlns:a="http://schemas.openxmlformats.org/drawingml/2006/main">
              <a:ext uri="{FF2B5EF4-FFF2-40B4-BE49-F238E27FC236}">
                <a16:creationId xmlns:a16="http://schemas.microsoft.com/office/drawing/2014/main" id="{56255626-2C98-4880-8CAE-04E72B2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SEGURANÇA + CONFIABILIDADE</a:t>
            </a:r>
          </a:p>
        </p:txBody>
      </p:sp>
      <p:sp>
        <p:nvSpPr>
          <p:cNvPr id="2" name="text-361">
            <a:extLst xmlns:a="http://schemas.openxmlformats.org/drawingml/2006/main">
              <a:ext uri="{FF2B5EF4-FFF2-40B4-BE49-F238E27FC236}">
                <a16:creationId xmlns:a16="http://schemas.microsoft.com/office/drawing/2014/main" id="{C67AA82C-7823-49BB-ADF2-E1969361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Pedido seguro. Cobrança só uma vez.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7de13d5d4c95"/>
          <a:stretch xmlns:a="http://schemas.openxmlformats.org/drawingml/2006/main"/>
        </p:blipFill>
        <p:spPr>
          <a:xfrm xmlns:a="http://schemas.openxmlformats.org/drawingml/2006/main">
            <a:off x="534963" y="2038350"/>
            <a:ext cx="4006899" cy="3876675"/>
          </a:xfrm>
          <a:prstGeom xmlns:a="http://schemas.openxmlformats.org/drawingml/2006/main" prst="rect">
            <a:avLst/>
          </a:prstGeom>
        </p:spPr>
      </p:pic>
      <p:sp>
        <p:nvSpPr>
          <p:cNvPr id="6" name="text-364">
            <a:extLst xmlns:a="http://schemas.openxmlformats.org/drawingml/2006/main">
              <a:ext uri="{FF2B5EF4-FFF2-40B4-BE49-F238E27FC236}">
                <a16:creationId xmlns:a16="http://schemas.microsoft.com/office/drawing/2014/main" id="{3A9A5B09-F315-4576-A1C9-9E106BD3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28850"/>
            <a:ext cx="18002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“Mas ele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está logado!”</a:t>
            </a:r>
          </a:p>
        </p:txBody>
      </p:sp>
      <p:sp>
        <p:nvSpPr>
          <p:cNvPr id="7" name="text-365">
            <a:extLst xmlns:a="http://schemas.openxmlformats.org/drawingml/2006/main">
              <a:ext uri="{FF2B5EF4-FFF2-40B4-BE49-F238E27FC236}">
                <a16:creationId xmlns:a16="http://schemas.microsoft.com/office/drawing/2014/main" id="{2281BDCB-2345-4CC2-8FA2-1AD2F1CC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28850"/>
            <a:ext cx="1657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“Confere a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permissão!”</a:t>
            </a:r>
          </a:p>
        </p:txBody>
      </p:sp>
      <p:sp>
        <p:nvSpPr>
          <p:cNvPr id="18" name="content-addition-40">
            <a:extLst xmlns:a="http://schemas.openxmlformats.org/drawingml/2006/main">
              <a:ext uri="{FF2B5EF4-FFF2-40B4-BE49-F238E27FC236}">
                <a16:creationId xmlns:a16="http://schemas.microsoft.com/office/drawing/2014/main" id="{5ACDE636-A925-4864-B99F-1AC61B7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19275"/>
            <a:ext cx="650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HTTPS e autorização</a:t>
            </a:r>
          </a:p>
        </p:txBody>
      </p:sp>
      <p:sp>
        <p:nvSpPr>
          <p:cNvPr id="19" name="content-addition-41">
            <a:extLst xmlns:a="http://schemas.openxmlformats.org/drawingml/2006/main">
              <a:ext uri="{FF2B5EF4-FFF2-40B4-BE49-F238E27FC236}">
                <a16:creationId xmlns:a16="http://schemas.microsoft.com/office/drawing/2014/main" id="{34CBFCCF-C207-4C58-BA07-C22273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19325"/>
            <a:ext cx="650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Proteja os dados em trânsito e confira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se o usuário pode acessar cada objeto.</a:t>
            </a:r>
          </a:p>
        </p:txBody>
      </p:sp>
      <p:sp>
        <p:nvSpPr>
          <p:cNvPr id="20" name="content-addition-42">
            <a:extLst xmlns:a="http://schemas.openxmlformats.org/drawingml/2006/main">
              <a:ext uri="{FF2B5EF4-FFF2-40B4-BE49-F238E27FC236}">
                <a16:creationId xmlns:a16="http://schemas.microsoft.com/office/drawing/2014/main" id="{1B404C02-9B6A-46F5-B95B-68A119C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14650"/>
            <a:ext cx="650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Entrada e limites</a:t>
            </a:r>
          </a:p>
        </p:txBody>
      </p:sp>
      <p:sp>
        <p:nvSpPr>
          <p:cNvPr id="21" name="content-addition-43">
            <a:extLst xmlns:a="http://schemas.openxmlformats.org/drawingml/2006/main">
              <a:ext uri="{FF2B5EF4-FFF2-40B4-BE49-F238E27FC236}">
                <a16:creationId xmlns:a16="http://schemas.microsoft.com/office/drawing/2014/main" id="{EA7B71B5-2DAC-4A65-9509-EBEEB1ED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14700"/>
            <a:ext cx="650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Valide o body e limite chamadas excessivas (429).</a:t>
            </a:r>
          </a:p>
        </p:txBody>
      </p:sp>
      <p:sp>
        <p:nvSpPr>
          <p:cNvPr id="22" name="content-addition-44">
            <a:extLst xmlns:a="http://schemas.openxmlformats.org/drawingml/2006/main">
              <a:ext uri="{FF2B5EF4-FFF2-40B4-BE49-F238E27FC236}">
                <a16:creationId xmlns:a16="http://schemas.microsoft.com/office/drawing/2014/main" id="{F0D282A2-31A0-4131-8D3C-06898130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933825"/>
            <a:ext cx="650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Timeout e retry</a:t>
            </a:r>
          </a:p>
        </p:txBody>
      </p:sp>
      <p:sp>
        <p:nvSpPr>
          <p:cNvPr id="23" name="content-addition-45">
            <a:extLst xmlns:a="http://schemas.openxmlformats.org/drawingml/2006/main">
              <a:ext uri="{FF2B5EF4-FFF2-40B4-BE49-F238E27FC236}">
                <a16:creationId xmlns:a16="http://schemas.microsoft.com/office/drawing/2014/main" id="{E4179BCE-C95A-461B-A63A-E34F48F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33875"/>
            <a:ext cx="650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Defina tempo máximo para cada chamada.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Repita operações idempotentes com espera crescente.</a:t>
            </a:r>
          </a:p>
        </p:txBody>
      </p:sp>
      <p:sp>
        <p:nvSpPr>
          <p:cNvPr id="24" name="content-addition-46">
            <a:extLst xmlns:a="http://schemas.openxmlformats.org/drawingml/2006/main">
              <a:ext uri="{FF2B5EF4-FFF2-40B4-BE49-F238E27FC236}">
                <a16:creationId xmlns:a16="http://schemas.microsoft.com/office/drawing/2014/main" id="{7E568743-C19A-4367-BADF-CDC7DBB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953000"/>
            <a:ext cx="650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Idempotência</a:t>
            </a:r>
          </a:p>
        </p:txBody>
      </p:sp>
      <p:sp>
        <p:nvSpPr>
          <p:cNvPr id="25" name="content-addition-47">
            <a:extLst xmlns:a="http://schemas.openxmlformats.org/drawingml/2006/main">
              <a:ext uri="{FF2B5EF4-FFF2-40B4-BE49-F238E27FC236}">
                <a16:creationId xmlns:a16="http://schemas.microsoft.com/office/drawing/2014/main" id="{5C077B13-B036-4180-A576-2AD2437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353050"/>
            <a:ext cx="650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Use Idempotency-Key quando a API oferecer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esse recurso, para evitar cobranças duplicadas.</a:t>
            </a:r>
          </a:p>
        </p:txBody>
      </p:sp>
      <p:sp>
        <p:nvSpPr>
          <p:cNvPr id="27" name="history-spec-180">
            <a:extLst xmlns:a="http://schemas.openxmlformats.org/drawingml/2006/main">
              <a:ext uri="{FF2B5EF4-FFF2-40B4-BE49-F238E27FC236}">
                <a16:creationId xmlns:a16="http://schemas.microsoft.com/office/drawing/2014/main" id="{EC96A45D-3DDD-4D9A-839F-55449D8F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28" name="history-spec-181">
            <a:extLst xmlns:a="http://schemas.openxmlformats.org/drawingml/2006/main">
              <a:ext uri="{FF2B5EF4-FFF2-40B4-BE49-F238E27FC236}">
                <a16:creationId xmlns:a16="http://schemas.microsoft.com/office/drawing/2014/main" id="{4BB163A1-B467-495A-A37C-AC628C7E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55 / 63</a:t>
            </a:r>
          </a:p>
        </p:txBody>
      </p:sp>
    </p:spTree>
    <p:extLst>
      <p:ext uri="{BB962C8B-B14F-4D97-AF65-F5344CB8AC3E}">
        <p14:creationId xmlns:p14="http://schemas.microsoft.com/office/powerpoint/2010/main" val="15072032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2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74">
            <a:extLst xmlns:a="http://schemas.openxmlformats.org/drawingml/2006/main">
              <a:ext uri="{FF2B5EF4-FFF2-40B4-BE49-F238E27FC236}">
                <a16:creationId xmlns:a16="http://schemas.microsoft.com/office/drawing/2014/main" id="{97C1EB4B-02B4-4494-9944-C3EBC9B1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BOLA • AUTORIZAÇÃO POR OBJETO</a:t>
            </a:r>
          </a:p>
        </p:txBody>
      </p:sp>
      <p:sp>
        <p:nvSpPr>
          <p:cNvPr id="2" name="text-375">
            <a:extLst xmlns:a="http://schemas.openxmlformats.org/drawingml/2006/main">
              <a:ext uri="{FF2B5EF4-FFF2-40B4-BE49-F238E27FC236}">
                <a16:creationId xmlns:a16="http://schemas.microsoft.com/office/drawing/2014/main" id="{35E36FC1-043B-4B2E-A5F7-E8772D4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Quando o ID muda… e a API deixa.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8698ee05b44fc"/>
          <a:srcRect xmlns:a="http://schemas.openxmlformats.org/drawingml/2006/main" l="0" t="37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49393"/>
            <a:ext cx="6172200" cy="3235490"/>
          </a:xfrm>
          <a:prstGeom xmlns:a="http://schemas.openxmlformats.org/drawingml/2006/main" prst="rect">
            <a:avLst/>
          </a:prstGeom>
        </p:spPr>
      </p:pic>
      <p:sp>
        <p:nvSpPr>
          <p:cNvPr id="6" name="panel-378">
            <a:extLst xmlns:a="http://schemas.openxmlformats.org/drawingml/2006/main">
              <a:ext uri="{FF2B5EF4-FFF2-40B4-BE49-F238E27FC236}">
                <a16:creationId xmlns:a16="http://schemas.microsoft.com/office/drawing/2014/main" id="{037D664E-7130-4C77-BDDE-D6B12472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85975"/>
            <a:ext cx="449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4B"/>
          </a:solidFill>
          <a:ln xmlns:a="http://schemas.openxmlformats.org/drawingml/2006/main" w="0">
            <a:noFill/>
          </a:ln>
        </p:spPr>
      </p:sp>
      <p:sp>
        <p:nvSpPr>
          <p:cNvPr id="7" name="text-379">
            <a:extLst xmlns:a="http://schemas.openxmlformats.org/drawingml/2006/main">
              <a:ext uri="{FF2B5EF4-FFF2-40B4-BE49-F238E27FC236}">
                <a16:creationId xmlns:a16="http://schemas.microsoft.com/office/drawing/2014/main" id="{B7980338-730B-40C5-BEAD-3F86FB26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95525"/>
            <a:ext cx="4038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GET /usuarios/42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2D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2D2"/>
                </a:solidFill>
                <a:latin typeface="Consolas"/>
                <a:ea typeface="Consolas"/>
                <a:cs typeface="Consolas"/>
              </a:rPr>
              <a:t>GET /usuarios/43</a:t>
            </a:r>
          </a:p>
        </p:txBody>
      </p:sp>
      <p:sp>
        <p:nvSpPr>
          <p:cNvPr id="8" name="text-380">
            <a:extLst xmlns:a="http://schemas.openxmlformats.org/drawingml/2006/main">
              <a:ext uri="{FF2B5EF4-FFF2-40B4-BE49-F238E27FC236}">
                <a16:creationId xmlns:a16="http://schemas.microsoft.com/office/drawing/2014/main" id="{DAFDF656-F173-45E8-B636-B0B303A5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67225"/>
            <a:ext cx="4495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Login não é permissão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para ver qualquer conta.</a:t>
            </a:r>
          </a:p>
        </p:txBody>
      </p:sp>
      <p:sp>
        <p:nvSpPr>
          <p:cNvPr id="9" name="text-381">
            <a:extLst xmlns:a="http://schemas.openxmlformats.org/drawingml/2006/main">
              <a:ext uri="{FF2B5EF4-FFF2-40B4-BE49-F238E27FC236}">
                <a16:creationId xmlns:a16="http://schemas.microsoft.com/office/drawing/2014/main" id="{C770066F-3B4D-4686-AA4C-1C634D5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O servidor precisa verificar o acesso a cada objeto.</a:t>
            </a:r>
          </a:p>
        </p:txBody>
      </p:sp>
      <p:sp>
        <p:nvSpPr>
          <p:cNvPr id="12" name="history-spec-182">
            <a:extLst xmlns:a="http://schemas.openxmlformats.org/drawingml/2006/main">
              <a:ext uri="{FF2B5EF4-FFF2-40B4-BE49-F238E27FC236}">
                <a16:creationId xmlns:a16="http://schemas.microsoft.com/office/drawing/2014/main" id="{A4CFD47E-632F-4764-8460-A5E0841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3" name="history-spec-183">
            <a:extLst xmlns:a="http://schemas.openxmlformats.org/drawingml/2006/main">
              <a:ext uri="{FF2B5EF4-FFF2-40B4-BE49-F238E27FC236}">
                <a16:creationId xmlns:a16="http://schemas.microsoft.com/office/drawing/2014/main" id="{8DA1A92B-330C-4B79-9E5B-251B557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56 / 63</a:t>
            </a:r>
          </a:p>
        </p:txBody>
      </p:sp>
    </p:spTree>
    <p:extLst>
      <p:ext uri="{BB962C8B-B14F-4D97-AF65-F5344CB8AC3E}">
        <p14:creationId xmlns:p14="http://schemas.microsoft.com/office/powerpoint/2010/main" val="45339235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82">
            <a:extLst xmlns:a="http://schemas.openxmlformats.org/drawingml/2006/main">
              <a:ext uri="{FF2B5EF4-FFF2-40B4-BE49-F238E27FC236}">
                <a16:creationId xmlns:a16="http://schemas.microsoft.com/office/drawing/2014/main" id="{E7A5C483-5C79-4B79-9A59-27C61B62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 + IDEMPOTÊNCIA + WEBHOOK</a:t>
            </a:r>
          </a:p>
        </p:txBody>
      </p:sp>
      <p:sp>
        <p:nvSpPr>
          <p:cNvPr id="2" name="text-383">
            <a:extLst xmlns:a="http://schemas.openxmlformats.org/drawingml/2006/main">
              <a:ext uri="{FF2B5EF4-FFF2-40B4-BE49-F238E27FC236}">
                <a16:creationId xmlns:a16="http://schemas.microsoft.com/office/drawing/2014/main" id="{EECDD9DC-FCC2-4BE0-A18D-76D3B5C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Um fluxo real: pagamento com Stripe.</a:t>
            </a:r>
          </a:p>
        </p:txBody>
      </p:sp>
      <p:sp>
        <p:nvSpPr>
          <p:cNvPr id="5" name="panel-386">
            <a:extLst xmlns:a="http://schemas.openxmlformats.org/drawingml/2006/main">
              <a:ext uri="{FF2B5EF4-FFF2-40B4-BE49-F238E27FC236}">
                <a16:creationId xmlns:a16="http://schemas.microsoft.com/office/drawing/2014/main" id="{E5126BED-1291-41B0-B8F2-863E8A67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6" name="text-387">
            <a:extLst xmlns:a="http://schemas.openxmlformats.org/drawingml/2006/main">
              <a:ext uri="{FF2B5EF4-FFF2-40B4-BE49-F238E27FC236}">
                <a16:creationId xmlns:a16="http://schemas.microsoft.com/office/drawing/2014/main" id="{D25E8159-6F43-4849-AD0F-15A83D7C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859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7" name="panel-388">
            <a:extLst xmlns:a="http://schemas.openxmlformats.org/drawingml/2006/main">
              <a:ext uri="{FF2B5EF4-FFF2-40B4-BE49-F238E27FC236}">
                <a16:creationId xmlns:a16="http://schemas.microsoft.com/office/drawing/2014/main" id="{017DD598-9F8A-45B3-8115-B854509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8" name="text-389">
            <a:extLst xmlns:a="http://schemas.openxmlformats.org/drawingml/2006/main">
              <a:ext uri="{FF2B5EF4-FFF2-40B4-BE49-F238E27FC236}">
                <a16:creationId xmlns:a16="http://schemas.microsoft.com/office/drawing/2014/main" id="{0A980A5A-6E18-4B12-9CF3-E7978C6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SEU BACKEND</a:t>
            </a:r>
          </a:p>
        </p:txBody>
      </p:sp>
      <p:sp>
        <p:nvSpPr>
          <p:cNvPr id="9" name="panel-390">
            <a:extLst xmlns:a="http://schemas.openxmlformats.org/drawingml/2006/main">
              <a:ext uri="{FF2B5EF4-FFF2-40B4-BE49-F238E27FC236}">
                <a16:creationId xmlns:a16="http://schemas.microsoft.com/office/drawing/2014/main" id="{4A81A8F5-3B31-450B-BE8A-8AD79F8A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526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10" name="text-391">
            <a:extLst xmlns:a="http://schemas.openxmlformats.org/drawingml/2006/main">
              <a:ext uri="{FF2B5EF4-FFF2-40B4-BE49-F238E27FC236}">
                <a16:creationId xmlns:a16="http://schemas.microsoft.com/office/drawing/2014/main" id="{4DB5B016-072B-4689-852D-79A03D79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859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STRIPE</a:t>
            </a:r>
          </a:p>
        </p:txBody>
      </p:sp>
      <p:sp>
        <p:nvSpPr>
          <p:cNvPr id="11" name="line-392">
            <a:extLst xmlns:a="http://schemas.openxmlformats.org/drawingml/2006/main">
              <a:ext uri="{FF2B5EF4-FFF2-40B4-BE49-F238E27FC236}">
                <a16:creationId xmlns:a16="http://schemas.microsoft.com/office/drawing/2014/main" id="{41DC3453-9852-4C98-947F-0252F98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76500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9BCB"/>
            </a:solidFill>
            <a:prstDash val="solid"/>
          </a:ln>
        </p:spPr>
      </p:sp>
      <p:sp>
        <p:nvSpPr>
          <p:cNvPr id="12" name="line-393">
            <a:extLst xmlns:a="http://schemas.openxmlformats.org/drawingml/2006/main">
              <a:ext uri="{FF2B5EF4-FFF2-40B4-BE49-F238E27FC236}">
                <a16:creationId xmlns:a16="http://schemas.microsoft.com/office/drawing/2014/main" id="{DE3C27A4-4C39-499C-B294-6F667E40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9BCB"/>
            </a:solidFill>
            <a:prstDash val="solid"/>
          </a:ln>
        </p:spPr>
      </p:sp>
      <p:sp>
        <p:nvSpPr>
          <p:cNvPr id="13" name="line-394">
            <a:extLst xmlns:a="http://schemas.openxmlformats.org/drawingml/2006/main">
              <a:ext uri="{FF2B5EF4-FFF2-40B4-BE49-F238E27FC236}">
                <a16:creationId xmlns:a16="http://schemas.microsoft.com/office/drawing/2014/main" id="{8569E1DC-BED1-4D38-8B97-80FFBDBE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76500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9BCB"/>
            </a:solidFill>
            <a:prstDash val="solid"/>
          </a:ln>
        </p:spPr>
      </p:sp>
      <p:sp>
        <p:nvSpPr>
          <p:cNvPr id="14" name="line-395">
            <a:extLst xmlns:a="http://schemas.openxmlformats.org/drawingml/2006/main">
              <a:ext uri="{FF2B5EF4-FFF2-40B4-BE49-F238E27FC236}">
                <a16:creationId xmlns:a16="http://schemas.microsoft.com/office/drawing/2014/main" id="{A282AE5A-428A-4D8E-8341-1450616C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28950"/>
            <a:ext cx="357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5" name="panel-396">
            <a:extLst xmlns:a="http://schemas.openxmlformats.org/drawingml/2006/main">
              <a:ext uri="{FF2B5EF4-FFF2-40B4-BE49-F238E27FC236}">
                <a16:creationId xmlns:a16="http://schemas.microsoft.com/office/drawing/2014/main" id="{10646AF5-B844-4CC0-B995-915402F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57475"/>
            <a:ext cx="3571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62"/>
          </a:solidFill>
          <a:ln xmlns:a="http://schemas.openxmlformats.org/drawingml/2006/main" w="0">
            <a:noFill/>
          </a:ln>
        </p:spPr>
      </p:sp>
      <p:sp>
        <p:nvSpPr>
          <p:cNvPr id="16" name="text-397">
            <a:extLst xmlns:a="http://schemas.openxmlformats.org/drawingml/2006/main">
              <a:ext uri="{FF2B5EF4-FFF2-40B4-BE49-F238E27FC236}">
                <a16:creationId xmlns:a16="http://schemas.microsoft.com/office/drawing/2014/main" id="{FFCA04D9-BF58-4765-9C94-AEDF13B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57475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1 · checkout →</a:t>
            </a:r>
          </a:p>
        </p:txBody>
      </p:sp>
      <p:sp>
        <p:nvSpPr>
          <p:cNvPr id="17" name="line-398">
            <a:extLst xmlns:a="http://schemas.openxmlformats.org/drawingml/2006/main">
              <a:ext uri="{FF2B5EF4-FFF2-40B4-BE49-F238E27FC236}">
                <a16:creationId xmlns:a16="http://schemas.microsoft.com/office/drawing/2014/main" id="{2302370D-0A7B-48E7-8706-00B69EE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3514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8" name="panel-399">
            <a:extLst xmlns:a="http://schemas.openxmlformats.org/drawingml/2006/main">
              <a:ext uri="{FF2B5EF4-FFF2-40B4-BE49-F238E27FC236}">
                <a16:creationId xmlns:a16="http://schemas.microsoft.com/office/drawing/2014/main" id="{BF5D1BB3-FCF4-43D6-93E0-CBB6B8DD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8025"/>
            <a:ext cx="3514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62"/>
          </a:solidFill>
          <a:ln xmlns:a="http://schemas.openxmlformats.org/drawingml/2006/main" w="0">
            <a:noFill/>
          </a:ln>
        </p:spPr>
      </p:sp>
      <p:sp>
        <p:nvSpPr>
          <p:cNvPr id="19" name="text-400">
            <a:extLst xmlns:a="http://schemas.openxmlformats.org/drawingml/2006/main">
              <a:ext uri="{FF2B5EF4-FFF2-40B4-BE49-F238E27FC236}">
                <a16:creationId xmlns:a16="http://schemas.microsoft.com/office/drawing/2014/main" id="{B5501051-5F83-4ADA-862D-0320F6C3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8025"/>
            <a:ext cx="3514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2 · PaymentIntent →</a:t>
            </a:r>
          </a:p>
        </p:txBody>
      </p:sp>
      <p:sp>
        <p:nvSpPr>
          <p:cNvPr id="20" name="line-401">
            <a:extLst xmlns:a="http://schemas.openxmlformats.org/drawingml/2006/main">
              <a:ext uri="{FF2B5EF4-FFF2-40B4-BE49-F238E27FC236}">
                <a16:creationId xmlns:a16="http://schemas.microsoft.com/office/drawing/2014/main" id="{324BA0C7-2DB3-4920-8459-32C1F50C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00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21" name="panel-402">
            <a:extLst xmlns:a="http://schemas.openxmlformats.org/drawingml/2006/main">
              <a:ext uri="{FF2B5EF4-FFF2-40B4-BE49-F238E27FC236}">
                <a16:creationId xmlns:a16="http://schemas.microsoft.com/office/drawing/2014/main" id="{74178AD2-59DD-4D5D-87FC-6A8F407A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38575"/>
            <a:ext cx="7572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62"/>
          </a:solidFill>
          <a:ln xmlns:a="http://schemas.openxmlformats.org/drawingml/2006/main" w="0">
            <a:noFill/>
          </a:ln>
        </p:spPr>
      </p:sp>
      <p:sp>
        <p:nvSpPr>
          <p:cNvPr id="22" name="text-403">
            <a:extLst xmlns:a="http://schemas.openxmlformats.org/drawingml/2006/main">
              <a:ext uri="{FF2B5EF4-FFF2-40B4-BE49-F238E27FC236}">
                <a16:creationId xmlns:a16="http://schemas.microsoft.com/office/drawing/2014/main" id="{22097BF2-E952-4F42-AC2D-BE88260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38575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3 · ← client_secret</a:t>
            </a:r>
          </a:p>
        </p:txBody>
      </p:sp>
      <p:sp>
        <p:nvSpPr>
          <p:cNvPr id="23" name="line-404">
            <a:extLst xmlns:a="http://schemas.openxmlformats.org/drawingml/2006/main">
              <a:ext uri="{FF2B5EF4-FFF2-40B4-BE49-F238E27FC236}">
                <a16:creationId xmlns:a16="http://schemas.microsoft.com/office/drawing/2014/main" id="{D66DFC7E-6E81-4ADE-8B10-ECDC4767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86325"/>
            <a:ext cx="759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24" name="panel-405">
            <a:extLst xmlns:a="http://schemas.openxmlformats.org/drawingml/2006/main">
              <a:ext uri="{FF2B5EF4-FFF2-40B4-BE49-F238E27FC236}">
                <a16:creationId xmlns:a16="http://schemas.microsoft.com/office/drawing/2014/main" id="{F1D3AE1D-CE81-4A8C-B339-3353BCED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4850"/>
            <a:ext cx="7591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62"/>
          </a:solidFill>
          <a:ln xmlns:a="http://schemas.openxmlformats.org/drawingml/2006/main" w="0">
            <a:noFill/>
          </a:ln>
        </p:spPr>
      </p:sp>
      <p:sp>
        <p:nvSpPr>
          <p:cNvPr id="25" name="text-406">
            <a:extLst xmlns:a="http://schemas.openxmlformats.org/drawingml/2006/main">
              <a:ext uri="{FF2B5EF4-FFF2-40B4-BE49-F238E27FC236}">
                <a16:creationId xmlns:a16="http://schemas.microsoft.com/office/drawing/2014/main" id="{4404B2FB-CADD-4332-88BB-9F4380C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4850"/>
            <a:ext cx="759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4 · confirmação com Stripe.js →</a:t>
            </a:r>
          </a:p>
        </p:txBody>
      </p:sp>
      <p:sp>
        <p:nvSpPr>
          <p:cNvPr id="26" name="line-407">
            <a:extLst xmlns:a="http://schemas.openxmlformats.org/drawingml/2006/main">
              <a:ext uri="{FF2B5EF4-FFF2-40B4-BE49-F238E27FC236}">
                <a16:creationId xmlns:a16="http://schemas.microsoft.com/office/drawing/2014/main" id="{D63D13B7-9FC4-459A-BF31-D0A57E66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62600"/>
            <a:ext cx="356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27" name="panel-408">
            <a:extLst xmlns:a="http://schemas.openxmlformats.org/drawingml/2006/main">
              <a:ext uri="{FF2B5EF4-FFF2-40B4-BE49-F238E27FC236}">
                <a16:creationId xmlns:a16="http://schemas.microsoft.com/office/drawing/2014/main" id="{CD6A49B8-382D-4857-8396-AE4CCBC6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11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562"/>
          </a:solidFill>
          <a:ln xmlns:a="http://schemas.openxmlformats.org/drawingml/2006/main" w="0">
            <a:noFill/>
          </a:ln>
        </p:spPr>
      </p:sp>
      <p:sp>
        <p:nvSpPr>
          <p:cNvPr id="28" name="text-409">
            <a:extLst xmlns:a="http://schemas.openxmlformats.org/drawingml/2006/main">
              <a:ext uri="{FF2B5EF4-FFF2-40B4-BE49-F238E27FC236}">
                <a16:creationId xmlns:a16="http://schemas.microsoft.com/office/drawing/2014/main" id="{5461A146-062F-49AB-B8E0-7BC13F03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11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5 · ← webhook assinado</a:t>
            </a:r>
          </a:p>
        </p:txBody>
      </p:sp>
      <p:sp>
        <p:nvSpPr>
          <p:cNvPr id="29" name="panel-410">
            <a:extLst xmlns:a="http://schemas.openxmlformats.org/drawingml/2006/main">
              <a:ext uri="{FF2B5EF4-FFF2-40B4-BE49-F238E27FC236}">
                <a16:creationId xmlns:a16="http://schemas.microsoft.com/office/drawing/2014/main" id="{5BDA3C11-1643-43A0-885F-F1EFBD47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30" name="text-411">
            <a:extLst xmlns:a="http://schemas.openxmlformats.org/drawingml/2006/main">
              <a:ext uri="{FF2B5EF4-FFF2-40B4-BE49-F238E27FC236}">
                <a16:creationId xmlns:a16="http://schemas.microsoft.com/office/drawing/2014/main" id="{3EF3B8ED-4F7C-4117-B000-C179E71E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Backend cria • app confirma • webhook informa o resultado final.</a:t>
            </a:r>
          </a:p>
        </p:txBody>
      </p:sp>
      <p:sp>
        <p:nvSpPr>
          <p:cNvPr id="32" name="history-spec-184">
            <a:extLst xmlns:a="http://schemas.openxmlformats.org/drawingml/2006/main">
              <a:ext uri="{FF2B5EF4-FFF2-40B4-BE49-F238E27FC236}">
                <a16:creationId xmlns:a16="http://schemas.microsoft.com/office/drawing/2014/main" id="{E5B2E149-62CF-4179-8486-A314A789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33" name="history-spec-185">
            <a:extLst xmlns:a="http://schemas.openxmlformats.org/drawingml/2006/main">
              <a:ext uri="{FF2B5EF4-FFF2-40B4-BE49-F238E27FC236}">
                <a16:creationId xmlns:a16="http://schemas.microsoft.com/office/drawing/2014/main" id="{CF2E6F9E-86E6-4591-AD08-FE216D48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57 / 63</a:t>
            </a:r>
          </a:p>
        </p:txBody>
      </p:sp>
    </p:spTree>
    <p:extLst>
      <p:ext uri="{BB962C8B-B14F-4D97-AF65-F5344CB8AC3E}">
        <p14:creationId xmlns:p14="http://schemas.microsoft.com/office/powerpoint/2010/main" val="178910820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12">
            <a:extLst xmlns:a="http://schemas.openxmlformats.org/drawingml/2006/main">
              <a:ext uri="{FF2B5EF4-FFF2-40B4-BE49-F238E27FC236}">
                <a16:creationId xmlns:a16="http://schemas.microsoft.com/office/drawing/2014/main" id="{2B762EA2-172B-4D0F-9BCA-719DE625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API NÃO EXIGE MICROSSERVIÇOS</a:t>
            </a:r>
          </a:p>
        </p:txBody>
      </p:sp>
      <p:sp>
        <p:nvSpPr>
          <p:cNvPr id="2" name="text-413">
            <a:extLst xmlns:a="http://schemas.openxmlformats.org/drawingml/2006/main">
              <a:ext uri="{FF2B5EF4-FFF2-40B4-BE49-F238E27FC236}">
                <a16:creationId xmlns:a16="http://schemas.microsoft.com/office/drawing/2014/main" id="{8DC1A41E-125C-4BD6-B499-163E51F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Quem chama quem nessa arquitetura?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2699aef28496f"/>
          <a:srcRect xmlns:a="http://schemas.openxmlformats.org/drawingml/2006/main" l="0" t="4160" r="0" b="4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09775"/>
            <a:ext cx="5915025" cy="4067175"/>
          </a:xfrm>
          <a:prstGeom xmlns:a="http://schemas.openxmlformats.org/drawingml/2006/main" prst="rect">
            <a:avLst/>
          </a:prstGeom>
        </p:spPr>
      </p:pic>
      <p:sp>
        <p:nvSpPr>
          <p:cNvPr id="6" name="text-416">
            <a:extLst xmlns:a="http://schemas.openxmlformats.org/drawingml/2006/main">
              <a:ext uri="{FF2B5EF4-FFF2-40B4-BE49-F238E27FC236}">
                <a16:creationId xmlns:a16="http://schemas.microsoft.com/office/drawing/2014/main" id="{7589175F-91F9-4EDE-B615-2F23472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716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417">
            <a:extLst xmlns:a="http://schemas.openxmlformats.org/drawingml/2006/main">
              <a:ext uri="{FF2B5EF4-FFF2-40B4-BE49-F238E27FC236}">
                <a16:creationId xmlns:a16="http://schemas.microsoft.com/office/drawing/2014/main" id="{AC947E92-10EB-43BD-86CC-AE0E6BB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71675"/>
            <a:ext cx="4086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Monólito também expõe API</a:t>
            </a:r>
          </a:p>
        </p:txBody>
      </p:sp>
      <p:sp>
        <p:nvSpPr>
          <p:cNvPr id="8" name="text-418">
            <a:extLst xmlns:a="http://schemas.openxmlformats.org/drawingml/2006/main">
              <a:ext uri="{FF2B5EF4-FFF2-40B4-BE49-F238E27FC236}">
                <a16:creationId xmlns:a16="http://schemas.microsoft.com/office/drawing/2014/main" id="{4ACA1A24-A6FB-46CA-B889-2A1E9ED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419">
            <a:extLst xmlns:a="http://schemas.openxmlformats.org/drawingml/2006/main">
              <a:ext uri="{FF2B5EF4-FFF2-40B4-BE49-F238E27FC236}">
                <a16:creationId xmlns:a16="http://schemas.microsoft.com/office/drawing/2014/main" id="{74339F4F-88FF-4876-B23C-8BBD8BBE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00375"/>
            <a:ext cx="4086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Gateway: entrada e políticas</a:t>
            </a:r>
          </a:p>
        </p:txBody>
      </p:sp>
      <p:sp>
        <p:nvSpPr>
          <p:cNvPr id="10" name="text-420">
            <a:extLst xmlns:a="http://schemas.openxmlformats.org/drawingml/2006/main">
              <a:ext uri="{FF2B5EF4-FFF2-40B4-BE49-F238E27FC236}">
                <a16:creationId xmlns:a16="http://schemas.microsoft.com/office/drawing/2014/main" id="{AFE64EC5-4CE3-45BB-9F96-A4FF283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290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421">
            <a:extLst xmlns:a="http://schemas.openxmlformats.org/drawingml/2006/main">
              <a:ext uri="{FF2B5EF4-FFF2-40B4-BE49-F238E27FC236}">
                <a16:creationId xmlns:a16="http://schemas.microsoft.com/office/drawing/2014/main" id="{6CF9FA81-919B-4173-84B1-F65BE1F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29075"/>
            <a:ext cx="4086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BFF: API adaptada à tela</a:t>
            </a:r>
          </a:p>
        </p:txBody>
      </p:sp>
      <p:sp>
        <p:nvSpPr>
          <p:cNvPr id="12" name="text-422">
            <a:extLst xmlns:a="http://schemas.openxmlformats.org/drawingml/2006/main">
              <a:ext uri="{FF2B5EF4-FFF2-40B4-BE49-F238E27FC236}">
                <a16:creationId xmlns:a16="http://schemas.microsoft.com/office/drawing/2014/main" id="{2BC2ABAB-5A3D-4F83-8E25-74CE1B9B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0577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423">
            <a:extLst xmlns:a="http://schemas.openxmlformats.org/drawingml/2006/main">
              <a:ext uri="{FF2B5EF4-FFF2-40B4-BE49-F238E27FC236}">
                <a16:creationId xmlns:a16="http://schemas.microsoft.com/office/drawing/2014/main" id="{00F24406-D423-4838-9DE8-DE2E0236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57775"/>
            <a:ext cx="4086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Eventos: avisos entre sistemas</a:t>
            </a:r>
          </a:p>
        </p:txBody>
      </p:sp>
      <p:sp>
        <p:nvSpPr>
          <p:cNvPr id="16" name="history-spec-186">
            <a:extLst xmlns:a="http://schemas.openxmlformats.org/drawingml/2006/main">
              <a:ext uri="{FF2B5EF4-FFF2-40B4-BE49-F238E27FC236}">
                <a16:creationId xmlns:a16="http://schemas.microsoft.com/office/drawing/2014/main" id="{C525C692-A02D-4918-A511-47B85C38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7" name="history-spec-187">
            <a:extLst xmlns:a="http://schemas.openxmlformats.org/drawingml/2006/main">
              <a:ext uri="{FF2B5EF4-FFF2-40B4-BE49-F238E27FC236}">
                <a16:creationId xmlns:a16="http://schemas.microsoft.com/office/drawing/2014/main" id="{F4AC115A-B688-4F29-83DF-D86D9C8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58 / 63</a:t>
            </a:r>
          </a:p>
        </p:txBody>
      </p:sp>
    </p:spTree>
    <p:extLst>
      <p:ext uri="{BB962C8B-B14F-4D97-AF65-F5344CB8AC3E}">
        <p14:creationId xmlns:p14="http://schemas.microsoft.com/office/powerpoint/2010/main" val="194619521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24">
            <a:extLst xmlns:a="http://schemas.openxmlformats.org/drawingml/2006/main">
              <a:ext uri="{FF2B5EF4-FFF2-40B4-BE49-F238E27FC236}">
                <a16:creationId xmlns:a16="http://schemas.microsoft.com/office/drawing/2014/main" id="{05D1257A-AF95-45EA-A92B-4011E967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SEIS MESES DEPOIS…</a:t>
            </a:r>
          </a:p>
        </p:txBody>
      </p:sp>
      <p:sp>
        <p:nvSpPr>
          <p:cNvPr id="2" name="text-425">
            <a:extLst xmlns:a="http://schemas.openxmlformats.org/drawingml/2006/main">
              <a:ext uri="{FF2B5EF4-FFF2-40B4-BE49-F238E27FC236}">
                <a16:creationId xmlns:a16="http://schemas.microsoft.com/office/drawing/2014/main" id="{380F7981-EB5A-4F69-B522-5419641F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“Vamos dividir em microsserviços!”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5df977a2b4b8b"/>
          <a:srcRect xmlns:a="http://schemas.openxmlformats.org/drawingml/2006/main" l="0" t="5044" r="0" b="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14525"/>
            <a:ext cx="6115050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text-428">
            <a:extLst xmlns:a="http://schemas.openxmlformats.org/drawingml/2006/main">
              <a:ext uri="{FF2B5EF4-FFF2-40B4-BE49-F238E27FC236}">
                <a16:creationId xmlns:a16="http://schemas.microsoft.com/office/drawing/2014/main" id="{B54ACF0A-BBA0-4376-8ACB-1E5A437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98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VOCÊ GANHA</a:t>
            </a:r>
          </a:p>
          <a:p xmlns:a="http://schemas.openxmlformats.org/drawingml/2006/main">
            <a:pPr algn="ctr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 SERVIÇO!</a:t>
            </a:r>
          </a:p>
        </p:txBody>
      </p:sp>
      <p:sp>
        <p:nvSpPr>
          <p:cNvPr id="7" name="text-429">
            <a:extLst xmlns:a="http://schemas.openxmlformats.org/drawingml/2006/main">
              <a:ext uri="{FF2B5EF4-FFF2-40B4-BE49-F238E27FC236}">
                <a16:creationId xmlns:a16="http://schemas.microsoft.com/office/drawing/2014/main" id="{057192A1-484D-41E8-A4FE-8CCAB028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076450"/>
            <a:ext cx="44100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47 serviços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12 filas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3 gateways</a:t>
            </a:r>
          </a:p>
        </p:txBody>
      </p:sp>
      <p:sp>
        <p:nvSpPr>
          <p:cNvPr id="8" name="text-430">
            <a:extLst xmlns:a="http://schemas.openxmlformats.org/drawingml/2006/main">
              <a:ext uri="{FF2B5EF4-FFF2-40B4-BE49-F238E27FC236}">
                <a16:creationId xmlns:a16="http://schemas.microsoft.com/office/drawing/2014/main" id="{8D3C0FD2-1DEB-4A98-B6F1-4026CBD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772025"/>
            <a:ext cx="44100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Quem chama quem?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Boa pergunta.</a:t>
            </a:r>
          </a:p>
        </p:txBody>
      </p:sp>
      <p:sp>
        <p:nvSpPr>
          <p:cNvPr id="11" name="history-spec-188">
            <a:extLst xmlns:a="http://schemas.openxmlformats.org/drawingml/2006/main">
              <a:ext uri="{FF2B5EF4-FFF2-40B4-BE49-F238E27FC236}">
                <a16:creationId xmlns:a16="http://schemas.microsoft.com/office/drawing/2014/main" id="{197279B0-0CED-45FD-97C6-67537572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2" name="history-spec-189">
            <a:extLst xmlns:a="http://schemas.openxmlformats.org/drawingml/2006/main">
              <a:ext uri="{FF2B5EF4-FFF2-40B4-BE49-F238E27FC236}">
                <a16:creationId xmlns:a16="http://schemas.microsoft.com/office/drawing/2014/main" id="{EA166EFC-709B-481D-8229-E15A4F92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59 / 63</a:t>
            </a:r>
          </a:p>
        </p:txBody>
      </p:sp>
    </p:spTree>
    <p:extLst>
      <p:ext uri="{BB962C8B-B14F-4D97-AF65-F5344CB8AC3E}">
        <p14:creationId xmlns:p14="http://schemas.microsoft.com/office/powerpoint/2010/main" val="10718852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31">
            <a:extLst xmlns:a="http://schemas.openxmlformats.org/drawingml/2006/main">
              <a:ext uri="{FF2B5EF4-FFF2-40B4-BE49-F238E27FC236}">
                <a16:creationId xmlns:a16="http://schemas.microsoft.com/office/drawing/2014/main" id="{69A0BE11-CB8F-4FF1-9B9C-B264E7F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FECHANDO A CONTA</a:t>
            </a:r>
          </a:p>
        </p:txBody>
      </p:sp>
      <p:sp>
        <p:nvSpPr>
          <p:cNvPr id="2" name="text-432">
            <a:extLst xmlns:a="http://schemas.openxmlformats.org/drawingml/2006/main">
              <a:ext uri="{FF2B5EF4-FFF2-40B4-BE49-F238E27FC236}">
                <a16:creationId xmlns:a16="http://schemas.microsoft.com/office/drawing/2014/main" id="{98079ADA-A971-402E-B7E1-0B415EF5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Se lembrar de três coisas…</a:t>
            </a:r>
          </a:p>
        </p:txBody>
      </p:sp>
      <p:sp>
        <p:nvSpPr>
          <p:cNvPr id="5" name="text-435">
            <a:extLst xmlns:a="http://schemas.openxmlformats.org/drawingml/2006/main">
              <a:ext uri="{FF2B5EF4-FFF2-40B4-BE49-F238E27FC236}">
                <a16:creationId xmlns:a16="http://schemas.microsoft.com/office/drawing/2014/main" id="{59A1409A-ADE2-428B-AF95-590D081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436">
            <a:extLst xmlns:a="http://schemas.openxmlformats.org/drawingml/2006/main">
              <a:ext uri="{FF2B5EF4-FFF2-40B4-BE49-F238E27FC236}">
                <a16:creationId xmlns:a16="http://schemas.microsoft.com/office/drawing/2014/main" id="{4E8BD200-1134-4772-853B-8CEFCEC1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66925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API é contrato.</a:t>
            </a:r>
          </a:p>
        </p:txBody>
      </p:sp>
      <p:sp>
        <p:nvSpPr>
          <p:cNvPr id="7" name="text-437">
            <a:extLst xmlns:a="http://schemas.openxmlformats.org/drawingml/2006/main">
              <a:ext uri="{FF2B5EF4-FFF2-40B4-BE49-F238E27FC236}">
                <a16:creationId xmlns:a16="http://schemas.microsoft.com/office/drawing/2014/main" id="{94B24611-3DCA-435B-A032-B36F6F09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438">
            <a:extLst xmlns:a="http://schemas.openxmlformats.org/drawingml/2006/main">
              <a:ext uri="{FF2B5EF4-FFF2-40B4-BE49-F238E27FC236}">
                <a16:creationId xmlns:a16="http://schemas.microsoft.com/office/drawing/2014/main" id="{8114F2BF-2CE8-49C9-92BD-E1D02543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337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Tecnologia depende da conversa.</a:t>
            </a:r>
          </a:p>
        </p:txBody>
      </p:sp>
      <p:sp>
        <p:nvSpPr>
          <p:cNvPr id="9" name="text-439">
            <a:extLst xmlns:a="http://schemas.openxmlformats.org/drawingml/2006/main">
              <a:ext uri="{FF2B5EF4-FFF2-40B4-BE49-F238E27FC236}">
                <a16:creationId xmlns:a16="http://schemas.microsoft.com/office/drawing/2014/main" id="{C2F1F14A-1823-4040-9C2E-F63DF70B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119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440">
            <a:extLst xmlns:a="http://schemas.openxmlformats.org/drawingml/2006/main">
              <a:ext uri="{FF2B5EF4-FFF2-40B4-BE49-F238E27FC236}">
                <a16:creationId xmlns:a16="http://schemas.microsoft.com/office/drawing/2014/main" id="{AE12A731-2E21-4109-8782-2756E1D3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Bom contrato aguenta mudança e falha.</a:t>
            </a:r>
          </a:p>
        </p:txBody>
      </p:sp>
      <p:sp>
        <p:nvSpPr>
          <p:cNvPr id="12" name="history-spec-190">
            <a:extLst xmlns:a="http://schemas.openxmlformats.org/drawingml/2006/main">
              <a:ext uri="{FF2B5EF4-FFF2-40B4-BE49-F238E27FC236}">
                <a16:creationId xmlns:a16="http://schemas.microsoft.com/office/drawing/2014/main" id="{E5E3D4DB-8075-4EFB-A664-14222FA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3" name="history-spec-191">
            <a:extLst xmlns:a="http://schemas.openxmlformats.org/drawingml/2006/main">
              <a:ext uri="{FF2B5EF4-FFF2-40B4-BE49-F238E27FC236}">
                <a16:creationId xmlns:a16="http://schemas.microsoft.com/office/drawing/2014/main" id="{AD4B7B08-4510-44A5-A644-4DC8F7B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60 / 63</a:t>
            </a:r>
          </a:p>
        </p:txBody>
      </p:sp>
    </p:spTree>
    <p:extLst>
      <p:ext uri="{BB962C8B-B14F-4D97-AF65-F5344CB8AC3E}">
        <p14:creationId xmlns:p14="http://schemas.microsoft.com/office/powerpoint/2010/main" val="35028910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41">
            <a:extLst xmlns:a="http://schemas.openxmlformats.org/drawingml/2006/main">
              <a:ext uri="{FF2B5EF4-FFF2-40B4-BE49-F238E27FC236}">
                <a16:creationId xmlns:a16="http://schemas.microsoft.com/office/drawing/2014/main" id="{360D56CC-2E88-4B87-B33B-EBE43802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ATIVIDADE DESPLUGADA • RODADA FINAL</a:t>
            </a:r>
          </a:p>
        </p:txBody>
      </p:sp>
      <p:sp>
        <p:nvSpPr>
          <p:cNvPr id="2" name="text-442">
            <a:extLst xmlns:a="http://schemas.openxmlformats.org/drawingml/2006/main">
              <a:ext uri="{FF2B5EF4-FFF2-40B4-BE49-F238E27FC236}">
                <a16:creationId xmlns:a16="http://schemas.microsoft.com/office/drawing/2014/main" id="{ADBF9247-AD81-4D32-812D-28B23BC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Agora vocês são a API.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26d571c1d4fe8"/>
          <a:srcRect xmlns:a="http://schemas.openxmlformats.org/drawingml/2006/main" l="0" t="7011" r="0" b="7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57375"/>
            <a:ext cx="6534150" cy="3819525"/>
          </a:xfrm>
          <a:prstGeom xmlns:a="http://schemas.openxmlformats.org/drawingml/2006/main" prst="rect">
            <a:avLst/>
          </a:prstGeom>
        </p:spPr>
      </p:pic>
      <p:sp>
        <p:nvSpPr>
          <p:cNvPr id="6" name="panel-445">
            <a:extLst xmlns:a="http://schemas.openxmlformats.org/drawingml/2006/main">
              <a:ext uri="{FF2B5EF4-FFF2-40B4-BE49-F238E27FC236}">
                <a16:creationId xmlns:a16="http://schemas.microsoft.com/office/drawing/2014/main" id="{FB864911-3A6C-4C75-8174-021EB422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653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</a:ln>
        </p:spPr>
      </p:sp>
      <p:sp>
        <p:nvSpPr>
          <p:cNvPr id="7" name="text-446">
            <a:extLst xmlns:a="http://schemas.openxmlformats.org/drawingml/2006/main">
              <a:ext uri="{FF2B5EF4-FFF2-40B4-BE49-F238E27FC236}">
                <a16:creationId xmlns:a16="http://schemas.microsoft.com/office/drawing/2014/main" id="{56F9988C-EAFE-46E2-90CF-8BEF413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630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REQUISIÇÕES. REQUISIÇÕES POR TODA PARTE.</a:t>
            </a:r>
          </a:p>
        </p:txBody>
      </p:sp>
      <p:sp>
        <p:nvSpPr>
          <p:cNvPr id="8" name="text-447">
            <a:extLst xmlns:a="http://schemas.openxmlformats.org/drawingml/2006/main">
              <a:ext uri="{FF2B5EF4-FFF2-40B4-BE49-F238E27FC236}">
                <a16:creationId xmlns:a16="http://schemas.microsoft.com/office/drawing/2014/main" id="{2D06617B-0815-4D11-99B7-62CF3268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33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-448">
            <a:extLst xmlns:a="http://schemas.openxmlformats.org/drawingml/2006/main">
              <a:ext uri="{FF2B5EF4-FFF2-40B4-BE49-F238E27FC236}">
                <a16:creationId xmlns:a16="http://schemas.microsoft.com/office/drawing/2014/main" id="{225A262A-C99F-40C0-A163-67F7511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33575"/>
            <a:ext cx="34956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Definam o cardápio</a:t>
            </a:r>
          </a:p>
        </p:txBody>
      </p:sp>
      <p:sp>
        <p:nvSpPr>
          <p:cNvPr id="10" name="text-449">
            <a:extLst xmlns:a="http://schemas.openxmlformats.org/drawingml/2006/main">
              <a:ext uri="{FF2B5EF4-FFF2-40B4-BE49-F238E27FC236}">
                <a16:creationId xmlns:a16="http://schemas.microsoft.com/office/drawing/2014/main" id="{10CF7E15-67EC-4F1F-969B-970EFB9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95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450">
            <a:extLst xmlns:a="http://schemas.openxmlformats.org/drawingml/2006/main">
              <a:ext uri="{FF2B5EF4-FFF2-40B4-BE49-F238E27FC236}">
                <a16:creationId xmlns:a16="http://schemas.microsoft.com/office/drawing/2014/main" id="{838BB723-2C05-4E35-97C2-C573D3C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95600"/>
            <a:ext cx="34956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Façam uma requisição</a:t>
            </a:r>
          </a:p>
        </p:txBody>
      </p:sp>
      <p:sp>
        <p:nvSpPr>
          <p:cNvPr id="12" name="text-451">
            <a:extLst xmlns:a="http://schemas.openxmlformats.org/drawingml/2006/main">
              <a:ext uri="{FF2B5EF4-FFF2-40B4-BE49-F238E27FC236}">
                <a16:creationId xmlns:a16="http://schemas.microsoft.com/office/drawing/2014/main" id="{A1AB7322-E581-45F2-B59B-9B3FAD5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57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452">
            <a:extLst xmlns:a="http://schemas.openxmlformats.org/drawingml/2006/main">
              <a:ext uri="{FF2B5EF4-FFF2-40B4-BE49-F238E27FC236}">
                <a16:creationId xmlns:a16="http://schemas.microsoft.com/office/drawing/2014/main" id="{E3BC59DA-9F40-42F7-A207-7F46A85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57625"/>
            <a:ext cx="34956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Devolvam um status</a:t>
            </a:r>
          </a:p>
        </p:txBody>
      </p:sp>
      <p:sp>
        <p:nvSpPr>
          <p:cNvPr id="14" name="text-453">
            <a:extLst xmlns:a="http://schemas.openxmlformats.org/drawingml/2006/main">
              <a:ext uri="{FF2B5EF4-FFF2-40B4-BE49-F238E27FC236}">
                <a16:creationId xmlns:a16="http://schemas.microsoft.com/office/drawing/2014/main" id="{21A40086-6CDB-49CC-BA9F-14B3D7DD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196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text-454">
            <a:extLst xmlns:a="http://schemas.openxmlformats.org/drawingml/2006/main">
              <a:ext uri="{FF2B5EF4-FFF2-40B4-BE49-F238E27FC236}">
                <a16:creationId xmlns:a16="http://schemas.microsoft.com/office/drawing/2014/main" id="{7B24FAB6-39BE-4022-B3AB-D9467C0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19650"/>
            <a:ext cx="34956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562"/>
                </a:solidFill>
                <a:latin typeface="Arial"/>
                <a:ea typeface="Arial"/>
                <a:cs typeface="Arial"/>
              </a:rPr>
              <a:t>Simulem um erro</a:t>
            </a:r>
          </a:p>
        </p:txBody>
      </p:sp>
      <p:sp>
        <p:nvSpPr>
          <p:cNvPr id="18" name="history-spec-192">
            <a:extLst xmlns:a="http://schemas.openxmlformats.org/drawingml/2006/main">
              <a:ext uri="{FF2B5EF4-FFF2-40B4-BE49-F238E27FC236}">
                <a16:creationId xmlns:a16="http://schemas.microsoft.com/office/drawing/2014/main" id="{4F4C4D57-96F8-4FF2-A8E8-3236A80E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9" name="history-spec-193">
            <a:extLst xmlns:a="http://schemas.openxmlformats.org/drawingml/2006/main">
              <a:ext uri="{FF2B5EF4-FFF2-40B4-BE49-F238E27FC236}">
                <a16:creationId xmlns:a16="http://schemas.microsoft.com/office/drawing/2014/main" id="{498AFD04-C823-4984-85CE-A247CC5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F25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562"/>
                </a:solidFill>
                <a:latin typeface="Arial"/>
                <a:ea typeface="Arial"/>
                <a:cs typeface="Arial"/>
              </a:rPr>
              <a:t>61 / 63</a:t>
            </a:r>
          </a:p>
        </p:txBody>
      </p:sp>
    </p:spTree>
    <p:extLst>
      <p:ext uri="{BB962C8B-B14F-4D97-AF65-F5344CB8AC3E}">
        <p14:creationId xmlns:p14="http://schemas.microsoft.com/office/powerpoint/2010/main" val="57590588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1F25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istory-spec-86">
            <a:extLst xmlns:a="http://schemas.openxmlformats.org/drawingml/2006/main">
              <a:ext uri="{FF2B5EF4-FFF2-40B4-BE49-F238E27FC236}">
                <a16:creationId xmlns:a16="http://schemas.microsoft.com/office/drawing/2014/main" id="{E9D77830-A1A9-4E8D-A149-CC9AE29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history-spec-87">
            <a:extLst xmlns:a="http://schemas.openxmlformats.org/drawingml/2006/main">
              <a:ext uri="{FF2B5EF4-FFF2-40B4-BE49-F238E27FC236}">
                <a16:creationId xmlns:a16="http://schemas.microsoft.com/office/drawing/2014/main" id="{DC050F27-1B18-48E7-972F-5EE7A7E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history-spec-88">
            <a:extLst xmlns:a="http://schemas.openxmlformats.org/drawingml/2006/main">
              <a:ext uri="{FF2B5EF4-FFF2-40B4-BE49-F238E27FC236}">
                <a16:creationId xmlns:a16="http://schemas.microsoft.com/office/drawing/2014/main" id="{773949E8-6599-446B-83A3-E2785212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1125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4" name="history-spec-89">
            <a:extLst xmlns:a="http://schemas.openxmlformats.org/drawingml/2006/main">
              <a:ext uri="{FF2B5EF4-FFF2-40B4-BE49-F238E27FC236}">
                <a16:creationId xmlns:a16="http://schemas.microsoft.com/office/drawing/2014/main" id="{E7DEED58-ADC2-4026-B544-094DBCE0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200 OK: a gente responde.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2D2"/>
                </a:solidFill>
                <a:latin typeface="Arial"/>
                <a:ea typeface="Arial"/>
                <a:cs typeface="Arial"/>
              </a:rPr>
              <a:t>202 Accepted: a gente pesquisa.</a:t>
            </a:r>
          </a:p>
        </p:txBody>
      </p:sp>
      <p:sp>
        <p:nvSpPr>
          <p:cNvPr id="5" name="history-spec-90">
            <a:extLst xmlns:a="http://schemas.openxmlformats.org/drawingml/2006/main">
              <a:ext uri="{FF2B5EF4-FFF2-40B4-BE49-F238E27FC236}">
                <a16:creationId xmlns:a16="http://schemas.microsoft.com/office/drawing/2014/main" id="{F10C3F72-95C8-4751-B04D-E35A6E36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4C54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C542"/>
                </a:solidFill>
                <a:latin typeface="Arial"/>
                <a:ea typeface="Arial"/>
                <a:cs typeface="Arial"/>
              </a:rPr>
              <a:t>Obrigado!</a:t>
            </a:r>
          </a:p>
        </p:txBody>
      </p:sp>
      <p:sp>
        <p:nvSpPr>
          <p:cNvPr id="6" name="history-spec-91">
            <a:extLst xmlns:a="http://schemas.openxmlformats.org/drawingml/2006/main">
              <a:ext uri="{FF2B5EF4-FFF2-40B4-BE49-F238E27FC236}">
                <a16:creationId xmlns:a16="http://schemas.microsoft.com/office/drawing/2014/main" id="{07C05DEF-744B-4091-8E00-DB61685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97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FFF2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2D2"/>
                </a:solidFill>
                <a:latin typeface="Arial"/>
                <a:ea typeface="Arial"/>
                <a:cs typeface="Arial"/>
              </a:rPr>
              <a:t>Enzo · Isaac · Joloano · Matheus</a:t>
            </a:r>
          </a:p>
        </p:txBody>
      </p:sp>
      <p:sp>
        <p:nvSpPr>
          <p:cNvPr id="7" name="history-spec-194">
            <a:extLst xmlns:a="http://schemas.openxmlformats.org/drawingml/2006/main">
              <a:ext uri="{FF2B5EF4-FFF2-40B4-BE49-F238E27FC236}">
                <a16:creationId xmlns:a16="http://schemas.microsoft.com/office/drawing/2014/main" id="{F7AEF547-95F6-4766-B050-277EE35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8" name="history-spec-195">
            <a:extLst xmlns:a="http://schemas.openxmlformats.org/drawingml/2006/main">
              <a:ext uri="{FF2B5EF4-FFF2-40B4-BE49-F238E27FC236}">
                <a16:creationId xmlns:a16="http://schemas.microsoft.com/office/drawing/2014/main" id="{28AAE110-DBD9-4709-96B8-05F84329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29BC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29BCB"/>
                </a:solidFill>
                <a:latin typeface="Arial"/>
                <a:ea typeface="Arial"/>
                <a:cs typeface="Arial"/>
              </a:rPr>
              <a:t>62 / 63</a:t>
            </a:r>
          </a:p>
        </p:txBody>
      </p:sp>
    </p:spTree>
    <p:extLst>
      <p:ext uri="{BB962C8B-B14F-4D97-AF65-F5344CB8AC3E}">
        <p14:creationId xmlns:p14="http://schemas.microsoft.com/office/powerpoint/2010/main" val="193682061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4C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2BDEB4A-806E-4A5B-B0C9-3143183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ATIVIDADE DESPLUGADA</a:t>
            </a:r>
          </a:p>
        </p:txBody>
      </p:sp>
      <p:sp>
        <p:nvSpPr>
          <p:cNvPr id="2" name="intro-kicker">
            <a:extLst xmlns:a="http://schemas.openxmlformats.org/drawingml/2006/main">
              <a:ext uri="{FF2B5EF4-FFF2-40B4-BE49-F238E27FC236}">
                <a16:creationId xmlns:a16="http://schemas.microsoft.com/office/drawing/2014/main" id="{767B438F-F45C-4824-9605-889AF936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Para fechar...</a:t>
            </a:r>
          </a:p>
        </p:txBody>
      </p:sp>
      <p:sp>
        <p:nvSpPr>
          <p:cNvPr id="3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9DBBD89C-A547-4DCD-A8B4-D576B015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BINGO DAS APIs</a:t>
            </a:r>
          </a:p>
        </p:txBody>
      </p:sp>
      <p:sp>
        <p:nvSpPr>
          <p:cNvPr id="4" name="activity-instruction">
            <a:extLst xmlns:a="http://schemas.openxmlformats.org/drawingml/2006/main">
              <a:ext uri="{FF2B5EF4-FFF2-40B4-BE49-F238E27FC236}">
                <a16:creationId xmlns:a16="http://schemas.microsoft.com/office/drawing/2014/main" id="{D60C7048-0E75-4B08-91BC-EF47D287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Ouça a definição, descubra o termo e marque na cartela.</a:t>
            </a:r>
          </a:p>
        </p:txBody>
      </p:sp>
      <p:sp>
        <p:nvSpPr>
          <p:cNvPr id="5" name="activity-bridge">
            <a:extLst xmlns:a="http://schemas.openxmlformats.org/drawingml/2006/main">
              <a:ext uri="{FF2B5EF4-FFF2-40B4-BE49-F238E27FC236}">
                <a16:creationId xmlns:a16="http://schemas.microsoft.com/office/drawing/2014/main" id="{EB6BF6DE-3611-414C-A516-6BDA97E4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 ideia é revisar os conceitos principais de APIs sem computador, usando as definições trabalhadas na apresentação.</a:t>
            </a:r>
          </a:p>
        </p:txBody>
      </p:sp>
      <p:sp>
        <p:nvSpPr>
          <p:cNvPr id="6" name="bingo-wordmark">
            <a:extLst xmlns:a="http://schemas.openxmlformats.org/drawingml/2006/main">
              <a:ext uri="{FF2B5EF4-FFF2-40B4-BE49-F238E27FC236}">
                <a16:creationId xmlns:a16="http://schemas.microsoft.com/office/drawing/2014/main" id="{06784484-5124-4CFA-BB04-BFB735D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B I N G O</a:t>
            </a:r>
          </a:p>
        </p:txBody>
      </p:sp>
      <p:sp>
        <p:nvSpPr>
          <p:cNvPr id="7" name="api-wordmark">
            <a:extLst xmlns:a="http://schemas.openxmlformats.org/drawingml/2006/main">
              <a:ext uri="{FF2B5EF4-FFF2-40B4-BE49-F238E27FC236}">
                <a16:creationId xmlns:a16="http://schemas.microsoft.com/office/drawing/2014/main" id="{17B4D92F-36EA-46B9-A43C-99E1A50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8" name="bingo-underline">
            <a:extLst xmlns:a="http://schemas.openxmlformats.org/drawingml/2006/main">
              <a:ext uri="{FF2B5EF4-FFF2-40B4-BE49-F238E27FC236}">
                <a16:creationId xmlns:a16="http://schemas.microsoft.com/office/drawing/2014/main" id="{0AE31F23-F1BD-442E-90B6-78F37E14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40957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6B"/>
          </a:solidFill>
          <a:ln xmlns:a="http://schemas.openxmlformats.org/drawingml/2006/main" w="0">
            <a:noFill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84F19AA-46B4-4DE0-B37A-F768F18E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APIs • ES II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C5F6FA-BE82-41FC-8291-F82892C6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2027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0276B"/>
                </a:solidFill>
                <a:latin typeface="Arial"/>
                <a:ea typeface="Arial"/>
                <a:cs typeface="Arial"/>
              </a:rPr>
              <a:t>63 / 63</a:t>
            </a:r>
          </a:p>
        </p:txBody>
      </p:sp>
    </p:spTree>
    <p:extLst>
      <p:ext uri="{BB962C8B-B14F-4D97-AF65-F5344CB8AC3E}">
        <p14:creationId xmlns:p14="http://schemas.microsoft.com/office/powerpoint/2010/main" val="14956675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2026-09-29T21:46:14.8960000Z</dcterms:created>
  <dcterms:modified xsi:type="dcterms:W3CDTF">2026-09-29T21:46:14.8960000Z</dcterms:modified>
</coreProperties>
</file>